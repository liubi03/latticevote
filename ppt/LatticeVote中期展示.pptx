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各位老师、同学，大家好！我是</a:t>
            </a:r>
            <a:r>
              <a:rPr lang="zh-CN" altLang="en-US"/>
              <a:t>刘永瑞，今天我展示的项目是</a:t>
            </a:r>
            <a:r>
              <a:rPr lang="en-US" altLang="zh-CN"/>
              <a:t>LatticeVote——</a:t>
            </a:r>
            <a:r>
              <a:rPr lang="zh-CN" altLang="en-US"/>
              <a:t>一个基于格密码的后量子安全电子投票系统。接下来我将重点介绍这个投票协议的设计原理和安全性保障。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本次汇报主要围绕四个方面展开。先探讨项目背景与挑战，了解研究的必要性；接着深入核心技术原理，掌握关键知识；再介绍协议设计与实现，明晰具体流程；最后进行总结与致谢。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&gt; </a:t>
            </a:r>
            <a:r>
              <a:rPr lang="zh-CN" altLang="en-US"/>
              <a:t>首先我们来思考一个问题：电子投票系统需要满足哪些安全要求？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第一个是隐私性。在传统投票中，我们走进投票站，在帘子后面勾选候选人，没人知道我们投给了谁。但在电子投票中，我们的选票变成了数据，如何保证没人能偷看？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传统的解决方案是信任一个计票机构，由它来保护选票隐私。但问题是：计票机构本身可能作恶。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第二个是正确性。如何证明计票结果是准确的？如何证明没有票被篡改或丢弃？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第三个是可验证性。选民应该能确认自己的票被计入了，但又不能向别人证明自己投给了谁</a:t>
            </a:r>
            <a:r>
              <a:rPr lang="en-US" altLang="zh-CN"/>
              <a:t>——</a:t>
            </a:r>
            <a:r>
              <a:rPr lang="zh-CN" altLang="en-US"/>
              <a:t>否则就会出现买卖选票的问题。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我们的协议正是为了解决这些问题而设计的。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传统密码学正面临量子计算威胁，</a:t>
            </a:r>
            <a:r>
              <a:rPr lang="en-US" altLang="zh-CN"/>
              <a:t>Shor</a:t>
            </a:r>
            <a:r>
              <a:rPr lang="zh-CN" altLang="en-US"/>
              <a:t>算法能在多项式时间破解主流公钥密码体制，现有密码体系岌岌可危。为此，</a:t>
            </a:r>
            <a:r>
              <a:rPr lang="en-US" altLang="zh-CN"/>
              <a:t>NIST</a:t>
            </a:r>
            <a:r>
              <a:rPr lang="zh-CN" altLang="en-US"/>
              <a:t>大力推进后量子密码算法标准化。而格密码基于格上困难问题，是抗量子攻击的重要候选方案。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&gt; </a:t>
            </a:r>
            <a:r>
              <a:rPr lang="zh-CN" altLang="en-US">
                <a:sym typeface="+mn-ea"/>
              </a:rPr>
              <a:t>接下来介绍我们协议的核心技术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同态加密。</a:t>
            </a:r>
            <a:endParaRPr lang="zh-CN" altLang="en-US"/>
          </a:p>
          <a:p>
            <a:r>
              <a:rPr lang="en-US" altLang="zh-CN">
                <a:sym typeface="+mn-ea"/>
              </a:rPr>
              <a:t>&gt;</a:t>
            </a:r>
            <a:endParaRPr lang="en-US" altLang="zh-CN"/>
          </a:p>
          <a:p>
            <a:r>
              <a:rPr lang="en-US" altLang="zh-CN">
                <a:sym typeface="+mn-ea"/>
              </a:rPr>
              <a:t>&gt; </a:t>
            </a:r>
            <a:r>
              <a:rPr lang="zh-CN" altLang="en-US">
                <a:sym typeface="+mn-ea"/>
              </a:rPr>
              <a:t>普通的加密，数据加密后就变成了一串乱码，无法进行计算。如果你想对加密数据做加法，必须先解密，这就暴露了数据。</a:t>
            </a:r>
            <a:endParaRPr lang="zh-CN" altLang="en-US"/>
          </a:p>
          <a:p>
            <a:r>
              <a:rPr lang="en-US" altLang="zh-CN">
                <a:sym typeface="+mn-ea"/>
              </a:rPr>
              <a:t>&gt;</a:t>
            </a:r>
            <a:endParaRPr lang="en-US" altLang="zh-CN"/>
          </a:p>
          <a:p>
            <a:r>
              <a:rPr lang="en-US" altLang="zh-CN">
                <a:sym typeface="+mn-ea"/>
              </a:rPr>
              <a:t>&gt; </a:t>
            </a:r>
            <a:r>
              <a:rPr lang="zh-CN" altLang="en-US">
                <a:sym typeface="+mn-ea"/>
              </a:rPr>
              <a:t>但同态加密不同。想象一下，我们有一个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魔法盒子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。把数字放进去，盒子会自动锁住，没人能看到里面的数字。神奇的是，我们可以把两个盒子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合并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成一个新的盒子。当我们打开这个新盒子时，里面正好是原来两个数字的和！</a:t>
            </a:r>
            <a:endParaRPr lang="zh-CN" altLang="en-US"/>
          </a:p>
          <a:p>
            <a:r>
              <a:rPr lang="en-US" altLang="zh-CN">
                <a:sym typeface="+mn-ea"/>
              </a:rPr>
              <a:t>&gt;</a:t>
            </a:r>
            <a:endParaRPr lang="en-US" altLang="zh-CN"/>
          </a:p>
          <a:p>
            <a:r>
              <a:rPr lang="en-US" altLang="zh-CN">
                <a:sym typeface="+mn-ea"/>
              </a:rPr>
              <a:t>&gt; </a:t>
            </a:r>
            <a:r>
              <a:rPr lang="zh-CN" altLang="en-US">
                <a:sym typeface="+mn-ea"/>
              </a:rPr>
              <a:t>用数学语言来说就是：加密状态下的加法运算，等价于明文加法运算后再加密。</a:t>
            </a:r>
            <a:endParaRPr lang="zh-CN" altLang="en-US"/>
          </a:p>
          <a:p>
            <a:r>
              <a:rPr lang="en-US" altLang="zh-CN">
                <a:sym typeface="+mn-ea"/>
              </a:rPr>
              <a:t>&gt;</a:t>
            </a:r>
            <a:endParaRPr lang="en-US" altLang="zh-CN"/>
          </a:p>
          <a:p>
            <a:r>
              <a:rPr lang="en-US" altLang="zh-CN">
                <a:sym typeface="+mn-ea"/>
              </a:rPr>
              <a:t>&gt; </a:t>
            </a:r>
            <a:r>
              <a:rPr lang="zh-CN" altLang="en-US">
                <a:sym typeface="+mn-ea"/>
              </a:rPr>
              <a:t>这个特性有什么用呢？想象一下投票场景：每张选票是一个盒子，我们可以把所有盒子合并，最后只打开合并后的盒子，就得到了总票数。而每个盒子里具体是什么，从头到尾都没有被打开过！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&gt; </a:t>
            </a:r>
            <a:r>
              <a:rPr lang="zh-CN" altLang="en-US"/>
              <a:t>有了同态加密，我们还需要设计如何用数字表示投票选择。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我们使用一种叫</a:t>
            </a:r>
            <a:r>
              <a:rPr lang="en-US" altLang="zh-CN"/>
              <a:t>"One-Hot</a:t>
            </a:r>
            <a:r>
              <a:rPr lang="zh-CN" altLang="en-US"/>
              <a:t>编码</a:t>
            </a:r>
            <a:r>
              <a:rPr lang="en-US" altLang="zh-CN"/>
              <a:t>"</a:t>
            </a:r>
            <a:r>
              <a:rPr lang="zh-CN" altLang="en-US"/>
              <a:t>的方法。假设有</a:t>
            </a:r>
            <a:r>
              <a:rPr lang="en-US" altLang="zh-CN"/>
              <a:t>3</a:t>
            </a:r>
            <a:r>
              <a:rPr lang="zh-CN" altLang="en-US"/>
              <a:t>位候选人：</a:t>
            </a:r>
            <a:r>
              <a:rPr lang="en-US" altLang="zh-CN"/>
              <a:t>Alice</a:t>
            </a:r>
            <a:r>
              <a:rPr lang="zh-CN" altLang="en-US"/>
              <a:t>、</a:t>
            </a:r>
            <a:r>
              <a:rPr lang="en-US" altLang="zh-CN"/>
              <a:t>Bob</a:t>
            </a:r>
            <a:r>
              <a:rPr lang="zh-CN" altLang="en-US"/>
              <a:t>和</a:t>
            </a:r>
            <a:r>
              <a:rPr lang="en-US" altLang="zh-CN"/>
              <a:t>Carol</a:t>
            </a:r>
            <a:r>
              <a:rPr lang="zh-CN" altLang="en-US"/>
              <a:t>。如果我要投给</a:t>
            </a:r>
            <a:r>
              <a:rPr lang="en-US" altLang="zh-CN"/>
              <a:t>Alice</a:t>
            </a:r>
            <a:r>
              <a:rPr lang="zh-CN" altLang="en-US"/>
              <a:t>，我的选票就编码为</a:t>
            </a:r>
            <a:r>
              <a:rPr lang="en-US" altLang="zh-CN"/>
              <a:t>\[1,0,0]</a:t>
            </a:r>
            <a:r>
              <a:rPr lang="zh-CN" altLang="en-US"/>
              <a:t>；投给</a:t>
            </a:r>
            <a:r>
              <a:rPr lang="en-US" altLang="zh-CN"/>
              <a:t>Bob</a:t>
            </a:r>
            <a:r>
              <a:rPr lang="zh-CN" altLang="en-US"/>
              <a:t>就是</a:t>
            </a:r>
            <a:r>
              <a:rPr lang="en-US" altLang="zh-CN"/>
              <a:t>\[0,1,0]</a:t>
            </a:r>
            <a:r>
              <a:rPr lang="zh-CN" altLang="en-US"/>
              <a:t>；投给</a:t>
            </a:r>
            <a:r>
              <a:rPr lang="en-US" altLang="zh-CN"/>
              <a:t>Carol</a:t>
            </a:r>
            <a:r>
              <a:rPr lang="zh-CN" altLang="en-US"/>
              <a:t>就是</a:t>
            </a:r>
            <a:r>
              <a:rPr lang="en-US" altLang="zh-CN"/>
              <a:t>\[0,0,1]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为什么这样编码？因为这样可以直接用同态加法来计票！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举个例子：有三个人投票，第一个投给</a:t>
            </a:r>
            <a:r>
              <a:rPr lang="en-US" altLang="zh-CN"/>
              <a:t>Alice</a:t>
            </a:r>
            <a:r>
              <a:rPr lang="zh-CN" altLang="en-US"/>
              <a:t>，第二个和第三个都投给</a:t>
            </a:r>
            <a:r>
              <a:rPr lang="en-US" altLang="zh-CN"/>
              <a:t>Bob</a:t>
            </a:r>
            <a:r>
              <a:rPr lang="zh-CN" altLang="en-US"/>
              <a:t>。我们把三张选票加起来：</a:t>
            </a:r>
            <a:r>
              <a:rPr lang="en-US" altLang="zh-CN"/>
              <a:t>\[1,0,0] + \[0,1,0] + \[0,1,0] = \[1,2,0]</a:t>
            </a:r>
            <a:r>
              <a:rPr lang="zh-CN" altLang="en-US"/>
              <a:t>。结果直接告诉我们：</a:t>
            </a:r>
            <a:r>
              <a:rPr lang="en-US" altLang="zh-CN"/>
              <a:t>Alice</a:t>
            </a:r>
            <a:r>
              <a:rPr lang="zh-CN" altLang="en-US"/>
              <a:t>得</a:t>
            </a:r>
            <a:r>
              <a:rPr lang="en-US" altLang="zh-CN"/>
              <a:t>1</a:t>
            </a:r>
            <a:r>
              <a:rPr lang="zh-CN" altLang="en-US"/>
              <a:t>票，</a:t>
            </a:r>
            <a:r>
              <a:rPr lang="en-US" altLang="zh-CN"/>
              <a:t>Bob</a:t>
            </a:r>
            <a:r>
              <a:rPr lang="zh-CN" altLang="en-US"/>
              <a:t>得</a:t>
            </a:r>
            <a:r>
              <a:rPr lang="en-US" altLang="zh-CN"/>
              <a:t>2</a:t>
            </a:r>
            <a:r>
              <a:rPr lang="zh-CN" altLang="en-US"/>
              <a:t>票，</a:t>
            </a:r>
            <a:r>
              <a:rPr lang="en-US" altLang="zh-CN"/>
              <a:t>Carol</a:t>
            </a:r>
            <a:r>
              <a:rPr lang="zh-CN" altLang="en-US"/>
              <a:t>得</a:t>
            </a:r>
            <a:r>
              <a:rPr lang="en-US" altLang="zh-CN"/>
              <a:t>0</a:t>
            </a:r>
            <a:r>
              <a:rPr lang="zh-CN" altLang="en-US"/>
              <a:t>票。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更重要的是，如果我们先把每张选票加密，再做同态加法，最后只解密总和。整个过程没有任何一张选票被解密，完美保护了投票隐私！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&gt; </a:t>
            </a:r>
            <a:r>
              <a:rPr lang="zh-CN" altLang="en-US"/>
              <a:t>现在我们来看完整的投票协议流程。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首先是系统初始化。系统生成一对密钥：公钥和私钥。公钥向所有人公开，用于加密选票。私钥非常关键，用于解密最终结果。为了安全，私钥不由单一机构保管，而是分片交给多个受托人，只有足够多的受托人合作才能解密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然后是选民投票环节。选民选择候选人后，系统将选择编码为</a:t>
            </a:r>
            <a:r>
              <a:rPr lang="en-US" altLang="zh-CN"/>
              <a:t>One-Hot</a:t>
            </a:r>
            <a:r>
              <a:rPr lang="zh-CN" altLang="en-US"/>
              <a:t>向量，用公钥加密。然后选民用自己的私钥对选票签名，证明这张票是他投的，不是别人冒充的。最后，选民还要生成一个零知识证明，证明这张选票是有效的</a:t>
            </a:r>
            <a:r>
              <a:rPr lang="en-US" altLang="zh-CN"/>
              <a:t>One-Hot</a:t>
            </a:r>
            <a:r>
              <a:rPr lang="zh-CN" altLang="en-US"/>
              <a:t>向量，但又不透露具体投给了谁。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计票时，系统首先验证所有选票的签名和零知识证明，确保每张票都是合法的。然后对所有的加密选票进行同态累加。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最后，受托人联合解密累加结果，公布各候选人的得票数。注意，解密的只是总和，每张选票从头到尾都是加密状态！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&gt; </a:t>
            </a:r>
            <a:r>
              <a:rPr lang="zh-CN" altLang="en-US"/>
              <a:t>除了隐私保护，协议还需要保证正确性和可验证性。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正确性方面：数字签名确保每张选票都来自合法选民，无法伪造。零知识证明确保每张选票都是有效的</a:t>
            </a:r>
            <a:r>
              <a:rPr lang="en-US" altLang="zh-CN"/>
              <a:t>One-Hot</a:t>
            </a:r>
            <a:r>
              <a:rPr lang="zh-CN" altLang="en-US"/>
              <a:t>格式，不会出现</a:t>
            </a:r>
            <a:r>
              <a:rPr lang="en-US" altLang="zh-CN"/>
              <a:t>"</a:t>
            </a:r>
            <a:r>
              <a:rPr lang="zh-CN" altLang="en-US"/>
              <a:t>投给两个人</a:t>
            </a:r>
            <a:r>
              <a:rPr lang="en-US" altLang="zh-CN"/>
              <a:t>"</a:t>
            </a:r>
            <a:r>
              <a:rPr lang="zh-CN" altLang="en-US"/>
              <a:t>或</a:t>
            </a:r>
            <a:r>
              <a:rPr lang="en-US" altLang="zh-CN"/>
              <a:t>"</a:t>
            </a:r>
            <a:r>
              <a:rPr lang="zh-CN" altLang="en-US"/>
              <a:t>投给不存在的人</a:t>
            </a:r>
            <a:r>
              <a:rPr lang="en-US" altLang="zh-CN"/>
              <a:t>"</a:t>
            </a:r>
            <a:r>
              <a:rPr lang="zh-CN" altLang="en-US"/>
              <a:t>这种情况。同态运算本身有数学保证，加密状态下的加法一定等于明文加法。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可验证性方面：选民可以验证自己的签名被系统记录，确认自己的票被接收。任何人都可以验证计票过程，因为所有的加密选票和证明都是公开的。结果可以被审计和重现。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这些机制共同防止了各种作弊行为：重复投票会被签名唯一性检测到；篡改选票会导致签名验证失败；恶意计票会被公开验证发现。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&gt; </a:t>
            </a:r>
            <a:r>
              <a:rPr lang="zh-CN" altLang="en-US"/>
              <a:t>让我们分析一下协议的安全性，看看隐私是如何被保护的。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首先，每张选票从创建的那一刻起就是加密的。加密使用的是公钥，而只有对应的私钥才能解密。私钥被分片保管在多个受托人手中，任何单个人都无法解密。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其次，整个计票过程都是同态运算，在密文上进行。我们从来不需要解密任何单张选票，只需要在最后解密所有选票的总和。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即使攻击者获取了系统中的所有数据：加密选票他无法解密；签名只能用来验证身份，无法伪造；零知识证明本身就设计成不泄露任何有用信息。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这就是密码学的美妙之处：我们可以让系统完成投票和计票，却让任何人</a:t>
            </a:r>
            <a:r>
              <a:rPr lang="en-US" altLang="zh-CN"/>
              <a:t>—including</a:t>
            </a:r>
            <a:r>
              <a:rPr lang="zh-CN" altLang="en-US"/>
              <a:t>系统管理员</a:t>
            </a:r>
            <a:r>
              <a:rPr lang="en-US" altLang="zh-CN"/>
              <a:t>—</a:t>
            </a:r>
            <a:r>
              <a:rPr lang="zh-CN" altLang="en-US"/>
              <a:t>都无法知道具体谁投给了谁。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最后简单介绍一下系统实现。我们使用</a:t>
            </a:r>
            <a:r>
              <a:rPr lang="en-US" altLang="zh-CN"/>
              <a:t>Python</a:t>
            </a:r>
            <a:r>
              <a:rPr lang="zh-CN" altLang="en-US"/>
              <a:t>语言开发，同态加密使用</a:t>
            </a:r>
            <a:r>
              <a:rPr lang="en-US" altLang="zh-CN"/>
              <a:t>TenSEAL</a:t>
            </a:r>
            <a:r>
              <a:rPr lang="zh-CN" altLang="en-US"/>
              <a:t>库实现</a:t>
            </a:r>
            <a:r>
              <a:rPr lang="en-US" altLang="zh-CN"/>
              <a:t>BFV</a:t>
            </a:r>
            <a:r>
              <a:rPr lang="zh-CN" altLang="en-US"/>
              <a:t>方案。系统包含完整的账户管理、投票和计票功能，并提供了</a:t>
            </a:r>
            <a:r>
              <a:rPr lang="en-US" altLang="zh-CN"/>
              <a:t>Web</a:t>
            </a:r>
            <a:r>
              <a:rPr lang="zh-CN" altLang="en-US"/>
              <a:t>交互界面用于演示。感兴趣的老师和同学可以在</a:t>
            </a:r>
            <a:r>
              <a:rPr lang="en-US" altLang="zh-CN"/>
              <a:t>GitHub</a:t>
            </a:r>
            <a:r>
              <a:rPr lang="zh-CN" altLang="en-US"/>
              <a:t>上查看源代码。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&gt; </a:t>
            </a:r>
            <a:r>
              <a:rPr lang="zh-CN" altLang="en-US"/>
              <a:t>最后简单介绍一下系统实现。我们使用</a:t>
            </a:r>
            <a:r>
              <a:rPr lang="en-US" altLang="zh-CN"/>
              <a:t>Python</a:t>
            </a:r>
            <a:r>
              <a:rPr lang="zh-CN" altLang="en-US"/>
              <a:t>语言开发，同态加密使用</a:t>
            </a:r>
            <a:r>
              <a:rPr lang="en-US" altLang="zh-CN"/>
              <a:t>TenSEAL</a:t>
            </a:r>
            <a:r>
              <a:rPr lang="zh-CN" altLang="en-US"/>
              <a:t>库实现</a:t>
            </a:r>
            <a:r>
              <a:rPr lang="en-US" altLang="zh-CN"/>
              <a:t>BFV</a:t>
            </a:r>
            <a:r>
              <a:rPr lang="zh-CN" altLang="en-US"/>
              <a:t>方案。系统包含完整的账户管理、投票和计票功能，并提供了</a:t>
            </a:r>
            <a:r>
              <a:rPr lang="en-US" altLang="zh-CN"/>
              <a:t>Web</a:t>
            </a:r>
            <a:r>
              <a:rPr lang="zh-CN" altLang="en-US"/>
              <a:t>交互界面用于演示。感兴趣的老师和同学可以在</a:t>
            </a:r>
            <a:r>
              <a:rPr lang="en-US" altLang="zh-CN"/>
              <a:t>GitHub</a:t>
            </a:r>
            <a:r>
              <a:rPr lang="zh-CN" altLang="en-US"/>
              <a:t>上查看源代码。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***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## </a:t>
            </a:r>
            <a:r>
              <a:rPr lang="zh-CN" altLang="en-US"/>
              <a:t>第</a:t>
            </a:r>
            <a:r>
              <a:rPr lang="en-US" altLang="zh-CN"/>
              <a:t>10</a:t>
            </a:r>
            <a:r>
              <a:rPr lang="zh-CN" altLang="en-US"/>
              <a:t>页：总结与致谢（</a:t>
            </a:r>
            <a:r>
              <a:rPr lang="en-US" altLang="zh-CN"/>
              <a:t>30</a:t>
            </a:r>
            <a:r>
              <a:rPr lang="zh-CN" altLang="en-US"/>
              <a:t>秒）</a:t>
            </a:r>
            <a:endParaRPr lang="zh-CN" altLang="en-US"/>
          </a:p>
          <a:p>
            <a:r>
              <a:rPr lang="en-US" altLang="zh-CN"/>
              <a:t>&gt; </a:t>
            </a:r>
            <a:r>
              <a:rPr lang="zh-CN" altLang="en-US"/>
              <a:t>总结一下，我们设计并实现了一个基于格密码的后量子安全电子投票协议。核心特点是：选票全程加密保护隐私，通过签名和零知识证明保证正确性，基于格密码实现后量子安全。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后续工作包括完善零知识证明协议、实现分布式密钥管理、以及性能优化。</a:t>
            </a:r>
            <a:endParaRPr lang="zh-CN" altLang="en-US"/>
          </a:p>
          <a:p>
            <a:r>
              <a:rPr lang="en-US" altLang="zh-CN"/>
              <a:t>&gt;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感谢各位老师和同学的聆听！欢迎提问交流。谢谢！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2192001" cy="907569"/>
              <a:chOff x="0" y="-107481"/>
              <a:chExt cx="12192001" cy="2276989"/>
            </a:xfrm>
            <a:gradFill>
              <a:gsLst>
                <a:gs pos="0">
                  <a:srgbClr val="5165EC">
                    <a:alpha val="100000"/>
                    <a:lumMod val="20000"/>
                    <a:lumOff val="80000"/>
                  </a:srgbClr>
                </a:gs>
                <a:gs pos="85000">
                  <a:srgbClr val="5165EC">
                    <a:alpha val="100000"/>
                  </a:srgbClr>
                </a:gs>
                <a:gs pos="95412">
                  <a:srgbClr val="2F2F2F">
                    <a:alpha val="100000"/>
                    <a:lumMod val="20000"/>
                    <a:lumOff val="80000"/>
                  </a:srgbClr>
                </a:gs>
              </a:gsLst>
              <a:lin ang="10800000"/>
            </a:gradFill>
          </p:grpSpPr>
          <p:sp>
            <p:nvSpPr>
              <p:cNvPr id="4" name="AutoShape 4"/>
              <p:cNvSpPr/>
              <p:nvPr/>
            </p:nvSpPr>
            <p:spPr>
              <a:xfrm>
                <a:off x="0" y="-107481"/>
                <a:ext cx="12192000" cy="1852246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1852246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359127"/>
                    </a:lnTo>
                    <a:lnTo>
                      <a:pt x="8232776" y="1852246"/>
                    </a:lnTo>
                    <a:lnTo>
                      <a:pt x="0" y="827314"/>
                    </a:lnTo>
                    <a:close/>
                  </a:path>
                </a:pathLst>
              </a:custGeom>
              <a:gradFill>
                <a:gsLst>
                  <a:gs pos="0">
                    <a:srgbClr val="9D56D9">
                      <a:alpha val="100000"/>
                    </a:srgbClr>
                  </a:gs>
                  <a:gs pos="100000">
                    <a:srgbClr val="5165EC">
                      <a:alpha val="18823"/>
                      <a:lumMod val="20000"/>
                      <a:lumOff val="80000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8361756" y="1403681"/>
                <a:ext cx="3830245" cy="765827"/>
              </a:xfrm>
              <a:custGeom>
                <a:avLst/>
                <a:gdLst/>
                <a:ahLst/>
                <a:cxnLst/>
                <a:rect l="l" t="t" r="r" b="b"/>
                <a:pathLst>
                  <a:path w="3830245" h="765827">
                    <a:moveTo>
                      <a:pt x="3830245" y="0"/>
                    </a:moveTo>
                    <a:lnTo>
                      <a:pt x="3830245" y="565344"/>
                    </a:lnTo>
                    <a:lnTo>
                      <a:pt x="2136869" y="765827"/>
                    </a:lnTo>
                    <a:lnTo>
                      <a:pt x="0" y="475519"/>
                    </a:lnTo>
                    <a:lnTo>
                      <a:pt x="3790198" y="4076"/>
                    </a:lnTo>
                    <a:close/>
                  </a:path>
                </a:pathLst>
              </a:custGeom>
              <a:gradFill>
                <a:gsLst>
                  <a:gs pos="0">
                    <a:srgbClr val="5165EC">
                      <a:alpha val="100000"/>
                    </a:srgbClr>
                  </a:gs>
                  <a:gs pos="100000">
                    <a:srgbClr val="9D56D9">
                      <a:alpha val="100000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</p:grpSp>
        <p:sp>
          <p:nvSpPr>
            <p:cNvPr id="6" name="AutoShape 6"/>
            <p:cNvSpPr/>
            <p:nvPr/>
          </p:nvSpPr>
          <p:spPr>
            <a:xfrm>
              <a:off x="0" y="6729413"/>
              <a:ext cx="12192000" cy="128587"/>
            </a:xfrm>
            <a:prstGeom prst="rect">
              <a:avLst/>
            </a:prstGeom>
            <a:gradFill>
              <a:gsLst>
                <a:gs pos="0">
                  <a:srgbClr val="9D56D9">
                    <a:alpha val="100000"/>
                  </a:srgbClr>
                </a:gs>
                <a:gs pos="100000">
                  <a:srgbClr val="5165EC">
                    <a:alpha val="18823"/>
                    <a:lumMod val="20000"/>
                    <a:lumOff val="80000"/>
                  </a:srgbClr>
                </a:gs>
              </a:gsLst>
              <a:lin ang="10800000"/>
            </a:gradFill>
            <a:ln>
              <a:headEnd type="none"/>
              <a:tailEnd type="none"/>
            </a:ln>
          </p:spPr>
        </p:sp>
      </p:grpSp>
      <p:sp>
        <p:nvSpPr>
          <p:cNvPr id="7" name="AutoShape 7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t="-9241" b="-9241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FFFFF">
                <a:alpha val="100000"/>
              </a:srgbClr>
            </a:gs>
            <a:gs pos="100000">
              <a:srgbClr val="5165EC">
                <a:alpha val="100000"/>
                <a:lumMod val="20000"/>
                <a:lumOff val="8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2192001" cy="907569"/>
              <a:chOff x="0" y="-107481"/>
              <a:chExt cx="12192001" cy="2276989"/>
            </a:xfrm>
            <a:gradFill>
              <a:gsLst>
                <a:gs pos="0">
                  <a:srgbClr val="5165EC">
                    <a:alpha val="100000"/>
                    <a:lumMod val="20000"/>
                    <a:lumOff val="80000"/>
                  </a:srgbClr>
                </a:gs>
                <a:gs pos="85000">
                  <a:srgbClr val="5165EC">
                    <a:alpha val="100000"/>
                  </a:srgbClr>
                </a:gs>
                <a:gs pos="95412">
                  <a:srgbClr val="FFFFFF">
                    <a:alpha val="100000"/>
                    <a:lumMod val="20000"/>
                    <a:lumOff val="80000"/>
                  </a:srgbClr>
                </a:gs>
              </a:gsLst>
              <a:lin ang="10800000"/>
            </a:gradFill>
          </p:grpSpPr>
          <p:sp>
            <p:nvSpPr>
              <p:cNvPr id="4" name="AutoShape 4"/>
              <p:cNvSpPr/>
              <p:nvPr/>
            </p:nvSpPr>
            <p:spPr>
              <a:xfrm>
                <a:off x="0" y="-107481"/>
                <a:ext cx="12192000" cy="1852246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1852246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359127"/>
                    </a:lnTo>
                    <a:lnTo>
                      <a:pt x="8232776" y="1852246"/>
                    </a:lnTo>
                    <a:lnTo>
                      <a:pt x="0" y="827314"/>
                    </a:lnTo>
                    <a:close/>
                  </a:path>
                </a:pathLst>
              </a:custGeom>
              <a:gradFill>
                <a:gsLst>
                  <a:gs pos="0">
                    <a:srgbClr val="9D56D9">
                      <a:alpha val="100000"/>
                    </a:srgbClr>
                  </a:gs>
                  <a:gs pos="100000">
                    <a:srgbClr val="5165EC">
                      <a:alpha val="18823"/>
                      <a:lumMod val="20000"/>
                      <a:lumOff val="80000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8361756" y="1403681"/>
                <a:ext cx="3830245" cy="765827"/>
              </a:xfrm>
              <a:custGeom>
                <a:avLst/>
                <a:gdLst/>
                <a:ahLst/>
                <a:cxnLst/>
                <a:rect l="l" t="t" r="r" b="b"/>
                <a:pathLst>
                  <a:path w="3830245" h="765827">
                    <a:moveTo>
                      <a:pt x="3830245" y="0"/>
                    </a:moveTo>
                    <a:lnTo>
                      <a:pt x="3830245" y="565344"/>
                    </a:lnTo>
                    <a:lnTo>
                      <a:pt x="2136869" y="765827"/>
                    </a:lnTo>
                    <a:lnTo>
                      <a:pt x="0" y="475519"/>
                    </a:lnTo>
                    <a:lnTo>
                      <a:pt x="3790198" y="4076"/>
                    </a:lnTo>
                    <a:close/>
                  </a:path>
                </a:pathLst>
              </a:custGeom>
              <a:gradFill>
                <a:gsLst>
                  <a:gs pos="0">
                    <a:srgbClr val="5165EC">
                      <a:alpha val="100000"/>
                    </a:srgbClr>
                  </a:gs>
                  <a:gs pos="100000">
                    <a:srgbClr val="9D56D9">
                      <a:alpha val="100000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</p:grpSp>
        <p:sp>
          <p:nvSpPr>
            <p:cNvPr id="6" name="AutoShape 6"/>
            <p:cNvSpPr/>
            <p:nvPr/>
          </p:nvSpPr>
          <p:spPr>
            <a:xfrm>
              <a:off x="0" y="6729413"/>
              <a:ext cx="12192000" cy="128587"/>
            </a:xfrm>
            <a:prstGeom prst="rect">
              <a:avLst/>
            </a:prstGeom>
            <a:gradFill>
              <a:gsLst>
                <a:gs pos="0">
                  <a:srgbClr val="9D56D9">
                    <a:alpha val="100000"/>
                  </a:srgbClr>
                </a:gs>
                <a:gs pos="100000">
                  <a:srgbClr val="5165EC">
                    <a:alpha val="18823"/>
                    <a:lumMod val="20000"/>
                    <a:lumOff val="80000"/>
                  </a:srgbClr>
                </a:gs>
              </a:gsLst>
              <a:lin ang="10800000"/>
            </a:gra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2192001" cy="907569"/>
              <a:chOff x="0" y="-107481"/>
              <a:chExt cx="12192001" cy="2276989"/>
            </a:xfrm>
            <a:gradFill>
              <a:gsLst>
                <a:gs pos="0">
                  <a:srgbClr val="5165EC">
                    <a:alpha val="100000"/>
                    <a:lumMod val="20000"/>
                    <a:lumOff val="80000"/>
                  </a:srgbClr>
                </a:gs>
                <a:gs pos="85000">
                  <a:srgbClr val="5165EC">
                    <a:alpha val="100000"/>
                  </a:srgbClr>
                </a:gs>
                <a:gs pos="95412">
                  <a:srgbClr val="2F2F2F">
                    <a:alpha val="100000"/>
                    <a:lumMod val="20000"/>
                    <a:lumOff val="80000"/>
                  </a:srgbClr>
                </a:gs>
              </a:gsLst>
              <a:lin ang="10800000"/>
            </a:gradFill>
          </p:grpSpPr>
          <p:sp>
            <p:nvSpPr>
              <p:cNvPr id="4" name="AutoShape 4"/>
              <p:cNvSpPr/>
              <p:nvPr/>
            </p:nvSpPr>
            <p:spPr>
              <a:xfrm>
                <a:off x="0" y="-107481"/>
                <a:ext cx="12192000" cy="1852246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1852246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359127"/>
                    </a:lnTo>
                    <a:lnTo>
                      <a:pt x="8232776" y="1852246"/>
                    </a:lnTo>
                    <a:lnTo>
                      <a:pt x="0" y="827314"/>
                    </a:lnTo>
                    <a:close/>
                  </a:path>
                </a:pathLst>
              </a:custGeom>
              <a:gradFill>
                <a:gsLst>
                  <a:gs pos="0">
                    <a:srgbClr val="9D56D9">
                      <a:alpha val="100000"/>
                    </a:srgbClr>
                  </a:gs>
                  <a:gs pos="100000">
                    <a:srgbClr val="5165EC">
                      <a:alpha val="18823"/>
                      <a:lumMod val="20000"/>
                      <a:lumOff val="80000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8361756" y="1403681"/>
                <a:ext cx="3830245" cy="765827"/>
              </a:xfrm>
              <a:custGeom>
                <a:avLst/>
                <a:gdLst/>
                <a:ahLst/>
                <a:cxnLst/>
                <a:rect l="l" t="t" r="r" b="b"/>
                <a:pathLst>
                  <a:path w="3830245" h="765827">
                    <a:moveTo>
                      <a:pt x="3830245" y="0"/>
                    </a:moveTo>
                    <a:lnTo>
                      <a:pt x="3830245" y="565344"/>
                    </a:lnTo>
                    <a:lnTo>
                      <a:pt x="2136869" y="765827"/>
                    </a:lnTo>
                    <a:lnTo>
                      <a:pt x="0" y="475519"/>
                    </a:lnTo>
                    <a:lnTo>
                      <a:pt x="3790198" y="4076"/>
                    </a:lnTo>
                    <a:close/>
                  </a:path>
                </a:pathLst>
              </a:custGeom>
              <a:gradFill>
                <a:gsLst>
                  <a:gs pos="0">
                    <a:srgbClr val="5165EC">
                      <a:alpha val="100000"/>
                    </a:srgbClr>
                  </a:gs>
                  <a:gs pos="100000">
                    <a:srgbClr val="9D56D9">
                      <a:alpha val="100000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</p:grpSp>
        <p:sp>
          <p:nvSpPr>
            <p:cNvPr id="6" name="AutoShape 6"/>
            <p:cNvSpPr/>
            <p:nvPr/>
          </p:nvSpPr>
          <p:spPr>
            <a:xfrm>
              <a:off x="0" y="6729413"/>
              <a:ext cx="12192000" cy="128587"/>
            </a:xfrm>
            <a:prstGeom prst="rect">
              <a:avLst/>
            </a:prstGeom>
            <a:gradFill>
              <a:gsLst>
                <a:gs pos="0">
                  <a:srgbClr val="9D56D9">
                    <a:alpha val="100000"/>
                  </a:srgbClr>
                </a:gs>
                <a:gs pos="100000">
                  <a:srgbClr val="5165EC">
                    <a:alpha val="18823"/>
                    <a:lumMod val="20000"/>
                    <a:lumOff val="80000"/>
                  </a:srgbClr>
                </a:gs>
              </a:gsLst>
              <a:lin ang="10800000"/>
            </a:gradFill>
            <a:ln>
              <a:headEnd type="none"/>
              <a:tailEnd type="none"/>
            </a:ln>
          </p:spPr>
        </p:sp>
      </p:grpSp>
      <p:sp>
        <p:nvSpPr>
          <p:cNvPr id="7" name="AutoShape 7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t="-9241" b="-9241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53">
              <a:alpha val="6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5750622" y="5070025"/>
            <a:ext cx="165100" cy="16510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007100" y="5070025"/>
            <a:ext cx="165100" cy="16510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6263578" y="5070025"/>
            <a:ext cx="165100" cy="16510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FFFFF">
                <a:alpha val="100000"/>
              </a:srgbClr>
            </a:gs>
            <a:gs pos="100000">
              <a:srgbClr val="5165EC">
                <a:alpha val="100000"/>
                <a:lumMod val="20000"/>
                <a:lumOff val="8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2192001" cy="907569"/>
              <a:chOff x="0" y="-107481"/>
              <a:chExt cx="12192001" cy="2276989"/>
            </a:xfrm>
            <a:gradFill>
              <a:gsLst>
                <a:gs pos="0">
                  <a:srgbClr val="5165EC">
                    <a:alpha val="100000"/>
                    <a:lumMod val="20000"/>
                    <a:lumOff val="80000"/>
                  </a:srgbClr>
                </a:gs>
                <a:gs pos="85000">
                  <a:srgbClr val="5165EC">
                    <a:alpha val="100000"/>
                  </a:srgbClr>
                </a:gs>
                <a:gs pos="95412">
                  <a:srgbClr val="FFFFFF">
                    <a:alpha val="100000"/>
                    <a:lumMod val="20000"/>
                    <a:lumOff val="80000"/>
                  </a:srgbClr>
                </a:gs>
              </a:gsLst>
              <a:lin ang="10800000"/>
            </a:gradFill>
          </p:grpSpPr>
          <p:sp>
            <p:nvSpPr>
              <p:cNvPr id="4" name="AutoShape 4"/>
              <p:cNvSpPr/>
              <p:nvPr/>
            </p:nvSpPr>
            <p:spPr>
              <a:xfrm>
                <a:off x="0" y="-107481"/>
                <a:ext cx="12192000" cy="1852246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1852246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359127"/>
                    </a:lnTo>
                    <a:lnTo>
                      <a:pt x="8232776" y="1852246"/>
                    </a:lnTo>
                    <a:lnTo>
                      <a:pt x="0" y="827314"/>
                    </a:lnTo>
                    <a:close/>
                  </a:path>
                </a:pathLst>
              </a:custGeom>
              <a:gradFill>
                <a:gsLst>
                  <a:gs pos="0">
                    <a:srgbClr val="9D56D9">
                      <a:alpha val="100000"/>
                    </a:srgbClr>
                  </a:gs>
                  <a:gs pos="100000">
                    <a:srgbClr val="5165EC">
                      <a:alpha val="18823"/>
                      <a:lumMod val="20000"/>
                      <a:lumOff val="80000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8361756" y="1403681"/>
                <a:ext cx="3830245" cy="765827"/>
              </a:xfrm>
              <a:custGeom>
                <a:avLst/>
                <a:gdLst/>
                <a:ahLst/>
                <a:cxnLst/>
                <a:rect l="l" t="t" r="r" b="b"/>
                <a:pathLst>
                  <a:path w="3830245" h="765827">
                    <a:moveTo>
                      <a:pt x="3830245" y="0"/>
                    </a:moveTo>
                    <a:lnTo>
                      <a:pt x="3830245" y="565344"/>
                    </a:lnTo>
                    <a:lnTo>
                      <a:pt x="2136869" y="765827"/>
                    </a:lnTo>
                    <a:lnTo>
                      <a:pt x="0" y="475519"/>
                    </a:lnTo>
                    <a:lnTo>
                      <a:pt x="3790198" y="4076"/>
                    </a:lnTo>
                    <a:close/>
                  </a:path>
                </a:pathLst>
              </a:custGeom>
              <a:gradFill>
                <a:gsLst>
                  <a:gs pos="0">
                    <a:srgbClr val="5165EC">
                      <a:alpha val="100000"/>
                    </a:srgbClr>
                  </a:gs>
                  <a:gs pos="100000">
                    <a:srgbClr val="9D56D9">
                      <a:alpha val="100000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</p:grpSp>
        <p:sp>
          <p:nvSpPr>
            <p:cNvPr id="6" name="AutoShape 6"/>
            <p:cNvSpPr/>
            <p:nvPr/>
          </p:nvSpPr>
          <p:spPr>
            <a:xfrm>
              <a:off x="0" y="6729413"/>
              <a:ext cx="12192000" cy="128587"/>
            </a:xfrm>
            <a:prstGeom prst="rect">
              <a:avLst/>
            </a:prstGeom>
            <a:gradFill>
              <a:gsLst>
                <a:gs pos="0">
                  <a:srgbClr val="9D56D9">
                    <a:alpha val="100000"/>
                  </a:srgbClr>
                </a:gs>
                <a:gs pos="100000">
                  <a:srgbClr val="5165EC">
                    <a:alpha val="18823"/>
                    <a:lumMod val="20000"/>
                    <a:lumOff val="80000"/>
                  </a:srgbClr>
                </a:gs>
              </a:gsLst>
              <a:lin ang="10800000"/>
            </a:gra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FFFFFF">
                <a:alpha val="100000"/>
              </a:srgbClr>
            </a:gs>
            <a:gs pos="100000">
              <a:srgbClr val="5165EC">
                <a:alpha val="100000"/>
                <a:lumMod val="20000"/>
                <a:lumOff val="8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FFFFFF">
                <a:alpha val="100000"/>
              </a:srgbClr>
            </a:gs>
            <a:gs pos="100000">
              <a:srgbClr val="5165EC">
                <a:alpha val="100000"/>
                <a:lumMod val="20000"/>
                <a:lumOff val="8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5513364"/>
            <a:ext cx="12192000" cy="1344636"/>
            <a:chOff x="0" y="5513364"/>
            <a:chExt cx="12192000" cy="1344636"/>
          </a:xfrm>
        </p:grpSpPr>
        <p:sp>
          <p:nvSpPr>
            <p:cNvPr id="3" name="AutoShape 3"/>
            <p:cNvSpPr/>
            <p:nvPr/>
          </p:nvSpPr>
          <p:spPr>
            <a:xfrm>
              <a:off x="0" y="5513364"/>
              <a:ext cx="12192000" cy="1344636"/>
            </a:xfrm>
            <a:custGeom>
              <a:avLst/>
              <a:gdLst/>
              <a:ahLst/>
              <a:cxnLst/>
              <a:rect l="l" t="t" r="r" b="b"/>
              <a:pathLst>
                <a:path w="12192000" h="1344636">
                  <a:moveTo>
                    <a:pt x="0" y="0"/>
                  </a:moveTo>
                  <a:lnTo>
                    <a:pt x="33819" y="16709"/>
                  </a:lnTo>
                  <a:cubicBezTo>
                    <a:pt x="1201292" y="528192"/>
                    <a:pt x="3478270" y="875413"/>
                    <a:pt x="6096000" y="875413"/>
                  </a:cubicBezTo>
                  <a:cubicBezTo>
                    <a:pt x="8713730" y="875413"/>
                    <a:pt x="10990708" y="528192"/>
                    <a:pt x="12158181" y="16709"/>
                  </a:cubicBezTo>
                  <a:lnTo>
                    <a:pt x="12192000" y="0"/>
                  </a:lnTo>
                  <a:lnTo>
                    <a:pt x="12192000" y="1344636"/>
                  </a:lnTo>
                  <a:lnTo>
                    <a:pt x="0" y="1344636"/>
                  </a:lnTo>
                  <a:close/>
                </a:path>
              </a:pathLst>
            </a:custGeom>
            <a:solidFill>
              <a:srgbClr val="5165EC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6054064"/>
              <a:ext cx="12192000" cy="803936"/>
            </a:xfrm>
            <a:custGeom>
              <a:avLst/>
              <a:gdLst/>
              <a:ahLst/>
              <a:cxnLst/>
              <a:rect l="l" t="t" r="r" b="b"/>
              <a:pathLst>
                <a:path w="12192000" h="803936">
                  <a:moveTo>
                    <a:pt x="0" y="0"/>
                  </a:moveTo>
                  <a:lnTo>
                    <a:pt x="374491" y="52753"/>
                  </a:lnTo>
                  <a:cubicBezTo>
                    <a:pt x="1879965" y="251345"/>
                    <a:pt x="3889238" y="372604"/>
                    <a:pt x="6096000" y="372604"/>
                  </a:cubicBezTo>
                  <a:cubicBezTo>
                    <a:pt x="8302762" y="372604"/>
                    <a:pt x="10312035" y="251345"/>
                    <a:pt x="11817509" y="52753"/>
                  </a:cubicBezTo>
                  <a:lnTo>
                    <a:pt x="12192000" y="0"/>
                  </a:lnTo>
                  <a:lnTo>
                    <a:pt x="12192000" y="803936"/>
                  </a:lnTo>
                  <a:lnTo>
                    <a:pt x="0" y="803936"/>
                  </a:lnTo>
                  <a:close/>
                </a:path>
              </a:pathLst>
            </a:custGeom>
            <a:solidFill>
              <a:srgbClr val="5165EC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cxnSp>
        <p:nvCxnSpPr>
          <p:cNvPr id="5" name="Connector 5"/>
          <p:cNvCxnSpPr/>
          <p:nvPr/>
        </p:nvCxnSpPr>
        <p:spPr>
          <a:xfrm>
            <a:off x="2757383" y="1446233"/>
            <a:ext cx="0" cy="4186204"/>
          </a:xfrm>
          <a:prstGeom prst="line">
            <a:avLst/>
          </a:prstGeom>
          <a:ln w="3175">
            <a:solidFill>
              <a:srgbClr val="778495">
                <a:alpha val="50196"/>
              </a:srgbClr>
            </a:solidFill>
            <a:prstDash val="solid"/>
            <a:headEnd type="none"/>
            <a:tailEnd type="none"/>
          </a:ln>
        </p:spPr>
      </p:cxnSp>
      <p:sp>
        <p:nvSpPr>
          <p:cNvPr id="6" name="AutoShape 6"/>
          <p:cNvSpPr/>
          <p:nvPr/>
        </p:nvSpPr>
        <p:spPr>
          <a:xfrm>
            <a:off x="1611070" y="4588223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78495">
              <a:alpha val="14901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1" cy="6858000"/>
            <a:chOff x="0" y="0"/>
            <a:chExt cx="12192001" cy="68580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2192001" cy="907569"/>
              <a:chOff x="0" y="-107481"/>
              <a:chExt cx="12192001" cy="2276989"/>
            </a:xfrm>
            <a:gradFill>
              <a:gsLst>
                <a:gs pos="0">
                  <a:srgbClr val="5165EC">
                    <a:alpha val="100000"/>
                    <a:lumMod val="20000"/>
                    <a:lumOff val="80000"/>
                  </a:srgbClr>
                </a:gs>
                <a:gs pos="85000">
                  <a:srgbClr val="5165EC">
                    <a:alpha val="100000"/>
                  </a:srgbClr>
                </a:gs>
                <a:gs pos="95412">
                  <a:srgbClr val="2F2F2F">
                    <a:alpha val="100000"/>
                    <a:lumMod val="20000"/>
                    <a:lumOff val="80000"/>
                  </a:srgbClr>
                </a:gs>
              </a:gsLst>
              <a:lin ang="10800000"/>
            </a:gradFill>
          </p:grpSpPr>
          <p:sp>
            <p:nvSpPr>
              <p:cNvPr id="4" name="AutoShape 4"/>
              <p:cNvSpPr/>
              <p:nvPr/>
            </p:nvSpPr>
            <p:spPr>
              <a:xfrm>
                <a:off x="0" y="-107481"/>
                <a:ext cx="12192000" cy="1852246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1852246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359127"/>
                    </a:lnTo>
                    <a:lnTo>
                      <a:pt x="8232776" y="1852246"/>
                    </a:lnTo>
                    <a:lnTo>
                      <a:pt x="0" y="827314"/>
                    </a:lnTo>
                    <a:close/>
                  </a:path>
                </a:pathLst>
              </a:custGeom>
              <a:gradFill>
                <a:gsLst>
                  <a:gs pos="0">
                    <a:srgbClr val="9D56D9">
                      <a:alpha val="100000"/>
                    </a:srgbClr>
                  </a:gs>
                  <a:gs pos="100000">
                    <a:srgbClr val="5165EC">
                      <a:alpha val="18823"/>
                      <a:lumMod val="20000"/>
                      <a:lumOff val="80000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8361756" y="1403681"/>
                <a:ext cx="3830245" cy="765827"/>
              </a:xfrm>
              <a:custGeom>
                <a:avLst/>
                <a:gdLst/>
                <a:ahLst/>
                <a:cxnLst/>
                <a:rect l="l" t="t" r="r" b="b"/>
                <a:pathLst>
                  <a:path w="3830245" h="765827">
                    <a:moveTo>
                      <a:pt x="3830245" y="0"/>
                    </a:moveTo>
                    <a:lnTo>
                      <a:pt x="3830245" y="565344"/>
                    </a:lnTo>
                    <a:lnTo>
                      <a:pt x="2136869" y="765827"/>
                    </a:lnTo>
                    <a:lnTo>
                      <a:pt x="0" y="475519"/>
                    </a:lnTo>
                    <a:lnTo>
                      <a:pt x="3790198" y="4076"/>
                    </a:lnTo>
                    <a:close/>
                  </a:path>
                </a:pathLst>
              </a:custGeom>
              <a:gradFill>
                <a:gsLst>
                  <a:gs pos="0">
                    <a:srgbClr val="5165EC">
                      <a:alpha val="100000"/>
                    </a:srgbClr>
                  </a:gs>
                  <a:gs pos="100000">
                    <a:srgbClr val="9D56D9">
                      <a:alpha val="100000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</p:grpSp>
        <p:sp>
          <p:nvSpPr>
            <p:cNvPr id="6" name="AutoShape 6"/>
            <p:cNvSpPr/>
            <p:nvPr/>
          </p:nvSpPr>
          <p:spPr>
            <a:xfrm>
              <a:off x="0" y="6729413"/>
              <a:ext cx="12192000" cy="128587"/>
            </a:xfrm>
            <a:prstGeom prst="rect">
              <a:avLst/>
            </a:prstGeom>
            <a:gradFill>
              <a:gsLst>
                <a:gs pos="0">
                  <a:srgbClr val="9D56D9">
                    <a:alpha val="100000"/>
                  </a:srgbClr>
                </a:gs>
                <a:gs pos="100000">
                  <a:srgbClr val="5165EC">
                    <a:alpha val="18823"/>
                    <a:lumMod val="20000"/>
                    <a:lumOff val="80000"/>
                  </a:srgbClr>
                </a:gs>
              </a:gsLst>
              <a:lin ang="10800000"/>
            </a:gradFill>
            <a:ln>
              <a:headEnd type="none"/>
              <a:tailEnd type="none"/>
            </a:ln>
          </p:spPr>
        </p:sp>
      </p:grpSp>
      <p:sp>
        <p:nvSpPr>
          <p:cNvPr id="7" name="AutoShape 7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t="-9241" b="-9241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10858500" cy="243809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 w="19050"/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LatticeVote中期展示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3338195" y="3918585"/>
            <a:ext cx="5537200" cy="1036955"/>
          </a:xfrm>
          <a:prstGeom prst="roundRect">
            <a:avLst>
              <a:gd name="adj" fmla="val 50000"/>
            </a:avLst>
          </a:prstGeom>
          <a:solidFill>
            <a:srgbClr val="5165EC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基于格密码的后量子安全电子投票系统 </a:t>
            </a:r>
            <a:endParaRPr lang="en-US" sz="2000" b="0" i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量子密码学课程中期报告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0" y="5772850"/>
            <a:ext cx="3989968" cy="3612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刘永瑞</a:t>
            </a:r>
            <a:r>
              <a:rPr lang="en-US" altLang="zh-CN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——2023211557</a:t>
            </a:r>
            <a:endParaRPr lang="en-US" altLang="zh-CN" sz="1600" b="0" i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528932" y="5772850"/>
            <a:ext cx="3989968" cy="3612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2026.4.12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2961a67-f3c3-411b-ac95-55000a4558ea"/>
          <p:cNvGrpSpPr/>
          <p:nvPr/>
        </p:nvGrpSpPr>
        <p:grpSpPr>
          <a:xfrm rot="0">
            <a:off x="674753" y="1071701"/>
            <a:ext cx="10829794" cy="5120999"/>
            <a:chOff x="674753" y="1071701"/>
            <a:chExt cx="10829794" cy="5120999"/>
          </a:xfrm>
        </p:grpSpPr>
        <p:sp>
          <p:nvSpPr>
            <p:cNvPr id="3" name="AutoShape 3"/>
            <p:cNvSpPr/>
            <p:nvPr/>
          </p:nvSpPr>
          <p:spPr>
            <a:xfrm>
              <a:off x="2596797" y="1703324"/>
              <a:ext cx="2368003" cy="472553"/>
            </a:xfrm>
            <a:custGeom>
              <a:avLst/>
              <a:gdLst/>
              <a:ahLst/>
              <a:cxnLst/>
              <a:rect l="l" t="t" r="r" b="b"/>
              <a:pathLst>
                <a:path w="560355" h="111823">
                  <a:moveTo>
                    <a:pt x="0" y="111824"/>
                  </a:moveTo>
                  <a:lnTo>
                    <a:pt x="446056" y="111824"/>
                  </a:lnTo>
                  <a:lnTo>
                    <a:pt x="560356" y="0"/>
                  </a:lnTo>
                </a:path>
              </a:pathLst>
            </a:custGeom>
            <a:ln w="9525">
              <a:gradFill>
                <a:gsLst>
                  <a:gs pos="38999">
                    <a:srgbClr val="5165EC">
                      <a:alpha val="0"/>
                    </a:srgbClr>
                  </a:gs>
                  <a:gs pos="100000">
                    <a:srgbClr val="9D56D9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4" name="AutoShape 4"/>
            <p:cNvSpPr/>
            <p:nvPr/>
          </p:nvSpPr>
          <p:spPr>
            <a:xfrm>
              <a:off x="3174410" y="2979826"/>
              <a:ext cx="3183494" cy="194412"/>
            </a:xfrm>
            <a:custGeom>
              <a:avLst/>
              <a:gdLst/>
              <a:ahLst/>
              <a:cxnLst/>
              <a:rect l="l" t="t" r="r" b="b"/>
              <a:pathLst>
                <a:path w="872204" h="46005">
                  <a:moveTo>
                    <a:pt x="0" y="46006"/>
                  </a:moveTo>
                  <a:lnTo>
                    <a:pt x="485775" y="46006"/>
                  </a:lnTo>
                  <a:lnTo>
                    <a:pt x="531781" y="0"/>
                  </a:lnTo>
                  <a:lnTo>
                    <a:pt x="872204" y="0"/>
                  </a:lnTo>
                </a:path>
              </a:pathLst>
            </a:custGeom>
            <a:ln w="9525">
              <a:gradFill>
                <a:gsLst>
                  <a:gs pos="38999">
                    <a:srgbClr val="5165EC">
                      <a:alpha val="0"/>
                    </a:srgbClr>
                  </a:gs>
                  <a:gs pos="100000">
                    <a:srgbClr val="9D56D9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5" name="AutoShape 5"/>
            <p:cNvSpPr/>
            <p:nvPr/>
          </p:nvSpPr>
          <p:spPr>
            <a:xfrm flipV="1">
              <a:off x="3174410" y="4169433"/>
              <a:ext cx="3183494" cy="194412"/>
            </a:xfrm>
            <a:custGeom>
              <a:avLst/>
              <a:gdLst/>
              <a:ahLst/>
              <a:cxnLst/>
              <a:rect l="l" t="t" r="r" b="b"/>
              <a:pathLst>
                <a:path w="872204" h="46005">
                  <a:moveTo>
                    <a:pt x="0" y="46006"/>
                  </a:moveTo>
                  <a:lnTo>
                    <a:pt x="485775" y="46006"/>
                  </a:lnTo>
                  <a:lnTo>
                    <a:pt x="531781" y="0"/>
                  </a:lnTo>
                  <a:lnTo>
                    <a:pt x="872204" y="0"/>
                  </a:lnTo>
                </a:path>
              </a:pathLst>
            </a:custGeom>
            <a:ln w="9525">
              <a:gradFill>
                <a:gsLst>
                  <a:gs pos="38999">
                    <a:srgbClr val="5165EC">
                      <a:alpha val="0"/>
                    </a:srgbClr>
                  </a:gs>
                  <a:gs pos="100000">
                    <a:srgbClr val="9D56D9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6" name="AutoShape 6"/>
            <p:cNvSpPr/>
            <p:nvPr/>
          </p:nvSpPr>
          <p:spPr>
            <a:xfrm flipV="1">
              <a:off x="2428949" y="5107644"/>
              <a:ext cx="2549138" cy="464904"/>
            </a:xfrm>
            <a:custGeom>
              <a:avLst/>
              <a:gdLst/>
              <a:ahLst/>
              <a:cxnLst/>
              <a:rect l="l" t="t" r="r" b="b"/>
              <a:pathLst>
                <a:path w="603218" h="110013">
                  <a:moveTo>
                    <a:pt x="0" y="110014"/>
                  </a:moveTo>
                  <a:lnTo>
                    <a:pt x="493205" y="110014"/>
                  </a:lnTo>
                  <a:lnTo>
                    <a:pt x="603218" y="0"/>
                  </a:lnTo>
                </a:path>
              </a:pathLst>
            </a:custGeom>
            <a:ln w="9525">
              <a:gradFill>
                <a:gsLst>
                  <a:gs pos="38999">
                    <a:srgbClr val="5165EC">
                      <a:alpha val="0"/>
                    </a:srgbClr>
                  </a:gs>
                  <a:gs pos="100000">
                    <a:srgbClr val="9D56D9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7" name="AutoShape 7"/>
            <p:cNvSpPr/>
            <p:nvPr/>
          </p:nvSpPr>
          <p:spPr>
            <a:xfrm>
              <a:off x="5095087" y="3077032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5165EC">
                      <a:alpha val="0"/>
                    </a:srgbClr>
                  </a:gs>
                  <a:gs pos="100000">
                    <a:srgbClr val="9D56D9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4568037" y="4461332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5165EC">
                      <a:alpha val="0"/>
                    </a:srgbClr>
                  </a:gs>
                  <a:gs pos="100000">
                    <a:srgbClr val="9D56D9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5228437" y="2846050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5165EC">
                      <a:alpha val="0"/>
                    </a:srgbClr>
                  </a:gs>
                  <a:gs pos="100000">
                    <a:srgbClr val="9D56D9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674753" y="1883870"/>
              <a:ext cx="3496660" cy="3496660"/>
            </a:xfrm>
            <a:prstGeom prst="ellipse">
              <a:avLst/>
            </a:prstGeom>
            <a:solidFill>
              <a:srgbClr val="2F2F2F">
                <a:alpha val="7058"/>
              </a:srgbClr>
            </a:solidFill>
            <a:ln w="34925">
              <a:gradFill>
                <a:gsLst>
                  <a:gs pos="11999">
                    <a:srgbClr val="FFFFFF">
                      <a:alpha val="100000"/>
                      <a:lumMod val="0"/>
                      <a:lumOff val="100000"/>
                    </a:srgbClr>
                  </a:gs>
                  <a:gs pos="23999">
                    <a:srgbClr val="CBC5F5">
                      <a:alpha val="0"/>
                    </a:srgbClr>
                  </a:gs>
                  <a:gs pos="77999">
                    <a:srgbClr val="DBD7F8">
                      <a:alpha val="10196"/>
                    </a:srgbClr>
                  </a:gs>
                  <a:gs pos="87999">
                    <a:srgbClr val="FFFFFF">
                      <a:alpha val="100000"/>
                      <a:lumMod val="60000"/>
                      <a:lumOff val="40000"/>
                    </a:srgbClr>
                  </a:gs>
                </a:gsLst>
                <a:lin ang="2700000"/>
              </a:gra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894394" y="2103511"/>
              <a:ext cx="3057380" cy="3057380"/>
            </a:xfrm>
            <a:prstGeom prst="ellipse">
              <a:avLst/>
            </a:prstGeom>
            <a:gradFill>
              <a:gsLst>
                <a:gs pos="0">
                  <a:srgbClr val="9D56D9">
                    <a:alpha val="100000"/>
                  </a:srgbClr>
                </a:gs>
                <a:gs pos="80000">
                  <a:srgbClr val="5165EC">
                    <a:alpha val="100000"/>
                  </a:srgbClr>
                </a:gs>
              </a:gsLst>
              <a:lin ang="2700000"/>
            </a:gra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3247830" y="5210385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5165EC">
                      <a:alpha val="0"/>
                    </a:srgbClr>
                  </a:gs>
                  <a:gs pos="100000">
                    <a:srgbClr val="9D56D9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3700222" y="2290077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5165EC">
                      <a:alpha val="0"/>
                    </a:srgbClr>
                  </a:gs>
                  <a:gs pos="100000">
                    <a:srgbClr val="9D56D9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 rot="0">
              <a:off x="5164102" y="1071701"/>
              <a:ext cx="6340445" cy="1130270"/>
              <a:chOff x="5164102" y="1071701"/>
              <a:chExt cx="6340445" cy="113027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455785" y="1276350"/>
                <a:ext cx="5048762" cy="740092"/>
              </a:xfrm>
              <a:prstGeom prst="roundRect">
                <a:avLst>
                  <a:gd name="adj" fmla="val 50000"/>
                </a:avLst>
              </a:prstGeom>
              <a:ln w="3175">
                <a:gradFill>
                  <a:gsLst>
                    <a:gs pos="0">
                      <a:srgbClr val="5165EC">
                        <a:alpha val="100000"/>
                      </a:srgbClr>
                    </a:gs>
                    <a:gs pos="100000">
                      <a:srgbClr val="9D56D9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项目背景与挑战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228437" y="1136037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9D56D9">
                      <a:alpha val="100000"/>
                    </a:srgbClr>
                  </a:gs>
                  <a:gs pos="80000">
                    <a:srgbClr val="5165EC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5164102" y="1071701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9D56D9">
                        <a:alpha val="100000"/>
                      </a:srgbClr>
                    </a:gs>
                    <a:gs pos="100000">
                      <a:srgbClr val="5165EC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 rot="0">
              <a:off x="6580847" y="2414691"/>
              <a:ext cx="4923700" cy="1130270"/>
              <a:chOff x="6580847" y="2414691"/>
              <a:chExt cx="4923700" cy="113027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837378" y="2619340"/>
                <a:ext cx="3667169" cy="740092"/>
              </a:xfrm>
              <a:prstGeom prst="roundRect">
                <a:avLst>
                  <a:gd name="adj" fmla="val 50000"/>
                </a:avLst>
              </a:prstGeom>
              <a:ln w="3175">
                <a:gradFill>
                  <a:gsLst>
                    <a:gs pos="0">
                      <a:srgbClr val="5165EC">
                        <a:alpha val="100000"/>
                      </a:srgbClr>
                    </a:gs>
                    <a:gs pos="100000">
                      <a:srgbClr val="9D56D9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核心技术原理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45182" y="2479027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9D56D9">
                      <a:alpha val="100000"/>
                    </a:srgbClr>
                  </a:gs>
                  <a:gs pos="80000">
                    <a:srgbClr val="5165EC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21" name="AutoShape 21"/>
              <p:cNvSpPr/>
              <p:nvPr/>
            </p:nvSpPr>
            <p:spPr>
              <a:xfrm>
                <a:off x="6580847" y="2414691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9D56D9">
                        <a:alpha val="100000"/>
                      </a:srgbClr>
                    </a:gs>
                    <a:gs pos="100000">
                      <a:srgbClr val="5165EC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 rot="0">
              <a:off x="6580847" y="3740828"/>
              <a:ext cx="4923700" cy="1130270"/>
              <a:chOff x="6580847" y="3740828"/>
              <a:chExt cx="4923700" cy="113027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837378" y="3943209"/>
                <a:ext cx="3667169" cy="740092"/>
              </a:xfrm>
              <a:prstGeom prst="roundRect">
                <a:avLst>
                  <a:gd name="adj" fmla="val 50000"/>
                </a:avLst>
              </a:prstGeom>
              <a:ln w="3175">
                <a:gradFill>
                  <a:gsLst>
                    <a:gs pos="0">
                      <a:srgbClr val="5165EC">
                        <a:alpha val="100000"/>
                      </a:srgbClr>
                    </a:gs>
                    <a:gs pos="100000">
                      <a:srgbClr val="9D56D9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协议设计与实现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645182" y="3802896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9D56D9">
                      <a:alpha val="100000"/>
                    </a:srgbClr>
                  </a:gs>
                  <a:gs pos="80000">
                    <a:srgbClr val="5165EC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25" name="AutoShape 25"/>
              <p:cNvSpPr/>
              <p:nvPr/>
            </p:nvSpPr>
            <p:spPr>
              <a:xfrm>
                <a:off x="6580847" y="3740828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9D56D9">
                        <a:alpha val="100000"/>
                      </a:srgbClr>
                    </a:gs>
                    <a:gs pos="100000">
                      <a:srgbClr val="5165EC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 rot="0">
              <a:off x="5164102" y="5062430"/>
              <a:ext cx="6340445" cy="1130270"/>
              <a:chOff x="5164102" y="5062430"/>
              <a:chExt cx="6340445" cy="113027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6455785" y="5267079"/>
                <a:ext cx="5048762" cy="740092"/>
              </a:xfrm>
              <a:prstGeom prst="roundRect">
                <a:avLst>
                  <a:gd name="adj" fmla="val 50000"/>
                </a:avLst>
              </a:prstGeom>
              <a:ln w="3175">
                <a:gradFill>
                  <a:gsLst>
                    <a:gs pos="0">
                      <a:srgbClr val="5165EC">
                        <a:alpha val="100000"/>
                      </a:srgbClr>
                    </a:gs>
                    <a:gs pos="100000">
                      <a:srgbClr val="9D56D9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总结与致谢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228437" y="5126766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9D56D9">
                      <a:alpha val="100000"/>
                    </a:srgbClr>
                  </a:gs>
                  <a:gs pos="80000">
                    <a:srgbClr val="5165EC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29" name="AutoShape 29"/>
              <p:cNvSpPr/>
              <p:nvPr/>
            </p:nvSpPr>
            <p:spPr>
              <a:xfrm>
                <a:off x="5164102" y="5062430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9D56D9">
                        <a:alpha val="100000"/>
                      </a:srgbClr>
                    </a:gs>
                    <a:gs pos="100000">
                      <a:srgbClr val="5165EC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</p:grpSp>
      <p:sp>
        <p:nvSpPr>
          <p:cNvPr id="30" name="TextBox 3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2142429"/>
            <a:ext cx="10858500" cy="177503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项目背景与挑战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399" y="3929319"/>
            <a:ext cx="10858500" cy="6934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介绍电子投票面临的安全挑战，阐述后量子密码学的必要性，引出本项目的研究价值。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356ab36-ad21-4b52-acc5-2f4f62c41ea5"/>
          <p:cNvGrpSpPr/>
          <p:nvPr>
            <p:custDataLst>
              <p:tags r:id="rId1"/>
            </p:custDataLst>
          </p:nvPr>
        </p:nvGrpSpPr>
        <p:grpSpPr>
          <a:xfrm rot="0">
            <a:off x="660399" y="1130302"/>
            <a:ext cx="10858500" cy="5003799"/>
            <a:chOff x="660399" y="1130302"/>
            <a:chExt cx="10858500" cy="5003799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3376853" y="1879600"/>
              <a:ext cx="2728056" cy="4254500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5165EC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 flipH="1">
              <a:off x="660399" y="1130302"/>
              <a:ext cx="10858500" cy="550188"/>
            </a:xfrm>
            <a:prstGeom prst="rect">
              <a:avLst/>
            </a:prstGeom>
            <a:solidFill>
              <a:srgbClr val="5165EC">
                <a:alpha val="94901"/>
                <a:lumMod val="75000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探讨传统电子投票方案在隐私性、正确性和可验证性方面的不足。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795678" y="2078276"/>
              <a:ext cx="2485865" cy="4055825"/>
              <a:chOff x="795678" y="2078276"/>
              <a:chExt cx="2485865" cy="4055825"/>
            </a:xfrm>
          </p:grpSpPr>
          <p:sp>
            <p:nvSpPr>
              <p:cNvPr id="6" name="Text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03596" y="2078276"/>
                <a:ext cx="381600" cy="382702"/>
              </a:xfrm>
              <a:prstGeom prst="rect">
                <a:avLst/>
              </a:prstGeom>
              <a:ln w="12700">
                <a:solidFill>
                  <a:srgbClr val="5165EC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95678" y="2550512"/>
                <a:ext cx="248586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隐私性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95678" y="3693161"/>
                <a:ext cx="248586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在传统投票中，投票站内的秘密画票保证了隐私。但在电子投票中，数据化的选票如何在传输和计票过程中防止被窥探，是一个核心难题。</a:t>
                </a:r>
                <a:endParaRPr lang="en-US" sz="14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3499507" y="2078276"/>
              <a:ext cx="2485865" cy="4055825"/>
              <a:chOff x="3499507" y="2078276"/>
              <a:chExt cx="2485865" cy="4055825"/>
            </a:xfrm>
          </p:grpSpPr>
          <p:sp>
            <p:nvSpPr>
              <p:cNvPr id="10" name="TextBox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609046" y="2078276"/>
                <a:ext cx="381600" cy="382702"/>
              </a:xfrm>
              <a:prstGeom prst="rect">
                <a:avLst/>
              </a:prstGeom>
              <a:ln w="12700">
                <a:solidFill>
                  <a:srgbClr val="5165EC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499507" y="2550512"/>
                <a:ext cx="248586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正确性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499507" y="3693161"/>
                <a:ext cx="248586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如何防止选票被篡改、丢弃或重复计算？必须有一个机制能保证计票结果与选民实际意愿一致，且可被验证。</a:t>
                </a:r>
                <a:endParaRPr lang="en-US" sz="14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203336" y="2078276"/>
              <a:ext cx="2485865" cy="4055825"/>
              <a:chOff x="6203336" y="2078276"/>
              <a:chExt cx="2485865" cy="4055825"/>
            </a:xfrm>
          </p:grpSpPr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312875" y="2078276"/>
                <a:ext cx="381600" cy="382702"/>
              </a:xfrm>
              <a:prstGeom prst="rect">
                <a:avLst/>
              </a:prstGeom>
              <a:ln w="12700">
                <a:solidFill>
                  <a:srgbClr val="5165EC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203336" y="2550512"/>
                <a:ext cx="248586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可验证性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203336" y="3693161"/>
                <a:ext cx="248586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选民需要能够确认自己的选票被正确计入，但又不能向他人证明自己投给了谁，以防止选票买卖等舞弊行为。</a:t>
                </a:r>
                <a:endParaRPr lang="en-US" sz="14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8907166" y="2078276"/>
              <a:ext cx="2485865" cy="4055825"/>
              <a:chOff x="8907166" y="2078276"/>
              <a:chExt cx="2485865" cy="4055825"/>
            </a:xfrm>
          </p:grpSpPr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016705" y="2078276"/>
                <a:ext cx="381600" cy="382702"/>
              </a:xfrm>
              <a:prstGeom prst="rect">
                <a:avLst/>
              </a:prstGeom>
              <a:ln w="12700">
                <a:solidFill>
                  <a:srgbClr val="5165EC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907166" y="2550512"/>
                <a:ext cx="248586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信任危机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8907166" y="3693161"/>
                <a:ext cx="248586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传统的解决方案依赖于信任一个中心化的计票机构。但如果该机构作恶或系统被攻击，整个选举的公正性都将受到质疑。</a:t>
                </a:r>
                <a:endParaRPr lang="en-US" sz="14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电子投票的安全挑战</a:t>
            </a:r>
            <a:endParaRPr lang="en-US" sz="1100"/>
          </a:p>
        </p:txBody>
      </p:sp>
      <p:sp>
        <p:nvSpPr>
          <p:cNvPr id="23" name="AutoShape 3"/>
          <p:cNvSpPr/>
          <p:nvPr>
            <p:custDataLst>
              <p:tags r:id="rId15"/>
            </p:custDataLst>
          </p:nvPr>
        </p:nvSpPr>
        <p:spPr>
          <a:xfrm>
            <a:off x="648893" y="1879600"/>
            <a:ext cx="2728056" cy="4254500"/>
          </a:xfrm>
          <a:prstGeom prst="roundRect">
            <a:avLst>
              <a:gd name="adj" fmla="val 0"/>
            </a:avLst>
          </a:prstGeom>
          <a:ln w="12700">
            <a:solidFill>
              <a:srgbClr val="5165EC">
                <a:alpha val="100000"/>
              </a:srgbClr>
            </a:solidFill>
            <a:headEnd type="none"/>
            <a:tailEnd type="none"/>
          </a:ln>
        </p:spPr>
      </p:sp>
      <p:sp>
        <p:nvSpPr>
          <p:cNvPr id="24" name="AutoShape 3"/>
          <p:cNvSpPr/>
          <p:nvPr>
            <p:custDataLst>
              <p:tags r:id="rId16"/>
            </p:custDataLst>
          </p:nvPr>
        </p:nvSpPr>
        <p:spPr>
          <a:xfrm>
            <a:off x="6107988" y="1879600"/>
            <a:ext cx="2728056" cy="4254500"/>
          </a:xfrm>
          <a:prstGeom prst="roundRect">
            <a:avLst>
              <a:gd name="adj" fmla="val 0"/>
            </a:avLst>
          </a:prstGeom>
          <a:ln w="12700">
            <a:solidFill>
              <a:srgbClr val="5165EC">
                <a:alpha val="100000"/>
              </a:srgbClr>
            </a:solidFill>
            <a:headEnd type="none"/>
            <a:tailEnd type="none"/>
          </a:ln>
        </p:spPr>
      </p:sp>
      <p:sp>
        <p:nvSpPr>
          <p:cNvPr id="25" name="AutoShape 3"/>
          <p:cNvSpPr/>
          <p:nvPr>
            <p:custDataLst>
              <p:tags r:id="rId17"/>
            </p:custDataLst>
          </p:nvPr>
        </p:nvSpPr>
        <p:spPr>
          <a:xfrm>
            <a:off x="8839123" y="1879600"/>
            <a:ext cx="2728056" cy="4254500"/>
          </a:xfrm>
          <a:prstGeom prst="roundRect">
            <a:avLst>
              <a:gd name="adj" fmla="val 0"/>
            </a:avLst>
          </a:prstGeom>
          <a:ln w="12700">
            <a:solidFill>
              <a:srgbClr val="5165EC">
                <a:alpha val="100000"/>
              </a:srgbClr>
            </a:solidFill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0e60176-7c1b-4149-8a44-57be68f1c0b4"/>
          <p:cNvGrpSpPr/>
          <p:nvPr>
            <p:custDataLst>
              <p:tags r:id="rId1"/>
            </p:custDataLst>
          </p:nvPr>
        </p:nvGrpSpPr>
        <p:grpSpPr>
          <a:xfrm rot="0">
            <a:off x="660399" y="1130300"/>
            <a:ext cx="10858500" cy="5003801"/>
            <a:chOff x="660399" y="1130300"/>
            <a:chExt cx="10858500" cy="5003801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1231177" y="2197102"/>
              <a:ext cx="7065800" cy="0"/>
            </a:xfrm>
            <a:prstGeom prst="line">
              <a:avLst/>
            </a:prstGeom>
            <a:ln w="6350">
              <a:solidFill>
                <a:srgbClr val="5165E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60399" y="2616205"/>
              <a:ext cx="10858500" cy="3517896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5165EC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 flipH="1">
              <a:off x="660399" y="1130300"/>
              <a:ext cx="10858500" cy="6476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分析传统密码学面临的量子计算威胁，强调后量子密码学研究的重要性。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747171" y="2003252"/>
              <a:ext cx="3389721" cy="4056788"/>
              <a:chOff x="747171" y="2003252"/>
              <a:chExt cx="3389721" cy="4056788"/>
            </a:xfrm>
          </p:grpSpPr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843477" y="2003252"/>
                <a:ext cx="387700" cy="387700"/>
              </a:xfrm>
              <a:prstGeom prst="rect">
                <a:avLst/>
              </a:prstGeom>
              <a:solidFill>
                <a:srgbClr val="5165EC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47171" y="2738762"/>
                <a:ext cx="3389721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量子计算的威胁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48697" y="4044710"/>
                <a:ext cx="338325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Shor算法能够在多项式时间内破解RSA和ECC等主流公钥密码体制。随着量子计算机的发展，现有密码体系面临崩溃的风险。</a:t>
                </a:r>
                <a:endParaRPr 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398133" y="2003252"/>
              <a:ext cx="3389721" cy="4056788"/>
              <a:chOff x="4398133" y="2003252"/>
              <a:chExt cx="3389721" cy="4056788"/>
            </a:xfrm>
          </p:grpSpPr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494439" y="2003252"/>
                <a:ext cx="387700" cy="387700"/>
              </a:xfrm>
              <a:prstGeom prst="rect">
                <a:avLst/>
              </a:prstGeom>
              <a:solidFill>
                <a:srgbClr val="5165EC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398133" y="2738762"/>
                <a:ext cx="3389721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NIST标准化进程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399659" y="4044710"/>
                <a:ext cx="338325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为应对量子威胁，美国国家标准与技术研究院（NIST）正大力推进后量子密码（PQC）算法的标准化工作，以寻找下一代安全的密码方案。</a:t>
                </a:r>
                <a:endParaRPr lang="en-US" sz="16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049095" y="2003252"/>
              <a:ext cx="3389721" cy="4056788"/>
              <a:chOff x="8049095" y="2003252"/>
              <a:chExt cx="3389721" cy="4056788"/>
            </a:xfrm>
          </p:grpSpPr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145401" y="2003252"/>
                <a:ext cx="387700" cy="387700"/>
              </a:xfrm>
              <a:prstGeom prst="rect">
                <a:avLst/>
              </a:prstGeom>
              <a:solidFill>
                <a:srgbClr val="5165EC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049095" y="2738762"/>
                <a:ext cx="3389721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格密码的前景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050621" y="4044710"/>
                <a:ext cx="338325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格密码因其基于格上困难问题，被普遍认为是最有前途的抗量子攻击密码方向之一，是后量子时代的重要候选方案。</a:t>
                </a:r>
                <a:endParaRPr lang="en-US" sz="16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后量子密码学的必要性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2142429"/>
            <a:ext cx="10858500" cy="177503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核心技术原理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399" y="3929319"/>
            <a:ext cx="10858500" cy="6934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深入讲解实现隐私计票的核心技术——同态加密，特别是BFV方案的原理。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c388c66-cc42-4cea-ae8d-e4b4fe9a4bd1"/>
          <p:cNvGrpSpPr/>
          <p:nvPr/>
        </p:nvGrpSpPr>
        <p:grpSpPr>
          <a:xfrm rot="0"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660399" y="1782553"/>
              <a:ext cx="10858500" cy="1408323"/>
              <a:chOff x="660399" y="1782553"/>
              <a:chExt cx="10858500" cy="1408323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5165EC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什么是同态加密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普通加密在加密后无法直接进行计算。而同态加密允许对密文进行操作，其结果与对明文进行相同操作后再加密的结果一致。</a:t>
                </a:r>
                <a:endParaRPr lang="en-US" sz="1600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揭示同态加密“加密后仍可计算”的神奇特性，及其在投票中的应用潜力。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 rot="0">
              <a:off x="660399" y="3254165"/>
              <a:ext cx="10858500" cy="1408323"/>
              <a:chOff x="660399" y="1782553"/>
              <a:chExt cx="10858500" cy="1408323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5165EC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加法同态的直观理解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可以想象成“魔法盒子”。将数字放入盒子并锁上（加密），然后将多个盒子合并（密文加法），打开合并后的盒子，得到的结果正是所有数字之和（解密）。</a:t>
                </a:r>
                <a:endParaRPr lang="en-US" sz="16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60399" y="4725777"/>
              <a:ext cx="10858500" cy="1408323"/>
              <a:chOff x="660399" y="1782553"/>
              <a:chExt cx="10858500" cy="1408323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5165EC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数学表达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其核心是加法同态性质：Enc(a) + Enc(b) = Enc(a + b)。这使得在不接触明文的情况下进行统计计算成为可能。</a:t>
                </a:r>
                <a:endParaRPr lang="en-US" sz="16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核心思想：同态加密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a87c558-77a2-4771-a219-52a8175e6186"/>
          <p:cNvGrpSpPr/>
          <p:nvPr/>
        </p:nvGrpSpPr>
        <p:grpSpPr>
          <a:xfrm rot="0">
            <a:off x="660400" y="1317063"/>
            <a:ext cx="8350250" cy="4817037"/>
            <a:chOff x="660400" y="1317063"/>
            <a:chExt cx="8350250" cy="4817037"/>
          </a:xfrm>
        </p:grpSpPr>
        <p:sp>
          <p:nvSpPr>
            <p:cNvPr id="3" name="AutoShape 3"/>
            <p:cNvSpPr/>
            <p:nvPr/>
          </p:nvSpPr>
          <p:spPr>
            <a:xfrm>
              <a:off x="2875141" y="1317063"/>
              <a:ext cx="6135509" cy="0"/>
            </a:xfrm>
            <a:prstGeom prst="line">
              <a:avLst/>
            </a:prstGeom>
            <a:ln w="12700">
              <a:solidFill>
                <a:srgbClr val="5165E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V="1">
              <a:off x="2676602" y="1317063"/>
              <a:ext cx="198539" cy="209225"/>
            </a:xfrm>
            <a:prstGeom prst="line">
              <a:avLst/>
            </a:prstGeom>
            <a:ln w="12700">
              <a:solidFill>
                <a:srgbClr val="5165E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816448" y="1527929"/>
              <a:ext cx="1860154" cy="0"/>
            </a:xfrm>
            <a:prstGeom prst="line">
              <a:avLst/>
            </a:prstGeom>
            <a:ln w="12700">
              <a:solidFill>
                <a:srgbClr val="5165E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60400" y="1449905"/>
              <a:ext cx="156048" cy="156048"/>
            </a:xfrm>
            <a:prstGeom prst="rect">
              <a:avLst/>
            </a:prstGeom>
            <a:solidFill>
              <a:srgbClr val="5165EC">
                <a:alpha val="10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 rot="0">
              <a:off x="660400" y="1792083"/>
              <a:ext cx="8118474" cy="1352662"/>
              <a:chOff x="660400" y="1792083"/>
              <a:chExt cx="8118474" cy="135266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074320" y="2226095"/>
                <a:ext cx="7704554" cy="9186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对于n位候选人，我们将选票编码为一个n维向量。选择第i位候选人，则向量的第i个元素为1，其余元素为0。例如，选择候选人A编码为[1,0,0]。</a:t>
                </a:r>
                <a:endParaRPr lang="en-US" sz="16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74320" y="1792083"/>
                <a:ext cx="7704554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One-Hot编码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0400" y="1792083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5165E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660400" y="3286761"/>
              <a:ext cx="8118474" cy="1352661"/>
              <a:chOff x="660400" y="3286761"/>
              <a:chExt cx="8118474" cy="135266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074320" y="3720772"/>
                <a:ext cx="7704554" cy="9186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One-Hot编码与同态加法天然契合。将多张选票的加密向量进行同态加法，结果向量的每个元素值即为对应候选人的得票数。</a:t>
                </a:r>
                <a:endParaRPr lang="en-US" sz="16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74320" y="3286761"/>
                <a:ext cx="7704554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编码的优势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60400" y="3286761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5165E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660400" y="4781438"/>
              <a:ext cx="8118474" cy="1352662"/>
              <a:chOff x="660400" y="4781438"/>
              <a:chExt cx="8118474" cy="1352662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074320" y="5215450"/>
                <a:ext cx="7704554" cy="9186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在这种编码下，加密后的选票向量完全不透露任何关于候选人选择的信息，只有在最终解密总和时，票数结果才显现出来。</a:t>
                </a:r>
                <a:endParaRPr lang="en-US" sz="16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74320" y="4781438"/>
                <a:ext cx="7704554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隐私保护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0400" y="4781438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5165E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选票编码方案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2142429"/>
            <a:ext cx="10858500" cy="177503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协议设计与实现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399" y="3929319"/>
            <a:ext cx="10858500" cy="6934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详细描述完整的投票协议流程，并分析其如何保障安全性，包括隐私、正确性和抗量子攻击。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23f6b8e-1c35-4ec8-a137-f4f64c05d7d8"/>
          <p:cNvGrpSpPr/>
          <p:nvPr/>
        </p:nvGrpSpPr>
        <p:grpSpPr>
          <a:xfrm rot="0">
            <a:off x="660399" y="1130304"/>
            <a:ext cx="10858501" cy="5003796"/>
            <a:chOff x="660399" y="1130304"/>
            <a:chExt cx="10858501" cy="5003796"/>
          </a:xfrm>
        </p:grpSpPr>
        <p:sp>
          <p:nvSpPr>
            <p:cNvPr id="3" name="AutoShape 3"/>
            <p:cNvSpPr/>
            <p:nvPr/>
          </p:nvSpPr>
          <p:spPr>
            <a:xfrm>
              <a:off x="1787076" y="3346423"/>
              <a:ext cx="2632524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915441" y="3346423"/>
              <a:ext cx="2343596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741405" y="3346423"/>
              <a:ext cx="2650819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399" y="1130304"/>
              <a:ext cx="10858500" cy="137226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分步骤展示从系统初始化到结果公布的端到端投票流程。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60400" y="3105239"/>
              <a:ext cx="2405752" cy="3028861"/>
              <a:chOff x="402360" y="3105239"/>
              <a:chExt cx="2405752" cy="302886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349069" y="3105239"/>
                <a:ext cx="482368" cy="482368"/>
              </a:xfrm>
              <a:prstGeom prst="roundRect">
                <a:avLst/>
              </a:prstGeom>
              <a:solidFill>
                <a:srgbClr val="5165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02360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系统初始化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02360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生成基于格的加密密钥对（公钥和私钥）。公钥公开用于加密选票，私钥由多个受托人分片保管，防止单点故障。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3477983" y="3105239"/>
              <a:ext cx="2405752" cy="3028861"/>
              <a:chOff x="2643678" y="3105239"/>
              <a:chExt cx="2405752" cy="3028861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598768" y="3105239"/>
                <a:ext cx="482368" cy="482368"/>
              </a:xfrm>
              <a:prstGeom prst="roundRect">
                <a:avLst/>
              </a:prstGeom>
              <a:solidFill>
                <a:srgbClr val="5165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43678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选民投票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43678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选民选择候选人后，系统将其选择One-Hot编码并用公钥加密。随后，选民用自己的私钥对选票签名，并生成一个零知识证明，证明自己投的是有效选票。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295566" y="3105239"/>
              <a:ext cx="2405752" cy="3028861"/>
              <a:chOff x="4884996" y="3105239"/>
              <a:chExt cx="2405752" cy="302886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848467" y="3105239"/>
                <a:ext cx="482368" cy="482368"/>
              </a:xfrm>
              <a:prstGeom prst="roundRect">
                <a:avLst/>
              </a:prstGeom>
              <a:solidFill>
                <a:srgbClr val="5165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884996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同态计票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884996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计票中心收集所有加密选票，验证签名和零知识证明后，对所有有效选票进行同态加法，得到一个加密的总票数。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9113148" y="3105239"/>
              <a:ext cx="2405752" cy="3028861"/>
              <a:chOff x="7126314" y="3105239"/>
              <a:chExt cx="2405752" cy="3028861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098164" y="3105239"/>
                <a:ext cx="482368" cy="482368"/>
              </a:xfrm>
              <a:prstGeom prst="roundRect">
                <a:avLst/>
              </a:prstGeom>
              <a:solidFill>
                <a:srgbClr val="5165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126314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结果解密与公布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26314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多个受托人联合使用自己的私钥分片，共同对加密的总票数进行解密，得到各候选人的最终得票并向公众公布。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完整投票协议流程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e4c110d-b764-454b-9018-a5263d72a717"/>
          <p:cNvGrpSpPr/>
          <p:nvPr/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从隐私保护、正确性和可验证性三个方面分析协议的安全性。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4378325" y="1695450"/>
              <a:ext cx="3422650" cy="14605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0400" y="2082800"/>
              <a:ext cx="10858500" cy="171196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60400" y="2428261"/>
              <a:ext cx="3338672" cy="3705839"/>
              <a:chOff x="185578" y="2428261"/>
              <a:chExt cx="3338672" cy="370583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隐私保护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选票从始至终处于加密状态，只有公钥可加密，私钥分片保管。同态计票过程无需解密任何单张选票，确保了选民隐私。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420314" y="2428261"/>
              <a:ext cx="3338672" cy="3705839"/>
              <a:chOff x="185578" y="2428261"/>
              <a:chExt cx="3338672" cy="370583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正确性与可验证性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数字签名防止伪造选票；零知识证明确保选票格式正确；同态运算的数学性质保证了计票的正确性。公开透明的流程允许任何人验证计票过程和结果，确保其可审计、可重现。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180228" y="2428261"/>
              <a:ext cx="3338672" cy="3705839"/>
              <a:chOff x="185578" y="2428261"/>
              <a:chExt cx="3338672" cy="370583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防作弊机制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签名的唯一性防止重复投票；签名验证防止篡改选票；公开可验证的特性防止恶意计票。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安全性分析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348004e-54f1-4031-a734-3b6d6801ea33"/>
          <p:cNvGrpSpPr/>
          <p:nvPr/>
        </p:nvGrpSpPr>
        <p:grpSpPr>
          <a:xfrm rot="0"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解释为什么本方案能够抵御未来量子计算机的攻击。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6692900"/>
              <a:ext cx="12192000" cy="165100"/>
            </a:xfrm>
            <a:custGeom>
              <a:avLst/>
              <a:gdLst/>
              <a:ahLst/>
              <a:cxnLst/>
              <a:rect l="l" t="t" r="r" b="b"/>
              <a:pathLst>
                <a:path w="12192000" h="165100">
                  <a:moveTo>
                    <a:pt x="0" y="0"/>
                  </a:moveTo>
                  <a:lnTo>
                    <a:pt x="12192000" y="0"/>
                  </a:lnTo>
                  <a:lnTo>
                    <a:pt x="12192000" y="165100"/>
                  </a:lnTo>
                  <a:lnTo>
                    <a:pt x="0" y="165100"/>
                  </a:lnTo>
                  <a:close/>
                </a:path>
              </a:pathLst>
            </a:custGeom>
            <a:solidFill>
              <a:srgbClr val="5165EC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60400" y="2608544"/>
              <a:ext cx="3223429" cy="3316233"/>
              <a:chOff x="660400" y="2608544"/>
              <a:chExt cx="3223429" cy="3316233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400" y="3338795"/>
                <a:ext cx="3223429" cy="5222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传统密码的脆弱性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0" y="3861039"/>
                <a:ext cx="3223429" cy="20637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目前广泛使用的RSA和ECC等密码体制，其安全性基于大数分解或离散对数等数论难题，而Shor算法可在量子计算机上高效破解这些难题。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0" y="2608544"/>
                <a:ext cx="3223429" cy="7302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5165E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477935" y="2608544"/>
              <a:ext cx="3223429" cy="3316233"/>
              <a:chOff x="4477935" y="2608544"/>
              <a:chExt cx="3223429" cy="3316233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4477935" y="3338795"/>
                <a:ext cx="3223429" cy="5222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格密码的优势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477935" y="3861039"/>
                <a:ext cx="3223429" cy="20637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格密码基于LWE（带误差学习）问题，这是一个被认为在量子计算机下也难以有效解决的困难问题，因此被视为后量子密码学的有力候选。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77935" y="2608544"/>
                <a:ext cx="3223429" cy="7302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5165E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02.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8295471" y="2608544"/>
              <a:ext cx="3223429" cy="3316233"/>
              <a:chOff x="8295471" y="2608544"/>
              <a:chExt cx="3223429" cy="331623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8295471" y="3338795"/>
                <a:ext cx="3223429" cy="5222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方案的安全性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295471" y="3861039"/>
                <a:ext cx="3223429" cy="20637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我们采用的BFV同态加密方案正是基于格密码构建。其安全性归约到格上困难问题，因此即使面对未来的量子计算机，本投票协议依然是安全的。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95471" y="2608544"/>
                <a:ext cx="3223429" cy="7302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5165E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03.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后量子安全性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2142429"/>
            <a:ext cx="10858500" cy="177503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总结与致谢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399" y="3929319"/>
            <a:ext cx="10858500" cy="6934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总结项目核心贡献，规划后续工作方向，并感谢听众。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f55749d-58bc-43fa-9c5e-7c2ac3c9bf15"/>
          <p:cNvGrpSpPr/>
          <p:nvPr/>
        </p:nvGrpSpPr>
        <p:grpSpPr>
          <a:xfrm rot="0">
            <a:off x="660400" y="1159328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54941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简要介绍系统的技术栈和核心功能。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60400" y="3478971"/>
              <a:ext cx="10858500" cy="0"/>
            </a:xfrm>
            <a:prstGeom prst="line">
              <a:avLst/>
            </a:prstGeom>
            <a:ln w="12700">
              <a:solidFill>
                <a:srgbClr val="3436A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1322025" y="1959942"/>
              <a:ext cx="3929244" cy="4174158"/>
              <a:chOff x="1322025" y="1959942"/>
              <a:chExt cx="3929244" cy="4174158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322025" y="3759201"/>
                <a:ext cx="3929244" cy="71329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技术栈选型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322025" y="4472492"/>
                <a:ext cx="3929244" cy="166160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后端使用Python语言，同态加密核心算法通过集成TenSEAL库实现。前端采用Streamlit框架快速构建Web交互界面，方便演示。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22025" y="1959942"/>
                <a:ext cx="3929244" cy="1311651"/>
              </a:xfrm>
              <a:prstGeom prst="roundRect">
                <a:avLst/>
              </a:prstGeom>
              <a:solidFill>
                <a:srgbClr val="5165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928031" y="1959942"/>
              <a:ext cx="3929244" cy="4174158"/>
              <a:chOff x="6928031" y="1959942"/>
              <a:chExt cx="3929244" cy="417415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928031" y="3759201"/>
                <a:ext cx="3929244" cy="71329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核心功能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928031" y="4472492"/>
                <a:ext cx="3929244" cy="166160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系统实现了完整的账户管理、投票、计票和结果查看功能，支持多候选人选举，并集成了签名和零知识证明机制。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928031" y="1959942"/>
                <a:ext cx="3929244" cy="1311651"/>
              </a:xfrm>
              <a:prstGeom prst="roundRect">
                <a:avLst/>
              </a:prstGeom>
              <a:solidFill>
                <a:srgbClr val="5165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系统实现简介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109db50-407d-4248-9301-5a70e5ea2762"/>
          <p:cNvGrpSpPr/>
          <p:nvPr/>
        </p:nvGrpSpPr>
        <p:grpSpPr>
          <a:xfrm rot="0"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3" name="AutoShape 3"/>
            <p:cNvSpPr/>
            <p:nvPr/>
          </p:nvSpPr>
          <p:spPr>
            <a:xfrm>
              <a:off x="660400" y="2996141"/>
              <a:ext cx="10858500" cy="261690"/>
            </a:xfrm>
            <a:prstGeom prst="homePlate">
              <a:avLst>
                <a:gd name="adj" fmla="val 50000"/>
              </a:avLst>
            </a:prstGeom>
            <a:solidFill>
              <a:srgbClr val="778495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122786" y="3126986"/>
              <a:ext cx="362310" cy="0"/>
            </a:xfrm>
            <a:prstGeom prst="straightConnector1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ysDash"/>
              <a:headEnd type="none"/>
              <a:tailEnd type="triangl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930991" y="3126986"/>
              <a:ext cx="362310" cy="0"/>
            </a:xfrm>
            <a:prstGeom prst="straightConnector1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ysDash"/>
              <a:headEnd type="none"/>
              <a:tailEnd type="triangl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400" y="1130301"/>
              <a:ext cx="10858500" cy="108487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回顾项目成果并展望未来，感谢各位的聆听。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60400" y="2584366"/>
              <a:ext cx="3480905" cy="3549734"/>
              <a:chOff x="660400" y="2584366"/>
              <a:chExt cx="3480905" cy="3549734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858233" y="2584366"/>
                <a:ext cx="1085240" cy="1085240"/>
              </a:xfrm>
              <a:prstGeom prst="ellipse">
                <a:avLst/>
              </a:prstGeom>
              <a:gradFill>
                <a:gsLst>
                  <a:gs pos="0">
                    <a:srgbClr val="5165EC">
                      <a:alpha val="100000"/>
                    </a:srgbClr>
                  </a:gs>
                  <a:gs pos="77999">
                    <a:srgbClr val="9D56D9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3800451"/>
                <a:ext cx="3480905" cy="8030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核心贡献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4603470"/>
                <a:ext cx="3480905" cy="15306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设计并实现了一个基于格密码的同态加密投票协议，实现了选票全程加密、结果正确可验，并具备后量子安全性。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349200" y="2584366"/>
              <a:ext cx="3480905" cy="3549734"/>
              <a:chOff x="4349200" y="2584366"/>
              <a:chExt cx="3480905" cy="3549734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5547030" y="2584366"/>
                <a:ext cx="1085240" cy="1085240"/>
              </a:xfrm>
              <a:prstGeom prst="ellipse">
                <a:avLst/>
              </a:prstGeom>
              <a:gradFill>
                <a:gsLst>
                  <a:gs pos="0">
                    <a:srgbClr val="5165EC">
                      <a:alpha val="100000"/>
                    </a:srgbClr>
                  </a:gs>
                  <a:gs pos="77999">
                    <a:srgbClr val="9D56D9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349200" y="3800451"/>
                <a:ext cx="3480905" cy="8030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后续工作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49200" y="4603470"/>
                <a:ext cx="3480905" cy="15306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计划进一步完善零知识证明协议，增强隐私保护；研究并实现分布式密钥管理方案，提升系统抗攻击能力；对系统进行性能优化，以支持更大规模的选举。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037995" y="2584366"/>
              <a:ext cx="3480905" cy="3549734"/>
              <a:chOff x="8037995" y="2584366"/>
              <a:chExt cx="3480905" cy="3549734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235827" y="2584366"/>
                <a:ext cx="1085240" cy="1085240"/>
              </a:xfrm>
              <a:prstGeom prst="ellipse">
                <a:avLst/>
              </a:prstGeom>
              <a:gradFill>
                <a:gsLst>
                  <a:gs pos="0">
                    <a:srgbClr val="5165EC">
                      <a:alpha val="100000"/>
                    </a:srgbClr>
                  </a:gs>
                  <a:gs pos="77999">
                    <a:srgbClr val="9D56D9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37995" y="3800451"/>
                <a:ext cx="3480905" cy="8030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感谢聆听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37995" y="4603470"/>
                <a:ext cx="3480905" cy="15306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感谢各位老师和同学的宝贵时间！我的汇报到此结束，欢迎提问与交流。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总结与致谢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2" y="1130300"/>
            <a:ext cx="10858498" cy="2400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0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3817199"/>
            <a:ext cx="10858498" cy="368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刘永瑞</a:t>
            </a:r>
            <a:endParaRPr lang="zh-CN" altLang="en-US" sz="1600" b="0" i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2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3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4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5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6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7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8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9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10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11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12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13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14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15.xml><?xml version="1.0" encoding="utf-8"?>
<p:tagLst xmlns:p="http://schemas.openxmlformats.org/presentationml/2006/main">
  <p:tag name="KSO_WM_DIAGRAM_VIRTUALLY_FRAME" val="{&quot;height&quot;:403.99984251968505,&quot;left&quot;:51.09393700787395,&quot;top&quot;:89.00015748031495,&quot;width&quot;:855.9059842519686}"/>
</p:tagLst>
</file>

<file path=ppt/tags/tag16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17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18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19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20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21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22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23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24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25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26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27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28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heme/theme1.xml><?xml version="1.0" encoding="utf-8"?>
<a:theme xmlns:a="http://schemas.openxmlformats.org/drawingml/2006/main" name="2a72c9c4-be09-44b2-9b8b-4e5fff39093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2343</Words>
  <Application>WPS 演示</Application>
  <PresentationFormat>On-screen Show (4:3)</PresentationFormat>
  <Paragraphs>249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2a72c9c4-be09-44b2-9b8b-4e5fff390935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刘永瑞</cp:lastModifiedBy>
  <cp:revision>8</cp:revision>
  <dcterms:created xsi:type="dcterms:W3CDTF">2006-08-16T00:00:00Z</dcterms:created>
  <dcterms:modified xsi:type="dcterms:W3CDTF">2026-04-12T06:32:17Z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87DEE0D908654E39ACDB49642548163E_12</vt:lpwstr>
  </property>
  <property fmtid="{D5CDD505-2E9C-101B-9397-08002B2CF9AE}" pid="3" name="KSOProductBuildVer">
    <vt:lpwstr>2052-12.1.0.24034</vt:lpwstr>
  </property>
</Properties>
</file>