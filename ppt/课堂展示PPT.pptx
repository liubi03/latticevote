
<file path=[Content_Types].xml><?xml version="1.0" encoding="utf-8"?>
<Types xmlns="http://schemas.openxmlformats.org/package/2006/content-types">
  <Default Extension="jpeg" ContentType="image/jpeg"/>
  <Default Extension="JPG" ContentType="image/.jpg"/>
  <Default Extension="vml" ContentType="application/vnd.openxmlformats-officedocument.vmlDrawing"/>
  <Default Extension="bin" ContentType="application/vnd.openxmlformats-officedocument.oleObject"/>
  <Default Extension="png" ContentType="image/png"/>
  <Default Extension="wmf" ContentType="image/x-wmf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fonts/font1.fntdata" ContentType="application/x-fontdata"/>
  <Override PartName="/ppt/fonts/font10.fntdata" ContentType="application/x-fontdata"/>
  <Override PartName="/ppt/fonts/font2.fntdata" ContentType="application/x-fontdata"/>
  <Override PartName="/ppt/fonts/font3.fntdata" ContentType="application/x-fontdata"/>
  <Override PartName="/ppt/fonts/font4.fntdata" ContentType="application/x-fontdata"/>
  <Override PartName="/ppt/fonts/font5.fntdata" ContentType="application/x-fontdata"/>
  <Override PartName="/ppt/fonts/font6.fntdata" ContentType="application/x-fontdata"/>
  <Override PartName="/ppt/fonts/font7.fntdata" ContentType="application/x-fontdata"/>
  <Override PartName="/ppt/fonts/font8.fntdata" ContentType="application/x-fontdata"/>
  <Override PartName="/ppt/fonts/font9.fntdata" ContentType="application/x-fontdata"/>
  <Override PartName="/ppt/handoutMasters/handoutMaster1.xml" ContentType="application/vnd.openxmlformats-officedocument.presentationml.handoutMaster+xml"/>
  <Override PartName="/ppt/media/image10.svg" ContentType="image/svg+xml"/>
  <Override PartName="/ppt/media/image12.svg" ContentType="image/svg+xml"/>
  <Override PartName="/ppt/media/image16.svg" ContentType="image/svg+xml"/>
  <Override PartName="/ppt/media/image2.svg" ContentType="image/svg+xml"/>
  <Override PartName="/ppt/media/image27.svg" ContentType="image/svg+xml"/>
  <Override PartName="/ppt/media/image4.svg" ContentType="image/svg+xml"/>
  <Override PartName="/ppt/media/image6.svg" ContentType="image/svg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tags/tag7.xml" ContentType="application/vnd.openxmlformats-officedocument.presentationml.tags+xml"/>
  <Override PartName="/ppt/tags/tag70.xml" ContentType="application/vnd.openxmlformats-officedocument.presentationml.tags+xml"/>
  <Override PartName="/ppt/tags/tag71.xml" ContentType="application/vnd.openxmlformats-officedocument.presentationml.tags+xml"/>
  <Override PartName="/ppt/tags/tag72.xml" ContentType="application/vnd.openxmlformats-officedocument.presentationml.tags+xml"/>
  <Override PartName="/ppt/tags/tag73.xml" ContentType="application/vnd.openxmlformats-officedocument.presentationml.tags+xml"/>
  <Override PartName="/ppt/tags/tag74.xml" ContentType="application/vnd.openxmlformats-officedocument.presentationml.tags+xml"/>
  <Override PartName="/ppt/tags/tag75.xml" ContentType="application/vnd.openxmlformats-officedocument.presentationml.tags+xml"/>
  <Override PartName="/ppt/tags/tag76.xml" ContentType="application/vnd.openxmlformats-officedocument.presentationml.tags+xml"/>
  <Override PartName="/ppt/tags/tag77.xml" ContentType="application/vnd.openxmlformats-officedocument.presentationml.tags+xml"/>
  <Override PartName="/ppt/tags/tag78.xml" ContentType="application/vnd.openxmlformats-officedocument.presentationml.tags+xml"/>
  <Override PartName="/ppt/tags/tag79.xml" ContentType="application/vnd.openxmlformats-officedocument.presentationml.tags+xml"/>
  <Override PartName="/ppt/tags/tag8.xml" ContentType="application/vnd.openxmlformats-officedocument.presentationml.tags+xml"/>
  <Override PartName="/ppt/tags/tag80.xml" ContentType="application/vnd.openxmlformats-officedocument.presentationml.tags+xml"/>
  <Override PartName="/ppt/tags/tag81.xml" ContentType="application/vnd.openxmlformats-officedocument.presentationml.tags+xml"/>
  <Override PartName="/ppt/tags/tag82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notesMasterIdLst>
    <p:notesMasterId r:id="rId4"/>
  </p:notesMasterIdLst>
  <p:handoutMasterIdLst>
    <p:handoutMasterId r:id="rId19"/>
  </p:handoutMasterIdLst>
  <p:sldIdLst>
    <p:sldId id="256" r:id="rId3"/>
    <p:sldId id="257" r:id="rId5"/>
    <p:sldId id="258" r:id="rId6"/>
    <p:sldId id="266" r:id="rId7"/>
    <p:sldId id="267" r:id="rId8"/>
    <p:sldId id="271" r:id="rId9"/>
    <p:sldId id="272" r:id="rId10"/>
    <p:sldId id="273" r:id="rId11"/>
    <p:sldId id="268" r:id="rId12"/>
    <p:sldId id="262" r:id="rId13"/>
    <p:sldId id="275" r:id="rId14"/>
    <p:sldId id="260" r:id="rId15"/>
    <p:sldId id="269" r:id="rId16"/>
    <p:sldId id="264" r:id="rId17"/>
    <p:sldId id="265" r:id="rId18"/>
  </p:sldIdLst>
  <p:sldSz cx="18288000" cy="10287000"/>
  <p:notesSz cx="6858000" cy="9144000"/>
  <p:embeddedFontLst>
    <p:embeddedFont>
      <p:font typeface="方正大黑体_GBK" panose="02010600010101010101" charset="-122"/>
      <p:regular r:id="rId23"/>
    </p:embeddedFont>
    <p:embeddedFont>
      <p:font typeface="华文中宋" panose="02010600040101010101" charset="-122"/>
      <p:regular r:id="rId24"/>
    </p:embeddedFont>
    <p:embeddedFont>
      <p:font typeface="Chakra Petch" panose="00000500000000000000"/>
      <p:regular r:id="rId25"/>
    </p:embeddedFont>
    <p:embeddedFont>
      <p:font typeface="Chakra Petch Bold" panose="00000800000000000000"/>
      <p:bold r:id="rId26"/>
    </p:embeddedFont>
    <p:embeddedFont>
      <p:font typeface="清雅黑体" panose="00000500000000000000" charset="-122"/>
      <p:regular r:id="rId27"/>
    </p:embeddedFont>
    <p:embeddedFont>
      <p:font typeface="Calibri" panose="020F0502020204030204" charset="0"/>
      <p:regular r:id="rId28"/>
      <p:bold r:id="rId29"/>
      <p:italic r:id="rId30"/>
      <p:boldItalic r:id="rId31"/>
    </p:embeddedFont>
    <p:embeddedFont>
      <p:font typeface="黑体" panose="02010609060101010101" charset="-122"/>
      <p:regular r:id="rId32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70" userDrawn="1">
          <p15:clr>
            <a:srgbClr val="A4A3A4"/>
          </p15:clr>
        </p15:guide>
        <p15:guide id="2" pos="2857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41624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 showGuides="1">
      <p:cViewPr>
        <p:scale>
          <a:sx n="50" d="100"/>
          <a:sy n="50" d="100"/>
        </p:scale>
        <p:origin x="3534" y="1812"/>
      </p:cViewPr>
      <p:guideLst>
        <p:guide orient="horz" pos="2170"/>
        <p:guide pos="2857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2" Type="http://schemas.openxmlformats.org/officeDocument/2006/relationships/font" Target="fonts/font10.fntdata"/><Relationship Id="rId31" Type="http://schemas.openxmlformats.org/officeDocument/2006/relationships/font" Target="fonts/font9.fntdata"/><Relationship Id="rId30" Type="http://schemas.openxmlformats.org/officeDocument/2006/relationships/font" Target="fonts/font8.fntdata"/><Relationship Id="rId3" Type="http://schemas.openxmlformats.org/officeDocument/2006/relationships/slide" Target="slides/slide1.xml"/><Relationship Id="rId29" Type="http://schemas.openxmlformats.org/officeDocument/2006/relationships/font" Target="fonts/font7.fntdata"/><Relationship Id="rId28" Type="http://schemas.openxmlformats.org/officeDocument/2006/relationships/font" Target="fonts/font6.fntdata"/><Relationship Id="rId27" Type="http://schemas.openxmlformats.org/officeDocument/2006/relationships/font" Target="fonts/font5.fntdata"/><Relationship Id="rId26" Type="http://schemas.openxmlformats.org/officeDocument/2006/relationships/font" Target="fonts/font4.fntdata"/><Relationship Id="rId25" Type="http://schemas.openxmlformats.org/officeDocument/2006/relationships/font" Target="fonts/font3.fntdata"/><Relationship Id="rId24" Type="http://schemas.openxmlformats.org/officeDocument/2006/relationships/font" Target="fonts/font2.fntdata"/><Relationship Id="rId23" Type="http://schemas.openxmlformats.org/officeDocument/2006/relationships/font" Target="fonts/font1.fntdata"/><Relationship Id="rId22" Type="http://schemas.openxmlformats.org/officeDocument/2006/relationships/tableStyles" Target="tableStyles.xml"/><Relationship Id="rId21" Type="http://schemas.openxmlformats.org/officeDocument/2006/relationships/viewProps" Target="viewProps.xml"/><Relationship Id="rId20" Type="http://schemas.openxmlformats.org/officeDocument/2006/relationships/presProps" Target="presProps.xml"/><Relationship Id="rId2" Type="http://schemas.openxmlformats.org/officeDocument/2006/relationships/theme" Target="theme/theme1.xml"/><Relationship Id="rId19" Type="http://schemas.openxmlformats.org/officeDocument/2006/relationships/handoutMaster" Target="handoutMasters/handoutMaster1.xml"/><Relationship Id="rId18" Type="http://schemas.openxmlformats.org/officeDocument/2006/relationships/slide" Target="slides/slide15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22.wmf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9B84EA-7D68-4D60-9CB1-D50884785D1C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D4E0FC9-F1F8-4FAE-9988-3BA365CFD46F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2A48B96-639E-45A3-A0BA-2464DFDB1FAA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6837353-30EB-4A48-80EB-173D804AEFBD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r>
              <a:rPr lang="zh-CN" altLang="en-US"/>
              <a:t>老师同学们大家好，今天我要汇报的是一篇论文，基于</a:t>
            </a:r>
            <a:r>
              <a:rPr lang="en-US" altLang="zh-CN"/>
              <a:t>LWE</a:t>
            </a:r>
            <a:r>
              <a:rPr lang="zh-CN" altLang="en-US"/>
              <a:t>全同态假面的和后量子电子投票协议。我汇报的主要内容是对协议的理解。同时，基于这个协议，实现了一个简单的投票平台</a:t>
            </a:r>
            <a:r>
              <a:rPr lang="en-US" altLang="zh-CN"/>
              <a:t>demo</a:t>
            </a:r>
            <a:r>
              <a:rPr lang="zh-CN" altLang="en-US"/>
              <a:t>。</a:t>
            </a:r>
            <a:endParaRPr lang="zh-CN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r>
              <a:rPr lang="zh-CN" altLang="en-US"/>
              <a:t>本次汇报分成下面几部分</a:t>
            </a:r>
            <a:r>
              <a:rPr lang="zh-CN" altLang="en-US"/>
              <a:t>进行：</a:t>
            </a:r>
            <a:endParaRPr lang="zh-CN" altLang="en-US"/>
          </a:p>
          <a:p>
            <a:r>
              <a:rPr lang="zh-CN" altLang="en-US"/>
              <a:t>第一部分是论文</a:t>
            </a:r>
            <a:r>
              <a:rPr lang="zh-CN" altLang="en-US"/>
              <a:t>简介，</a:t>
            </a:r>
            <a:endParaRPr lang="zh-CN" altLang="en-US"/>
          </a:p>
          <a:p>
            <a:r>
              <a:rPr lang="zh-CN" altLang="en-US"/>
              <a:t>第二部分是前置</a:t>
            </a:r>
            <a:r>
              <a:rPr lang="zh-CN" altLang="en-US"/>
              <a:t>知识，</a:t>
            </a:r>
            <a:endParaRPr lang="zh-CN" altLang="en-US"/>
          </a:p>
          <a:p>
            <a:r>
              <a:rPr lang="zh-CN" altLang="en-US"/>
              <a:t>第三部分是协议</a:t>
            </a:r>
            <a:r>
              <a:rPr lang="zh-CN" altLang="en-US"/>
              <a:t>介绍，</a:t>
            </a:r>
            <a:endParaRPr lang="zh-CN" altLang="en-US"/>
          </a:p>
          <a:p>
            <a:r>
              <a:rPr lang="zh-CN" altLang="en-US"/>
              <a:t>第四部分是投票平台</a:t>
            </a:r>
            <a:r>
              <a:rPr lang="zh-CN" altLang="en-US"/>
              <a:t>演示</a:t>
            </a:r>
            <a:endParaRPr lang="zh-CN" alt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r>
              <a:rPr lang="zh-CN" altLang="en-US"/>
              <a:t>首先我们来看第一部分，论文</a:t>
            </a:r>
            <a:r>
              <a:rPr lang="zh-CN" altLang="en-US"/>
              <a:t>简介</a:t>
            </a:r>
            <a:endParaRPr lang="zh-CN" alt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r>
              <a:rPr lang="zh-CN" altLang="en-US"/>
              <a:t>论文发表自</a:t>
            </a:r>
            <a:r>
              <a:rPr lang="zh-CN" altLang="en-US">
                <a:solidFill>
                  <a:srgbClr val="343333"/>
                </a:solidFill>
                <a:ea typeface="清雅黑体" panose="00000500000000000000" charset="-122"/>
                <a:sym typeface="+mn-ea"/>
              </a:rPr>
              <a:t>第七届国际后量子密码学研讨会。该会议是中国密码学会推荐的</a:t>
            </a:r>
            <a:r>
              <a:rPr lang="en-US" altLang="zh-CN">
                <a:solidFill>
                  <a:srgbClr val="343333"/>
                </a:solidFill>
                <a:ea typeface="清雅黑体" panose="00000500000000000000" charset="-122"/>
                <a:sym typeface="+mn-ea"/>
              </a:rPr>
              <a:t>B</a:t>
            </a:r>
            <a:r>
              <a:rPr lang="zh-CN" altLang="en-US">
                <a:solidFill>
                  <a:srgbClr val="343333"/>
                </a:solidFill>
                <a:ea typeface="清雅黑体" panose="00000500000000000000" charset="-122"/>
                <a:sym typeface="+mn-ea"/>
              </a:rPr>
              <a:t>级会议。论文的作者来自学术界、国家级研究实验室和工业界的资源，专业背景丰富。第一作者伊拉里亚</a:t>
            </a:r>
            <a:r>
              <a:rPr lang="en-US" altLang="zh-CN">
                <a:solidFill>
                  <a:srgbClr val="343333"/>
                </a:solidFill>
                <a:ea typeface="清雅黑体" panose="00000500000000000000" charset="-122"/>
                <a:sym typeface="+mn-ea"/>
              </a:rPr>
              <a:t>·</a:t>
            </a:r>
            <a:r>
              <a:rPr lang="zh-CN" altLang="en-US">
                <a:solidFill>
                  <a:srgbClr val="343333"/>
                </a:solidFill>
                <a:ea typeface="清雅黑体" panose="00000500000000000000" charset="-122"/>
                <a:sym typeface="+mn-ea"/>
              </a:rPr>
              <a:t>奇洛蒂是密码学研究员，全同态加密是她的</a:t>
            </a:r>
            <a:r>
              <a:rPr lang="zh-CN" altLang="en-US">
                <a:solidFill>
                  <a:srgbClr val="343333"/>
                </a:solidFill>
                <a:ea typeface="清雅黑体" panose="00000500000000000000" charset="-122"/>
                <a:sym typeface="+mn-ea"/>
              </a:rPr>
              <a:t>主要方向。</a:t>
            </a:r>
            <a:endParaRPr lang="zh-CN" altLang="en-US">
              <a:solidFill>
                <a:srgbClr val="343333"/>
              </a:solidFill>
              <a:ea typeface="清雅黑体" panose="00000500000000000000" charset="-122"/>
              <a:sym typeface="+mn-ea"/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r>
              <a:rPr lang="zh-CN" altLang="en-US"/>
              <a:t>第二部分是前置知识，主要介绍协议里面涉及到的与</a:t>
            </a:r>
            <a:r>
              <a:rPr lang="zh-CN" altLang="en-US"/>
              <a:t>后量子密码相关的</a:t>
            </a:r>
            <a:r>
              <a:rPr lang="zh-CN" altLang="en-US"/>
              <a:t>知识。</a:t>
            </a:r>
            <a:endParaRPr lang="zh-CN" alt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7.xml"/><Relationship Id="rId8" Type="http://schemas.openxmlformats.org/officeDocument/2006/relationships/image" Target="../media/image8.png"/><Relationship Id="rId7" Type="http://schemas.openxmlformats.org/officeDocument/2006/relationships/image" Target="../media/image7.png"/><Relationship Id="rId6" Type="http://schemas.openxmlformats.org/officeDocument/2006/relationships/image" Target="../media/image6.svg"/><Relationship Id="rId5" Type="http://schemas.openxmlformats.org/officeDocument/2006/relationships/image" Target="../media/image5.png"/><Relationship Id="rId4" Type="http://schemas.openxmlformats.org/officeDocument/2006/relationships/image" Target="../media/image4.svg"/><Relationship Id="rId3" Type="http://schemas.openxmlformats.org/officeDocument/2006/relationships/image" Target="../media/image3.png"/><Relationship Id="rId2" Type="http://schemas.openxmlformats.org/officeDocument/2006/relationships/image" Target="../media/image2.svg"/><Relationship Id="rId10" Type="http://schemas.openxmlformats.org/officeDocument/2006/relationships/notesSlide" Target="../notesSlides/notesSlide1.xml"/><Relationship Id="rId1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9" Type="http://schemas.openxmlformats.org/officeDocument/2006/relationships/tags" Target="../tags/tag7.xml"/><Relationship Id="rId8" Type="http://schemas.openxmlformats.org/officeDocument/2006/relationships/tags" Target="../tags/tag6.xml"/><Relationship Id="rId7" Type="http://schemas.openxmlformats.org/officeDocument/2006/relationships/tags" Target="../tags/tag5.xml"/><Relationship Id="rId6" Type="http://schemas.openxmlformats.org/officeDocument/2006/relationships/tags" Target="../tags/tag4.xml"/><Relationship Id="rId5" Type="http://schemas.openxmlformats.org/officeDocument/2006/relationships/tags" Target="../tags/tag3.xml"/><Relationship Id="rId4" Type="http://schemas.openxmlformats.org/officeDocument/2006/relationships/tags" Target="../tags/tag2.xml"/><Relationship Id="rId3" Type="http://schemas.openxmlformats.org/officeDocument/2006/relationships/tags" Target="../tags/tag1.xml"/><Relationship Id="rId2" Type="http://schemas.openxmlformats.org/officeDocument/2006/relationships/image" Target="../media/image10.svg"/><Relationship Id="rId18" Type="http://schemas.openxmlformats.org/officeDocument/2006/relationships/notesSlide" Target="../notesSlides/notesSlide2.xml"/><Relationship Id="rId17" Type="http://schemas.openxmlformats.org/officeDocument/2006/relationships/slideLayout" Target="../slideLayouts/slideLayout7.xml"/><Relationship Id="rId16" Type="http://schemas.openxmlformats.org/officeDocument/2006/relationships/image" Target="../media/image8.png"/><Relationship Id="rId15" Type="http://schemas.openxmlformats.org/officeDocument/2006/relationships/image" Target="../media/image7.png"/><Relationship Id="rId14" Type="http://schemas.openxmlformats.org/officeDocument/2006/relationships/tags" Target="../tags/tag12.xml"/><Relationship Id="rId13" Type="http://schemas.openxmlformats.org/officeDocument/2006/relationships/tags" Target="../tags/tag11.xml"/><Relationship Id="rId12" Type="http://schemas.openxmlformats.org/officeDocument/2006/relationships/tags" Target="../tags/tag10.xml"/><Relationship Id="rId11" Type="http://schemas.openxmlformats.org/officeDocument/2006/relationships/tags" Target="../tags/tag9.xml"/><Relationship Id="rId10" Type="http://schemas.openxmlformats.org/officeDocument/2006/relationships/tags" Target="../tags/tag8.xml"/><Relationship Id="rId1" Type="http://schemas.openxmlformats.org/officeDocument/2006/relationships/image" Target="../media/image9.png"/></Relationships>
</file>

<file path=ppt/slides/_rels/slide3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3.xml"/><Relationship Id="rId5" Type="http://schemas.openxmlformats.org/officeDocument/2006/relationships/slideLayout" Target="../slideLayouts/slideLayout7.xml"/><Relationship Id="rId4" Type="http://schemas.openxmlformats.org/officeDocument/2006/relationships/image" Target="../media/image7.png"/><Relationship Id="rId3" Type="http://schemas.openxmlformats.org/officeDocument/2006/relationships/image" Target="../media/image8.png"/><Relationship Id="rId2" Type="http://schemas.openxmlformats.org/officeDocument/2006/relationships/image" Target="../media/image10.svg"/><Relationship Id="rId1" Type="http://schemas.openxmlformats.org/officeDocument/2006/relationships/image" Target="../media/image9.png"/></Relationships>
</file>

<file path=ppt/slides/_rels/slide4.xml.rels><?xml version="1.0" encoding="UTF-8" standalone="yes"?>
<Relationships xmlns="http://schemas.openxmlformats.org/package/2006/relationships"><Relationship Id="rId9" Type="http://schemas.openxmlformats.org/officeDocument/2006/relationships/tags" Target="../tags/tag18.xml"/><Relationship Id="rId8" Type="http://schemas.openxmlformats.org/officeDocument/2006/relationships/tags" Target="../tags/tag17.xml"/><Relationship Id="rId7" Type="http://schemas.openxmlformats.org/officeDocument/2006/relationships/tags" Target="../tags/tag16.xml"/><Relationship Id="rId6" Type="http://schemas.openxmlformats.org/officeDocument/2006/relationships/tags" Target="../tags/tag15.xml"/><Relationship Id="rId5" Type="http://schemas.openxmlformats.org/officeDocument/2006/relationships/image" Target="../media/image13.jpeg"/><Relationship Id="rId4" Type="http://schemas.openxmlformats.org/officeDocument/2006/relationships/tags" Target="../tags/tag14.xml"/><Relationship Id="rId3" Type="http://schemas.openxmlformats.org/officeDocument/2006/relationships/tags" Target="../tags/tag13.xml"/><Relationship Id="rId2" Type="http://schemas.openxmlformats.org/officeDocument/2006/relationships/image" Target="../media/image12.svg"/><Relationship Id="rId15" Type="http://schemas.openxmlformats.org/officeDocument/2006/relationships/notesSlide" Target="../notesSlides/notesSlide4.xml"/><Relationship Id="rId14" Type="http://schemas.openxmlformats.org/officeDocument/2006/relationships/slideLayout" Target="../slideLayouts/slideLayout7.xml"/><Relationship Id="rId13" Type="http://schemas.openxmlformats.org/officeDocument/2006/relationships/image" Target="../media/image14.png"/><Relationship Id="rId12" Type="http://schemas.openxmlformats.org/officeDocument/2006/relationships/tags" Target="../tags/tag21.xml"/><Relationship Id="rId11" Type="http://schemas.openxmlformats.org/officeDocument/2006/relationships/tags" Target="../tags/tag20.xml"/><Relationship Id="rId10" Type="http://schemas.openxmlformats.org/officeDocument/2006/relationships/tags" Target="../tags/tag19.xml"/><Relationship Id="rId1" Type="http://schemas.openxmlformats.org/officeDocument/2006/relationships/image" Target="../media/image11.png"/></Relationships>
</file>

<file path=ppt/slides/_rels/slide5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5.xml"/><Relationship Id="rId5" Type="http://schemas.openxmlformats.org/officeDocument/2006/relationships/slideLayout" Target="../slideLayouts/slideLayout7.xml"/><Relationship Id="rId4" Type="http://schemas.openxmlformats.org/officeDocument/2006/relationships/image" Target="../media/image7.png"/><Relationship Id="rId3" Type="http://schemas.openxmlformats.org/officeDocument/2006/relationships/image" Target="../media/image8.png"/><Relationship Id="rId2" Type="http://schemas.openxmlformats.org/officeDocument/2006/relationships/image" Target="../media/image16.svg"/><Relationship Id="rId1" Type="http://schemas.openxmlformats.org/officeDocument/2006/relationships/image" Target="../media/image15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12.svg"/><Relationship Id="rId1" Type="http://schemas.openxmlformats.org/officeDocument/2006/relationships/image" Target="../media/image17.png"/></Relationships>
</file>

<file path=ppt/slides/_rels/slide7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7.xml"/><Relationship Id="rId4" Type="http://schemas.openxmlformats.org/officeDocument/2006/relationships/image" Target="../media/image20.png"/><Relationship Id="rId3" Type="http://schemas.openxmlformats.org/officeDocument/2006/relationships/image" Target="../media/image19.jpeg"/><Relationship Id="rId2" Type="http://schemas.openxmlformats.org/officeDocument/2006/relationships/image" Target="../media/image12.svg"/><Relationship Id="rId1" Type="http://schemas.openxmlformats.org/officeDocument/2006/relationships/image" Target="../media/image18.png"/></Relationships>
</file>

<file path=ppt/slides/_rels/slide8.xml.rels><?xml version="1.0" encoding="UTF-8" standalone="yes"?>
<Relationships xmlns="http://schemas.openxmlformats.org/package/2006/relationships"><Relationship Id="rId9" Type="http://schemas.openxmlformats.org/officeDocument/2006/relationships/tags" Target="../tags/tag28.xml"/><Relationship Id="rId8" Type="http://schemas.openxmlformats.org/officeDocument/2006/relationships/tags" Target="../tags/tag27.xml"/><Relationship Id="rId7" Type="http://schemas.openxmlformats.org/officeDocument/2006/relationships/tags" Target="../tags/tag26.xml"/><Relationship Id="rId6" Type="http://schemas.openxmlformats.org/officeDocument/2006/relationships/tags" Target="../tags/tag25.xml"/><Relationship Id="rId5" Type="http://schemas.openxmlformats.org/officeDocument/2006/relationships/tags" Target="../tags/tag24.xml"/><Relationship Id="rId4" Type="http://schemas.openxmlformats.org/officeDocument/2006/relationships/tags" Target="../tags/tag23.xml"/><Relationship Id="rId3" Type="http://schemas.openxmlformats.org/officeDocument/2006/relationships/tags" Target="../tags/tag22.xml"/><Relationship Id="rId20" Type="http://schemas.openxmlformats.org/officeDocument/2006/relationships/notesSlide" Target="../notesSlides/notesSlide6.xml"/><Relationship Id="rId2" Type="http://schemas.openxmlformats.org/officeDocument/2006/relationships/image" Target="../media/image12.svg"/><Relationship Id="rId19" Type="http://schemas.openxmlformats.org/officeDocument/2006/relationships/vmlDrawing" Target="../drawings/vmlDrawing1.vml"/><Relationship Id="rId18" Type="http://schemas.openxmlformats.org/officeDocument/2006/relationships/slideLayout" Target="../slideLayouts/slideLayout7.xml"/><Relationship Id="rId17" Type="http://schemas.openxmlformats.org/officeDocument/2006/relationships/image" Target="../media/image25.png"/><Relationship Id="rId16" Type="http://schemas.openxmlformats.org/officeDocument/2006/relationships/image" Target="../media/image24.png"/><Relationship Id="rId15" Type="http://schemas.openxmlformats.org/officeDocument/2006/relationships/image" Target="../media/image23.png"/><Relationship Id="rId14" Type="http://schemas.openxmlformats.org/officeDocument/2006/relationships/oleObject" Target="../embeddings/oleObject2.bin"/><Relationship Id="rId13" Type="http://schemas.openxmlformats.org/officeDocument/2006/relationships/image" Target="../media/image22.wmf"/><Relationship Id="rId12" Type="http://schemas.openxmlformats.org/officeDocument/2006/relationships/oleObject" Target="../embeddings/oleObject1.bin"/><Relationship Id="rId11" Type="http://schemas.openxmlformats.org/officeDocument/2006/relationships/tags" Target="../tags/tag30.xml"/><Relationship Id="rId10" Type="http://schemas.openxmlformats.org/officeDocument/2006/relationships/tags" Target="../tags/tag29.xml"/><Relationship Id="rId1" Type="http://schemas.openxmlformats.org/officeDocument/2006/relationships/image" Target="../media/image21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7.png"/><Relationship Id="rId1" Type="http://schemas.openxmlformats.org/officeDocument/2006/relationships/image" Target="../media/image8.png"/></Relationships>
</file>

<file path=ppt/slides/_rels/slide10.xml.rels><?xml version="1.0" encoding="UTF-8" standalone="yes"?>
<Relationships xmlns="http://schemas.openxmlformats.org/package/2006/relationships"><Relationship Id="rId9" Type="http://schemas.openxmlformats.org/officeDocument/2006/relationships/tags" Target="../tags/tag37.xml"/><Relationship Id="rId8" Type="http://schemas.openxmlformats.org/officeDocument/2006/relationships/tags" Target="../tags/tag36.xml"/><Relationship Id="rId7" Type="http://schemas.openxmlformats.org/officeDocument/2006/relationships/tags" Target="../tags/tag35.xml"/><Relationship Id="rId6" Type="http://schemas.openxmlformats.org/officeDocument/2006/relationships/tags" Target="../tags/tag34.xml"/><Relationship Id="rId5" Type="http://schemas.openxmlformats.org/officeDocument/2006/relationships/tags" Target="../tags/tag33.xml"/><Relationship Id="rId4" Type="http://schemas.openxmlformats.org/officeDocument/2006/relationships/tags" Target="../tags/tag32.xml"/><Relationship Id="rId30" Type="http://schemas.openxmlformats.org/officeDocument/2006/relationships/notesSlide" Target="../notesSlides/notesSlide7.xml"/><Relationship Id="rId3" Type="http://schemas.openxmlformats.org/officeDocument/2006/relationships/tags" Target="../tags/tag31.xml"/><Relationship Id="rId29" Type="http://schemas.openxmlformats.org/officeDocument/2006/relationships/slideLayout" Target="../slideLayouts/slideLayout7.xml"/><Relationship Id="rId28" Type="http://schemas.openxmlformats.org/officeDocument/2006/relationships/tags" Target="../tags/tag56.xml"/><Relationship Id="rId27" Type="http://schemas.openxmlformats.org/officeDocument/2006/relationships/tags" Target="../tags/tag55.xml"/><Relationship Id="rId26" Type="http://schemas.openxmlformats.org/officeDocument/2006/relationships/tags" Target="../tags/tag54.xml"/><Relationship Id="rId25" Type="http://schemas.openxmlformats.org/officeDocument/2006/relationships/tags" Target="../tags/tag53.xml"/><Relationship Id="rId24" Type="http://schemas.openxmlformats.org/officeDocument/2006/relationships/tags" Target="../tags/tag52.xml"/><Relationship Id="rId23" Type="http://schemas.openxmlformats.org/officeDocument/2006/relationships/tags" Target="../tags/tag51.xml"/><Relationship Id="rId22" Type="http://schemas.openxmlformats.org/officeDocument/2006/relationships/tags" Target="../tags/tag50.xml"/><Relationship Id="rId21" Type="http://schemas.openxmlformats.org/officeDocument/2006/relationships/tags" Target="../tags/tag49.xml"/><Relationship Id="rId20" Type="http://schemas.openxmlformats.org/officeDocument/2006/relationships/tags" Target="../tags/tag48.xml"/><Relationship Id="rId2" Type="http://schemas.openxmlformats.org/officeDocument/2006/relationships/image" Target="../media/image27.svg"/><Relationship Id="rId19" Type="http://schemas.openxmlformats.org/officeDocument/2006/relationships/tags" Target="../tags/tag47.xml"/><Relationship Id="rId18" Type="http://schemas.openxmlformats.org/officeDocument/2006/relationships/tags" Target="../tags/tag46.xml"/><Relationship Id="rId17" Type="http://schemas.openxmlformats.org/officeDocument/2006/relationships/tags" Target="../tags/tag45.xml"/><Relationship Id="rId16" Type="http://schemas.openxmlformats.org/officeDocument/2006/relationships/tags" Target="../tags/tag44.xml"/><Relationship Id="rId15" Type="http://schemas.openxmlformats.org/officeDocument/2006/relationships/tags" Target="../tags/tag43.xml"/><Relationship Id="rId14" Type="http://schemas.openxmlformats.org/officeDocument/2006/relationships/tags" Target="../tags/tag42.xml"/><Relationship Id="rId13" Type="http://schemas.openxmlformats.org/officeDocument/2006/relationships/tags" Target="../tags/tag41.xml"/><Relationship Id="rId12" Type="http://schemas.openxmlformats.org/officeDocument/2006/relationships/tags" Target="../tags/tag40.xml"/><Relationship Id="rId11" Type="http://schemas.openxmlformats.org/officeDocument/2006/relationships/tags" Target="../tags/tag39.xml"/><Relationship Id="rId10" Type="http://schemas.openxmlformats.org/officeDocument/2006/relationships/tags" Target="../tags/tag38.xml"/><Relationship Id="rId1" Type="http://schemas.openxmlformats.org/officeDocument/2006/relationships/image" Target="../media/image26.png"/></Relationships>
</file>

<file path=ppt/slides/_rels/slide11.xml.rels><?xml version="1.0" encoding="UTF-8" standalone="yes"?>
<Relationships xmlns="http://schemas.openxmlformats.org/package/2006/relationships"><Relationship Id="rId9" Type="http://schemas.openxmlformats.org/officeDocument/2006/relationships/tags" Target="../tags/tag63.xml"/><Relationship Id="rId8" Type="http://schemas.openxmlformats.org/officeDocument/2006/relationships/tags" Target="../tags/tag62.xml"/><Relationship Id="rId7" Type="http://schemas.openxmlformats.org/officeDocument/2006/relationships/tags" Target="../tags/tag61.xml"/><Relationship Id="rId6" Type="http://schemas.openxmlformats.org/officeDocument/2006/relationships/tags" Target="../tags/tag60.xml"/><Relationship Id="rId5" Type="http://schemas.openxmlformats.org/officeDocument/2006/relationships/tags" Target="../tags/tag59.xml"/><Relationship Id="rId4" Type="http://schemas.openxmlformats.org/officeDocument/2006/relationships/tags" Target="../tags/tag58.xml"/><Relationship Id="rId30" Type="http://schemas.openxmlformats.org/officeDocument/2006/relationships/notesSlide" Target="../notesSlides/notesSlide8.xml"/><Relationship Id="rId3" Type="http://schemas.openxmlformats.org/officeDocument/2006/relationships/tags" Target="../tags/tag57.xml"/><Relationship Id="rId29" Type="http://schemas.openxmlformats.org/officeDocument/2006/relationships/slideLayout" Target="../slideLayouts/slideLayout7.xml"/><Relationship Id="rId28" Type="http://schemas.openxmlformats.org/officeDocument/2006/relationships/tags" Target="../tags/tag82.xml"/><Relationship Id="rId27" Type="http://schemas.openxmlformats.org/officeDocument/2006/relationships/tags" Target="../tags/tag81.xml"/><Relationship Id="rId26" Type="http://schemas.openxmlformats.org/officeDocument/2006/relationships/tags" Target="../tags/tag80.xml"/><Relationship Id="rId25" Type="http://schemas.openxmlformats.org/officeDocument/2006/relationships/tags" Target="../tags/tag79.xml"/><Relationship Id="rId24" Type="http://schemas.openxmlformats.org/officeDocument/2006/relationships/tags" Target="../tags/tag78.xml"/><Relationship Id="rId23" Type="http://schemas.openxmlformats.org/officeDocument/2006/relationships/tags" Target="../tags/tag77.xml"/><Relationship Id="rId22" Type="http://schemas.openxmlformats.org/officeDocument/2006/relationships/tags" Target="../tags/tag76.xml"/><Relationship Id="rId21" Type="http://schemas.openxmlformats.org/officeDocument/2006/relationships/tags" Target="../tags/tag75.xml"/><Relationship Id="rId20" Type="http://schemas.openxmlformats.org/officeDocument/2006/relationships/tags" Target="../tags/tag74.xml"/><Relationship Id="rId2" Type="http://schemas.openxmlformats.org/officeDocument/2006/relationships/image" Target="../media/image12.svg"/><Relationship Id="rId19" Type="http://schemas.openxmlformats.org/officeDocument/2006/relationships/tags" Target="../tags/tag73.xml"/><Relationship Id="rId18" Type="http://schemas.openxmlformats.org/officeDocument/2006/relationships/tags" Target="../tags/tag72.xml"/><Relationship Id="rId17" Type="http://schemas.openxmlformats.org/officeDocument/2006/relationships/tags" Target="../tags/tag71.xml"/><Relationship Id="rId16" Type="http://schemas.openxmlformats.org/officeDocument/2006/relationships/tags" Target="../tags/tag70.xml"/><Relationship Id="rId15" Type="http://schemas.openxmlformats.org/officeDocument/2006/relationships/tags" Target="../tags/tag69.xml"/><Relationship Id="rId14" Type="http://schemas.openxmlformats.org/officeDocument/2006/relationships/tags" Target="../tags/tag68.xml"/><Relationship Id="rId13" Type="http://schemas.openxmlformats.org/officeDocument/2006/relationships/tags" Target="../tags/tag67.xml"/><Relationship Id="rId12" Type="http://schemas.openxmlformats.org/officeDocument/2006/relationships/tags" Target="../tags/tag66.xml"/><Relationship Id="rId11" Type="http://schemas.openxmlformats.org/officeDocument/2006/relationships/tags" Target="../tags/tag65.xml"/><Relationship Id="rId10" Type="http://schemas.openxmlformats.org/officeDocument/2006/relationships/tags" Target="../tags/tag64.xml"/><Relationship Id="rId1" Type="http://schemas.openxmlformats.org/officeDocument/2006/relationships/image" Target="../media/image21.png"/></Relationships>
</file>

<file path=ppt/slides/_rels/slide12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9.xml"/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27.svg"/><Relationship Id="rId1" Type="http://schemas.openxmlformats.org/officeDocument/2006/relationships/image" Target="../media/image26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7.png"/><Relationship Id="rId1" Type="http://schemas.openxmlformats.org/officeDocument/2006/relationships/image" Target="../media/image8.png"/></Relationships>
</file>

<file path=ppt/slides/_rels/slide14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7.xml"/><Relationship Id="rId3" Type="http://schemas.openxmlformats.org/officeDocument/2006/relationships/image" Target="../media/image28.png"/><Relationship Id="rId2" Type="http://schemas.openxmlformats.org/officeDocument/2006/relationships/image" Target="../media/image27.svg"/><Relationship Id="rId1" Type="http://schemas.openxmlformats.org/officeDocument/2006/relationships/image" Target="../media/image26.png"/></Relationships>
</file>

<file path=ppt/slides/_rels/slide15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7.xml"/><Relationship Id="rId8" Type="http://schemas.openxmlformats.org/officeDocument/2006/relationships/image" Target="../media/image4.svg"/><Relationship Id="rId7" Type="http://schemas.openxmlformats.org/officeDocument/2006/relationships/image" Target="../media/image3.png"/><Relationship Id="rId6" Type="http://schemas.openxmlformats.org/officeDocument/2006/relationships/image" Target="../media/image7.png"/><Relationship Id="rId5" Type="http://schemas.openxmlformats.org/officeDocument/2006/relationships/image" Target="../media/image8.png"/><Relationship Id="rId4" Type="http://schemas.openxmlformats.org/officeDocument/2006/relationships/image" Target="../media/image6.svg"/><Relationship Id="rId3" Type="http://schemas.openxmlformats.org/officeDocument/2006/relationships/image" Target="../media/image5.png"/><Relationship Id="rId2" Type="http://schemas.openxmlformats.org/officeDocument/2006/relationships/image" Target="../media/image2.svg"/><Relationship Id="rId1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D1D5B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078580" y="8829375"/>
            <a:ext cx="15916463" cy="428925"/>
            <a:chOff x="0" y="0"/>
            <a:chExt cx="4191990" cy="112968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4191990" cy="112968"/>
            </a:xfrm>
            <a:custGeom>
              <a:avLst/>
              <a:gdLst/>
              <a:ahLst/>
              <a:cxnLst/>
              <a:rect l="l" t="t" r="r" b="b"/>
              <a:pathLst>
                <a:path w="4191990" h="112968">
                  <a:moveTo>
                    <a:pt x="0" y="0"/>
                  </a:moveTo>
                  <a:lnTo>
                    <a:pt x="4191990" y="0"/>
                  </a:lnTo>
                  <a:lnTo>
                    <a:pt x="4191990" y="112968"/>
                  </a:lnTo>
                  <a:lnTo>
                    <a:pt x="0" y="112968"/>
                  </a:lnTo>
                  <a:close/>
                </a:path>
              </a:pathLst>
            </a:custGeom>
            <a:solidFill>
              <a:srgbClr val="41624D"/>
            </a:solidFill>
          </p:spPr>
        </p:sp>
        <p:sp>
          <p:nvSpPr>
            <p:cNvPr id="4" name="TextBox 4"/>
            <p:cNvSpPr txBox="1"/>
            <p:nvPr/>
          </p:nvSpPr>
          <p:spPr>
            <a:xfrm>
              <a:off x="0" y="-28575"/>
              <a:ext cx="4191990" cy="14154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60"/>
                </a:lnSpc>
                <a:spcBef>
                  <a:spcPct val="0"/>
                </a:spcBef>
              </a:pPr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1028700" y="6582661"/>
            <a:ext cx="18966220" cy="2674505"/>
            <a:chOff x="0" y="0"/>
            <a:chExt cx="25288293" cy="3566007"/>
          </a:xfrm>
        </p:grpSpPr>
        <p:sp>
          <p:nvSpPr>
            <p:cNvPr id="6" name="Freeform 6"/>
            <p:cNvSpPr/>
            <p:nvPr/>
          </p:nvSpPr>
          <p:spPr>
            <a:xfrm>
              <a:off x="4377381" y="28302"/>
              <a:ext cx="10461806" cy="3537705"/>
            </a:xfrm>
            <a:custGeom>
              <a:avLst/>
              <a:gdLst/>
              <a:ahLst/>
              <a:cxnLst/>
              <a:rect l="l" t="t" r="r" b="b"/>
              <a:pathLst>
                <a:path w="10461806" h="3537705">
                  <a:moveTo>
                    <a:pt x="0" y="0"/>
                  </a:moveTo>
                  <a:lnTo>
                    <a:pt x="10461806" y="0"/>
                  </a:lnTo>
                  <a:lnTo>
                    <a:pt x="10461806" y="3537705"/>
                  </a:lnTo>
                  <a:lnTo>
                    <a:pt x="0" y="353770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">
                <a:extLst>
                  <a:ext uri="{96DAC541-7B7A-43D3-8B79-37D633B846F1}">
                    <asvg:svgBlip xmlns:asvg="http://schemas.microsoft.com/office/drawing/2016/SVG/main" r:embed="rId2"/>
                  </a:ext>
                </a:extLst>
              </a:blip>
              <a:stretch>
                <a:fillRect t="-56281" b="-115436"/>
              </a:stretch>
            </a:blipFill>
          </p:spPr>
        </p:sp>
        <p:sp>
          <p:nvSpPr>
            <p:cNvPr id="7" name="Freeform 7"/>
            <p:cNvSpPr/>
            <p:nvPr/>
          </p:nvSpPr>
          <p:spPr>
            <a:xfrm>
              <a:off x="0" y="0"/>
              <a:ext cx="4386978" cy="3561016"/>
            </a:xfrm>
            <a:custGeom>
              <a:avLst/>
              <a:gdLst/>
              <a:ahLst/>
              <a:cxnLst/>
              <a:rect l="l" t="t" r="r" b="b"/>
              <a:pathLst>
                <a:path w="4386978" h="3561016">
                  <a:moveTo>
                    <a:pt x="0" y="0"/>
                  </a:moveTo>
                  <a:lnTo>
                    <a:pt x="4386978" y="0"/>
                  </a:lnTo>
                  <a:lnTo>
                    <a:pt x="4386978" y="3561016"/>
                  </a:lnTo>
                  <a:lnTo>
                    <a:pt x="0" y="356101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">
                <a:extLst>
                  <a:ext uri="{96DAC541-7B7A-43D3-8B79-37D633B846F1}">
                    <asvg:svgBlip xmlns:asvg="http://schemas.microsoft.com/office/drawing/2016/SVG/main" r:embed="rId2"/>
                  </a:ext>
                </a:extLst>
              </a:blip>
              <a:stretch>
                <a:fillRect t="-55118" r="-138474" b="-114821"/>
              </a:stretch>
            </a:blipFill>
          </p:spPr>
        </p:sp>
        <p:sp>
          <p:nvSpPr>
            <p:cNvPr id="8" name="Freeform 8"/>
            <p:cNvSpPr/>
            <p:nvPr/>
          </p:nvSpPr>
          <p:spPr>
            <a:xfrm>
              <a:off x="14826487" y="28302"/>
              <a:ext cx="10461806" cy="3537705"/>
            </a:xfrm>
            <a:custGeom>
              <a:avLst/>
              <a:gdLst/>
              <a:ahLst/>
              <a:cxnLst/>
              <a:rect l="l" t="t" r="r" b="b"/>
              <a:pathLst>
                <a:path w="10461806" h="3537705">
                  <a:moveTo>
                    <a:pt x="0" y="0"/>
                  </a:moveTo>
                  <a:lnTo>
                    <a:pt x="10461806" y="0"/>
                  </a:lnTo>
                  <a:lnTo>
                    <a:pt x="10461806" y="3537705"/>
                  </a:lnTo>
                  <a:lnTo>
                    <a:pt x="0" y="353770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">
                <a:extLst>
                  <a:ext uri="{96DAC541-7B7A-43D3-8B79-37D633B846F1}">
                    <asvg:svgBlip xmlns:asvg="http://schemas.microsoft.com/office/drawing/2016/SVG/main" r:embed="rId2"/>
                  </a:ext>
                </a:extLst>
              </a:blip>
              <a:stretch>
                <a:fillRect t="-56281" b="-115436"/>
              </a:stretch>
            </a:blipFill>
          </p:spPr>
        </p:sp>
      </p:grpSp>
      <p:grpSp>
        <p:nvGrpSpPr>
          <p:cNvPr id="9" name="Group 9"/>
          <p:cNvGrpSpPr/>
          <p:nvPr/>
        </p:nvGrpSpPr>
        <p:grpSpPr>
          <a:xfrm>
            <a:off x="1078580" y="1138069"/>
            <a:ext cx="15916463" cy="7691305"/>
            <a:chOff x="0" y="0"/>
            <a:chExt cx="4191990" cy="2025694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4191990" cy="2025694"/>
            </a:xfrm>
            <a:custGeom>
              <a:avLst/>
              <a:gdLst/>
              <a:ahLst/>
              <a:cxnLst/>
              <a:rect l="l" t="t" r="r" b="b"/>
              <a:pathLst>
                <a:path w="4191990" h="2025694">
                  <a:moveTo>
                    <a:pt x="0" y="0"/>
                  </a:moveTo>
                  <a:lnTo>
                    <a:pt x="4191990" y="0"/>
                  </a:lnTo>
                  <a:lnTo>
                    <a:pt x="4191990" y="2025694"/>
                  </a:lnTo>
                  <a:lnTo>
                    <a:pt x="0" y="2025694"/>
                  </a:lnTo>
                  <a:close/>
                </a:path>
              </a:pathLst>
            </a:custGeom>
            <a:solidFill>
              <a:srgbClr val="F5FAF4"/>
            </a:solidFill>
          </p:spPr>
        </p:sp>
        <p:sp>
          <p:nvSpPr>
            <p:cNvPr id="11" name="TextBox 11"/>
            <p:cNvSpPr txBox="1"/>
            <p:nvPr/>
          </p:nvSpPr>
          <p:spPr>
            <a:xfrm>
              <a:off x="0" y="-28575"/>
              <a:ext cx="4191990" cy="2054269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60"/>
                </a:lnSpc>
                <a:spcBef>
                  <a:spcPct val="0"/>
                </a:spcBef>
              </a:pPr>
            </a:p>
          </p:txBody>
        </p:sp>
      </p:grpSp>
      <p:grpSp>
        <p:nvGrpSpPr>
          <p:cNvPr id="12" name="Group 12"/>
          <p:cNvGrpSpPr/>
          <p:nvPr/>
        </p:nvGrpSpPr>
        <p:grpSpPr>
          <a:xfrm>
            <a:off x="-9525" y="-212708"/>
            <a:ext cx="1423091" cy="10984331"/>
            <a:chOff x="0" y="0"/>
            <a:chExt cx="374806" cy="2892992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374806" cy="2892992"/>
            </a:xfrm>
            <a:custGeom>
              <a:avLst/>
              <a:gdLst/>
              <a:ahLst/>
              <a:cxnLst/>
              <a:rect l="l" t="t" r="r" b="b"/>
              <a:pathLst>
                <a:path w="374806" h="2892992">
                  <a:moveTo>
                    <a:pt x="0" y="0"/>
                  </a:moveTo>
                  <a:lnTo>
                    <a:pt x="374806" y="0"/>
                  </a:lnTo>
                  <a:lnTo>
                    <a:pt x="374806" y="2892992"/>
                  </a:lnTo>
                  <a:lnTo>
                    <a:pt x="0" y="2892992"/>
                  </a:lnTo>
                  <a:close/>
                </a:path>
              </a:pathLst>
            </a:custGeom>
            <a:solidFill>
              <a:srgbClr val="41624D"/>
            </a:solidFill>
          </p:spPr>
        </p:sp>
        <p:sp>
          <p:nvSpPr>
            <p:cNvPr id="14" name="TextBox 14"/>
            <p:cNvSpPr txBox="1"/>
            <p:nvPr/>
          </p:nvSpPr>
          <p:spPr>
            <a:xfrm>
              <a:off x="0" y="-28575"/>
              <a:ext cx="374806" cy="292156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60"/>
                </a:lnSpc>
                <a:spcBef>
                  <a:spcPct val="0"/>
                </a:spcBef>
              </a:pPr>
            </a:p>
          </p:txBody>
        </p:sp>
      </p:grpSp>
      <p:grpSp>
        <p:nvGrpSpPr>
          <p:cNvPr id="15" name="Group 15"/>
          <p:cNvGrpSpPr/>
          <p:nvPr/>
        </p:nvGrpSpPr>
        <p:grpSpPr>
          <a:xfrm>
            <a:off x="16864909" y="-212708"/>
            <a:ext cx="1423091" cy="10984331"/>
            <a:chOff x="0" y="0"/>
            <a:chExt cx="374806" cy="2892992"/>
          </a:xfrm>
        </p:grpSpPr>
        <p:sp>
          <p:nvSpPr>
            <p:cNvPr id="16" name="Freeform 16"/>
            <p:cNvSpPr/>
            <p:nvPr/>
          </p:nvSpPr>
          <p:spPr>
            <a:xfrm>
              <a:off x="0" y="0"/>
              <a:ext cx="374806" cy="2892992"/>
            </a:xfrm>
            <a:custGeom>
              <a:avLst/>
              <a:gdLst/>
              <a:ahLst/>
              <a:cxnLst/>
              <a:rect l="l" t="t" r="r" b="b"/>
              <a:pathLst>
                <a:path w="374806" h="2892992">
                  <a:moveTo>
                    <a:pt x="0" y="0"/>
                  </a:moveTo>
                  <a:lnTo>
                    <a:pt x="374806" y="0"/>
                  </a:lnTo>
                  <a:lnTo>
                    <a:pt x="374806" y="2892992"/>
                  </a:lnTo>
                  <a:lnTo>
                    <a:pt x="0" y="2892992"/>
                  </a:lnTo>
                  <a:close/>
                </a:path>
              </a:pathLst>
            </a:custGeom>
            <a:solidFill>
              <a:srgbClr val="41624D"/>
            </a:solidFill>
            <a:ln cap="sq">
              <a:noFill/>
              <a:prstDash val="solid"/>
              <a:miter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0" y="-28575"/>
              <a:ext cx="374806" cy="292156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660"/>
                </a:lnSpc>
                <a:spcBef>
                  <a:spcPct val="0"/>
                </a:spcBef>
              </a:pPr>
            </a:p>
          </p:txBody>
        </p:sp>
      </p:grpSp>
      <p:sp>
        <p:nvSpPr>
          <p:cNvPr id="18" name="Freeform 18"/>
          <p:cNvSpPr/>
          <p:nvPr/>
        </p:nvSpPr>
        <p:spPr>
          <a:xfrm>
            <a:off x="15958837" y="1138069"/>
            <a:ext cx="2794985" cy="1066475"/>
          </a:xfrm>
          <a:custGeom>
            <a:avLst/>
            <a:gdLst/>
            <a:ahLst/>
            <a:cxnLst/>
            <a:rect l="l" t="t" r="r" b="b"/>
            <a:pathLst>
              <a:path w="2794985" h="1066475">
                <a:moveTo>
                  <a:pt x="0" y="0"/>
                </a:moveTo>
                <a:lnTo>
                  <a:pt x="2794985" y="0"/>
                </a:lnTo>
                <a:lnTo>
                  <a:pt x="2794985" y="1066475"/>
                </a:lnTo>
                <a:lnTo>
                  <a:pt x="0" y="1066475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t="-164422" r="-895"/>
            </a:stretch>
          </a:blipFill>
        </p:spPr>
      </p:sp>
      <p:grpSp>
        <p:nvGrpSpPr>
          <p:cNvPr id="19" name="Group 19"/>
          <p:cNvGrpSpPr/>
          <p:nvPr/>
        </p:nvGrpSpPr>
        <p:grpSpPr>
          <a:xfrm>
            <a:off x="2353995" y="7372167"/>
            <a:ext cx="4214401" cy="529500"/>
            <a:chOff x="0" y="0"/>
            <a:chExt cx="5619201" cy="706000"/>
          </a:xfrm>
        </p:grpSpPr>
        <p:grpSp>
          <p:nvGrpSpPr>
            <p:cNvPr id="20" name="Group 20"/>
            <p:cNvGrpSpPr/>
            <p:nvPr/>
          </p:nvGrpSpPr>
          <p:grpSpPr>
            <a:xfrm>
              <a:off x="0" y="0"/>
              <a:ext cx="5619201" cy="706000"/>
              <a:chOff x="0" y="0"/>
              <a:chExt cx="1443435" cy="181354"/>
            </a:xfrm>
          </p:grpSpPr>
          <p:sp>
            <p:nvSpPr>
              <p:cNvPr id="21" name="Freeform 21"/>
              <p:cNvSpPr/>
              <p:nvPr/>
            </p:nvSpPr>
            <p:spPr>
              <a:xfrm>
                <a:off x="0" y="0"/>
                <a:ext cx="1443435" cy="181354"/>
              </a:xfrm>
              <a:custGeom>
                <a:avLst/>
                <a:gdLst/>
                <a:ahLst/>
                <a:cxnLst/>
                <a:rect l="l" t="t" r="r" b="b"/>
                <a:pathLst>
                  <a:path w="1443435" h="181354">
                    <a:moveTo>
                      <a:pt x="90677" y="0"/>
                    </a:moveTo>
                    <a:lnTo>
                      <a:pt x="1352758" y="0"/>
                    </a:lnTo>
                    <a:cubicBezTo>
                      <a:pt x="1402838" y="0"/>
                      <a:pt x="1443435" y="40597"/>
                      <a:pt x="1443435" y="90677"/>
                    </a:cubicBezTo>
                    <a:lnTo>
                      <a:pt x="1443435" y="90677"/>
                    </a:lnTo>
                    <a:cubicBezTo>
                      <a:pt x="1443435" y="114726"/>
                      <a:pt x="1433882" y="137790"/>
                      <a:pt x="1416877" y="154795"/>
                    </a:cubicBezTo>
                    <a:cubicBezTo>
                      <a:pt x="1399871" y="171801"/>
                      <a:pt x="1376807" y="181354"/>
                      <a:pt x="1352758" y="181354"/>
                    </a:cubicBezTo>
                    <a:lnTo>
                      <a:pt x="90677" y="181354"/>
                    </a:lnTo>
                    <a:cubicBezTo>
                      <a:pt x="66628" y="181354"/>
                      <a:pt x="43564" y="171801"/>
                      <a:pt x="26559" y="154795"/>
                    </a:cubicBezTo>
                    <a:cubicBezTo>
                      <a:pt x="9553" y="137790"/>
                      <a:pt x="0" y="114726"/>
                      <a:pt x="0" y="90677"/>
                    </a:cubicBezTo>
                    <a:lnTo>
                      <a:pt x="0" y="90677"/>
                    </a:lnTo>
                    <a:cubicBezTo>
                      <a:pt x="0" y="66628"/>
                      <a:pt x="9553" y="43564"/>
                      <a:pt x="26559" y="26559"/>
                    </a:cubicBezTo>
                    <a:cubicBezTo>
                      <a:pt x="43564" y="9553"/>
                      <a:pt x="66628" y="0"/>
                      <a:pt x="90677" y="0"/>
                    </a:cubicBezTo>
                    <a:close/>
                  </a:path>
                </a:pathLst>
              </a:custGeom>
              <a:solidFill>
                <a:srgbClr val="D1D5BA"/>
              </a:solidFill>
              <a:ln w="9525" cap="rnd">
                <a:solidFill>
                  <a:srgbClr val="343333"/>
                </a:solidFill>
                <a:prstDash val="solid"/>
                <a:round/>
              </a:ln>
            </p:spPr>
          </p:sp>
          <p:sp>
            <p:nvSpPr>
              <p:cNvPr id="22" name="TextBox 22"/>
              <p:cNvSpPr txBox="1"/>
              <p:nvPr/>
            </p:nvSpPr>
            <p:spPr>
              <a:xfrm>
                <a:off x="0" y="-47625"/>
                <a:ext cx="1443435" cy="228979"/>
              </a:xfrm>
              <a:prstGeom prst="rect">
                <a:avLst/>
              </a:prstGeom>
            </p:spPr>
            <p:txBody>
              <a:bodyPr lIns="34493" tIns="34493" rIns="34493" bIns="34493" rtlCol="0" anchor="ctr"/>
              <a:lstStyle/>
              <a:p>
                <a:pPr marL="0" lvl="0" indent="0" algn="ctr">
                  <a:lnSpc>
                    <a:spcPts val="2895"/>
                  </a:lnSpc>
                  <a:spcBef>
                    <a:spcPct val="0"/>
                  </a:spcBef>
                </a:pPr>
              </a:p>
            </p:txBody>
          </p:sp>
        </p:grpSp>
        <p:sp>
          <p:nvSpPr>
            <p:cNvPr id="23" name="TextBox 23"/>
            <p:cNvSpPr txBox="1"/>
            <p:nvPr/>
          </p:nvSpPr>
          <p:spPr>
            <a:xfrm>
              <a:off x="242945" y="9888"/>
              <a:ext cx="5133311" cy="669713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ctr">
                <a:lnSpc>
                  <a:spcPts val="3920"/>
                </a:lnSpc>
                <a:spcBef>
                  <a:spcPct val="0"/>
                </a:spcBef>
              </a:pPr>
              <a:r>
                <a:rPr lang="en-US" sz="2800" spc="279">
                  <a:solidFill>
                    <a:srgbClr val="3B5345"/>
                  </a:solidFill>
                  <a:latin typeface="方正大黑体_GBK" panose="02010600010101010101" charset="-122"/>
                  <a:ea typeface="方正大黑体_GBK" panose="02010600010101010101" charset="-122"/>
                </a:rPr>
                <a:t>汇报人：</a:t>
              </a:r>
              <a:r>
                <a:rPr lang="zh-CN" altLang="en-US" sz="2800" spc="279">
                  <a:solidFill>
                    <a:srgbClr val="3B5345"/>
                  </a:solidFill>
                  <a:latin typeface="方正大黑体_GBK" panose="02010600010101010101" charset="-122"/>
                  <a:ea typeface="方正大黑体_GBK" panose="02010600010101010101" charset="-122"/>
                </a:rPr>
                <a:t>刘永瑞</a:t>
              </a:r>
              <a:endParaRPr lang="zh-CN" altLang="en-US" sz="2800" spc="279">
                <a:solidFill>
                  <a:srgbClr val="3B5345"/>
                </a:solidFill>
                <a:latin typeface="方正大黑体_GBK" panose="02010600010101010101" charset="-122"/>
                <a:ea typeface="方正大黑体_GBK" panose="02010600010101010101" charset="-122"/>
              </a:endParaRPr>
            </a:p>
          </p:txBody>
        </p:sp>
      </p:grpSp>
      <p:grpSp>
        <p:nvGrpSpPr>
          <p:cNvPr id="24" name="Group 24"/>
          <p:cNvGrpSpPr/>
          <p:nvPr/>
        </p:nvGrpSpPr>
        <p:grpSpPr>
          <a:xfrm>
            <a:off x="7329303" y="7372167"/>
            <a:ext cx="4214401" cy="529500"/>
            <a:chOff x="0" y="0"/>
            <a:chExt cx="5619201" cy="706000"/>
          </a:xfrm>
        </p:grpSpPr>
        <p:grpSp>
          <p:nvGrpSpPr>
            <p:cNvPr id="25" name="Group 25"/>
            <p:cNvGrpSpPr/>
            <p:nvPr/>
          </p:nvGrpSpPr>
          <p:grpSpPr>
            <a:xfrm>
              <a:off x="0" y="0"/>
              <a:ext cx="5619201" cy="706000"/>
              <a:chOff x="0" y="0"/>
              <a:chExt cx="1443435" cy="181354"/>
            </a:xfrm>
          </p:grpSpPr>
          <p:sp>
            <p:nvSpPr>
              <p:cNvPr id="26" name="Freeform 26"/>
              <p:cNvSpPr/>
              <p:nvPr/>
            </p:nvSpPr>
            <p:spPr>
              <a:xfrm>
                <a:off x="0" y="0"/>
                <a:ext cx="1443435" cy="181354"/>
              </a:xfrm>
              <a:custGeom>
                <a:avLst/>
                <a:gdLst/>
                <a:ahLst/>
                <a:cxnLst/>
                <a:rect l="l" t="t" r="r" b="b"/>
                <a:pathLst>
                  <a:path w="1443435" h="181354">
                    <a:moveTo>
                      <a:pt x="90677" y="0"/>
                    </a:moveTo>
                    <a:lnTo>
                      <a:pt x="1352758" y="0"/>
                    </a:lnTo>
                    <a:cubicBezTo>
                      <a:pt x="1402838" y="0"/>
                      <a:pt x="1443435" y="40597"/>
                      <a:pt x="1443435" y="90677"/>
                    </a:cubicBezTo>
                    <a:lnTo>
                      <a:pt x="1443435" y="90677"/>
                    </a:lnTo>
                    <a:cubicBezTo>
                      <a:pt x="1443435" y="114726"/>
                      <a:pt x="1433882" y="137790"/>
                      <a:pt x="1416877" y="154795"/>
                    </a:cubicBezTo>
                    <a:cubicBezTo>
                      <a:pt x="1399871" y="171801"/>
                      <a:pt x="1376807" y="181354"/>
                      <a:pt x="1352758" y="181354"/>
                    </a:cubicBezTo>
                    <a:lnTo>
                      <a:pt x="90677" y="181354"/>
                    </a:lnTo>
                    <a:cubicBezTo>
                      <a:pt x="66628" y="181354"/>
                      <a:pt x="43564" y="171801"/>
                      <a:pt x="26559" y="154795"/>
                    </a:cubicBezTo>
                    <a:cubicBezTo>
                      <a:pt x="9553" y="137790"/>
                      <a:pt x="0" y="114726"/>
                      <a:pt x="0" y="90677"/>
                    </a:cubicBezTo>
                    <a:lnTo>
                      <a:pt x="0" y="90677"/>
                    </a:lnTo>
                    <a:cubicBezTo>
                      <a:pt x="0" y="66628"/>
                      <a:pt x="9553" y="43564"/>
                      <a:pt x="26559" y="26559"/>
                    </a:cubicBezTo>
                    <a:cubicBezTo>
                      <a:pt x="43564" y="9553"/>
                      <a:pt x="66628" y="0"/>
                      <a:pt x="90677" y="0"/>
                    </a:cubicBezTo>
                    <a:close/>
                  </a:path>
                </a:pathLst>
              </a:custGeom>
              <a:solidFill>
                <a:srgbClr val="D1D5BA"/>
              </a:solidFill>
              <a:ln w="9525" cap="rnd">
                <a:solidFill>
                  <a:srgbClr val="343333"/>
                </a:solidFill>
                <a:prstDash val="solid"/>
                <a:round/>
              </a:ln>
            </p:spPr>
          </p:sp>
          <p:sp>
            <p:nvSpPr>
              <p:cNvPr id="27" name="TextBox 27"/>
              <p:cNvSpPr txBox="1"/>
              <p:nvPr/>
            </p:nvSpPr>
            <p:spPr>
              <a:xfrm>
                <a:off x="0" y="-47625"/>
                <a:ext cx="1443435" cy="228979"/>
              </a:xfrm>
              <a:prstGeom prst="rect">
                <a:avLst/>
              </a:prstGeom>
            </p:spPr>
            <p:txBody>
              <a:bodyPr lIns="34493" tIns="34493" rIns="34493" bIns="34493" rtlCol="0" anchor="ctr"/>
              <a:lstStyle/>
              <a:p>
                <a:pPr marL="0" lvl="0" indent="0" algn="ctr">
                  <a:lnSpc>
                    <a:spcPts val="2895"/>
                  </a:lnSpc>
                  <a:spcBef>
                    <a:spcPct val="0"/>
                  </a:spcBef>
                </a:pPr>
              </a:p>
            </p:txBody>
          </p:sp>
        </p:grpSp>
        <p:sp>
          <p:nvSpPr>
            <p:cNvPr id="28" name="TextBox 28"/>
            <p:cNvSpPr txBox="1"/>
            <p:nvPr/>
          </p:nvSpPr>
          <p:spPr>
            <a:xfrm>
              <a:off x="242945" y="9888"/>
              <a:ext cx="5133311" cy="669713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ctr">
                <a:lnSpc>
                  <a:spcPts val="3920"/>
                </a:lnSpc>
                <a:spcBef>
                  <a:spcPct val="0"/>
                </a:spcBef>
              </a:pPr>
              <a:r>
                <a:rPr lang="en-US" sz="2800" u="none" strike="noStrike" spc="279">
                  <a:solidFill>
                    <a:srgbClr val="3B5345"/>
                  </a:solidFill>
                  <a:latin typeface="方正大黑体_GBK" panose="02010600010101010101" charset="-122"/>
                  <a:ea typeface="方正大黑体_GBK" panose="02010600010101010101" charset="-122"/>
                </a:rPr>
                <a:t>时间：6月2日</a:t>
              </a:r>
              <a:endParaRPr lang="en-US" sz="2800" u="none" strike="noStrike" spc="279">
                <a:solidFill>
                  <a:srgbClr val="3B5345"/>
                </a:solidFill>
                <a:latin typeface="方正大黑体_GBK" panose="02010600010101010101" charset="-122"/>
                <a:ea typeface="方正大黑体_GBK" panose="02010600010101010101" charset="-122"/>
              </a:endParaRPr>
            </a:p>
          </p:txBody>
        </p:sp>
      </p:grpSp>
      <p:sp>
        <p:nvSpPr>
          <p:cNvPr id="29" name="Freeform 29"/>
          <p:cNvSpPr/>
          <p:nvPr/>
        </p:nvSpPr>
        <p:spPr>
          <a:xfrm>
            <a:off x="2143025" y="1107246"/>
            <a:ext cx="7972746" cy="3388268"/>
          </a:xfrm>
          <a:custGeom>
            <a:avLst/>
            <a:gdLst/>
            <a:ahLst/>
            <a:cxnLst/>
            <a:rect l="l" t="t" r="r" b="b"/>
            <a:pathLst>
              <a:path w="7972746" h="3388268">
                <a:moveTo>
                  <a:pt x="0" y="0"/>
                </a:moveTo>
                <a:lnTo>
                  <a:pt x="7972746" y="0"/>
                </a:lnTo>
                <a:lnTo>
                  <a:pt x="7972746" y="3388268"/>
                </a:lnTo>
                <a:lnTo>
                  <a:pt x="0" y="3388268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alphaModFix amt="16000"/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t="-133141"/>
            </a:stretch>
          </a:blipFill>
        </p:spPr>
      </p:sp>
      <p:sp>
        <p:nvSpPr>
          <p:cNvPr id="30" name="Freeform 30"/>
          <p:cNvSpPr/>
          <p:nvPr/>
        </p:nvSpPr>
        <p:spPr>
          <a:xfrm rot="5400000">
            <a:off x="-3984375" y="4593346"/>
            <a:ext cx="9411340" cy="1014660"/>
          </a:xfrm>
          <a:custGeom>
            <a:avLst/>
            <a:gdLst/>
            <a:ahLst/>
            <a:cxnLst/>
            <a:rect l="l" t="t" r="r" b="b"/>
            <a:pathLst>
              <a:path w="9411340" h="1014660">
                <a:moveTo>
                  <a:pt x="0" y="0"/>
                </a:moveTo>
                <a:lnTo>
                  <a:pt x="9411340" y="0"/>
                </a:lnTo>
                <a:lnTo>
                  <a:pt x="9411340" y="1014660"/>
                </a:lnTo>
                <a:lnTo>
                  <a:pt x="0" y="1014660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/>
            </a:stretch>
          </a:blipFill>
        </p:spPr>
      </p:sp>
      <p:sp>
        <p:nvSpPr>
          <p:cNvPr id="31" name="Freeform 31"/>
          <p:cNvSpPr/>
          <p:nvPr/>
        </p:nvSpPr>
        <p:spPr>
          <a:xfrm>
            <a:off x="17165015" y="8632398"/>
            <a:ext cx="822879" cy="822879"/>
          </a:xfrm>
          <a:custGeom>
            <a:avLst/>
            <a:gdLst/>
            <a:ahLst/>
            <a:cxnLst/>
            <a:rect l="l" t="t" r="r" b="b"/>
            <a:pathLst>
              <a:path w="822879" h="822879">
                <a:moveTo>
                  <a:pt x="0" y="0"/>
                </a:moveTo>
                <a:lnTo>
                  <a:pt x="822879" y="0"/>
                </a:lnTo>
                <a:lnTo>
                  <a:pt x="822879" y="822879"/>
                </a:lnTo>
                <a:lnTo>
                  <a:pt x="0" y="822879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/>
            </a:stretch>
          </a:blipFill>
        </p:spPr>
      </p:sp>
      <p:sp>
        <p:nvSpPr>
          <p:cNvPr id="32" name="TextBox 32"/>
          <p:cNvSpPr txBox="1"/>
          <p:nvPr/>
        </p:nvSpPr>
        <p:spPr>
          <a:xfrm>
            <a:off x="2438120" y="2704814"/>
            <a:ext cx="14175894" cy="427799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16680"/>
              </a:lnSpc>
            </a:pPr>
            <a:r>
              <a:rPr lang="zh-CN" altLang="en-US" sz="4400" spc="1292">
                <a:solidFill>
                  <a:srgbClr val="3B5345"/>
                </a:solidFill>
                <a:latin typeface="华文中宋" panose="02010600040101010101" charset="-122"/>
                <a:ea typeface="华文中宋" panose="02010600040101010101" charset="-122"/>
              </a:rPr>
              <a:t>基于</a:t>
            </a:r>
            <a:r>
              <a:rPr lang="en-US" altLang="zh-CN" sz="4400" spc="1292">
                <a:solidFill>
                  <a:srgbClr val="3B5345"/>
                </a:solidFill>
                <a:latin typeface="华文中宋" panose="02010600040101010101" charset="-122"/>
                <a:ea typeface="华文中宋" panose="02010600040101010101" charset="-122"/>
              </a:rPr>
              <a:t>LWE</a:t>
            </a:r>
            <a:r>
              <a:rPr lang="zh-CN" altLang="en-US" sz="4400" spc="1292">
                <a:solidFill>
                  <a:srgbClr val="3B5345"/>
                </a:solidFill>
                <a:latin typeface="华文中宋" panose="02010600040101010101" charset="-122"/>
                <a:ea typeface="华文中宋" panose="02010600040101010101" charset="-122"/>
              </a:rPr>
              <a:t>全同态加密的后量子电子投票协议</a:t>
            </a:r>
            <a:endParaRPr lang="zh-CN" altLang="en-US" sz="4400" spc="1292">
              <a:solidFill>
                <a:srgbClr val="3B5345"/>
              </a:solidFill>
              <a:latin typeface="华文中宋" panose="02010600040101010101" charset="-122"/>
              <a:ea typeface="华文中宋" panose="02010600040101010101" charset="-122"/>
            </a:endParaRPr>
          </a:p>
          <a:p>
            <a:pPr>
              <a:lnSpc>
                <a:spcPts val="16680"/>
              </a:lnSpc>
            </a:pPr>
            <a:r>
              <a:rPr lang="en-US" altLang="zh-CN" sz="4400" spc="1292">
                <a:solidFill>
                  <a:srgbClr val="3B5345"/>
                </a:solidFill>
                <a:latin typeface="华文中宋" panose="02010600040101010101" charset="-122"/>
                <a:ea typeface="华文中宋" panose="02010600040101010101" charset="-122"/>
              </a:rPr>
              <a:t>——</a:t>
            </a:r>
            <a:r>
              <a:rPr lang="zh-CN" altLang="en-US" sz="4400" spc="1292">
                <a:solidFill>
                  <a:srgbClr val="3B5345"/>
                </a:solidFill>
                <a:latin typeface="华文中宋" panose="02010600040101010101" charset="-122"/>
                <a:ea typeface="华文中宋" panose="02010600040101010101" charset="-122"/>
              </a:rPr>
              <a:t>论文解读与系统实现</a:t>
            </a:r>
            <a:endParaRPr lang="zh-CN" altLang="en-US" sz="4400" spc="1292">
              <a:solidFill>
                <a:srgbClr val="3B5345"/>
              </a:solidFill>
              <a:latin typeface="华文中宋" panose="02010600040101010101" charset="-122"/>
              <a:ea typeface="华文中宋" panose="02010600040101010101" charset="-122"/>
            </a:endParaRPr>
          </a:p>
        </p:txBody>
      </p:sp>
      <p:sp>
        <p:nvSpPr>
          <p:cNvPr id="33" name="TextBox 33"/>
          <p:cNvSpPr txBox="1"/>
          <p:nvPr/>
        </p:nvSpPr>
        <p:spPr>
          <a:xfrm>
            <a:off x="10390370" y="2509273"/>
            <a:ext cx="4544416" cy="8477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6720"/>
              </a:lnSpc>
            </a:pPr>
            <a:r>
              <a:rPr lang="en-US" sz="5600" spc="1024">
                <a:solidFill>
                  <a:srgbClr val="121212"/>
                </a:solidFill>
                <a:latin typeface="Chakra Petch" panose="00000500000000000000"/>
              </a:rPr>
              <a:t>BUPT</a:t>
            </a:r>
            <a:endParaRPr lang="en-US" sz="5600" spc="1024">
              <a:solidFill>
                <a:srgbClr val="121212"/>
              </a:solidFill>
              <a:latin typeface="Chakra Petch" panose="00000500000000000000"/>
            </a:endParaRPr>
          </a:p>
        </p:txBody>
      </p:sp>
      <p:sp>
        <p:nvSpPr>
          <p:cNvPr id="34" name="TextBox 34"/>
          <p:cNvSpPr txBox="1"/>
          <p:nvPr/>
        </p:nvSpPr>
        <p:spPr>
          <a:xfrm>
            <a:off x="2309215" y="1562165"/>
            <a:ext cx="7863721" cy="205227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16085"/>
              </a:lnSpc>
            </a:pPr>
            <a:r>
              <a:rPr lang="en-US" sz="13405" spc="1809">
                <a:solidFill>
                  <a:srgbClr val="41624D"/>
                </a:solidFill>
                <a:ea typeface="华文中宋" panose="02010600040101010101" charset="-122"/>
              </a:rPr>
              <a:t>北邮</a:t>
            </a:r>
            <a:endParaRPr lang="en-US" sz="13405" spc="1809">
              <a:solidFill>
                <a:srgbClr val="41624D"/>
              </a:solidFill>
              <a:ea typeface="华文中宋" panose="02010600040101010101" charset="-122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D1D5B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078580" y="1138069"/>
            <a:ext cx="15916463" cy="8010861"/>
            <a:chOff x="0" y="0"/>
            <a:chExt cx="4191990" cy="2109856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4191990" cy="2109856"/>
            </a:xfrm>
            <a:custGeom>
              <a:avLst/>
              <a:gdLst/>
              <a:ahLst/>
              <a:cxnLst/>
              <a:rect l="l" t="t" r="r" b="b"/>
              <a:pathLst>
                <a:path w="4191990" h="2109856">
                  <a:moveTo>
                    <a:pt x="0" y="0"/>
                  </a:moveTo>
                  <a:lnTo>
                    <a:pt x="4191990" y="0"/>
                  </a:lnTo>
                  <a:lnTo>
                    <a:pt x="4191990" y="2109856"/>
                  </a:lnTo>
                  <a:lnTo>
                    <a:pt x="0" y="2109856"/>
                  </a:lnTo>
                  <a:close/>
                </a:path>
              </a:pathLst>
            </a:custGeom>
            <a:solidFill>
              <a:srgbClr val="F5FAF4"/>
            </a:solidFill>
            <a:ln cap="sq">
              <a:noFill/>
              <a:prstDash val="solid"/>
              <a:miter/>
            </a:ln>
          </p:spPr>
        </p:sp>
        <p:sp>
          <p:nvSpPr>
            <p:cNvPr id="4" name="TextBox 4"/>
            <p:cNvSpPr txBox="1"/>
            <p:nvPr/>
          </p:nvSpPr>
          <p:spPr>
            <a:xfrm>
              <a:off x="0" y="-28575"/>
              <a:ext cx="4191990" cy="213843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660"/>
                </a:lnSpc>
                <a:spcBef>
                  <a:spcPct val="0"/>
                </a:spcBef>
              </a:pPr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1078580" y="1138069"/>
            <a:ext cx="16038423" cy="7999163"/>
            <a:chOff x="0" y="0"/>
            <a:chExt cx="21384564" cy="10665551"/>
          </a:xfrm>
        </p:grpSpPr>
        <p:sp>
          <p:nvSpPr>
            <p:cNvPr id="6" name="Freeform 6"/>
            <p:cNvSpPr/>
            <p:nvPr/>
          </p:nvSpPr>
          <p:spPr>
            <a:xfrm>
              <a:off x="10692282" y="0"/>
              <a:ext cx="10692282" cy="10665551"/>
            </a:xfrm>
            <a:custGeom>
              <a:avLst/>
              <a:gdLst/>
              <a:ahLst/>
              <a:cxnLst/>
              <a:rect l="l" t="t" r="r" b="b"/>
              <a:pathLst>
                <a:path w="10692282" h="10665551">
                  <a:moveTo>
                    <a:pt x="0" y="0"/>
                  </a:moveTo>
                  <a:lnTo>
                    <a:pt x="10692282" y="0"/>
                  </a:lnTo>
                  <a:lnTo>
                    <a:pt x="10692282" y="10665551"/>
                  </a:lnTo>
                  <a:lnTo>
                    <a:pt x="0" y="1066555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">
                <a:alphaModFix amt="6999"/>
                <a:extLst>
                  <a:ext uri="{96DAC541-7B7A-43D3-8B79-37D633B846F1}">
                    <asvg:svgBlip xmlns:asvg="http://schemas.microsoft.com/office/drawing/2016/SVG/main" r:embed="rId2"/>
                  </a:ext>
                </a:extLst>
              </a:blip>
              <a:stretch>
                <a:fillRect/>
              </a:stretch>
            </a:blipFill>
          </p:spPr>
        </p:sp>
        <p:sp>
          <p:nvSpPr>
            <p:cNvPr id="7" name="Freeform 7"/>
            <p:cNvSpPr/>
            <p:nvPr/>
          </p:nvSpPr>
          <p:spPr>
            <a:xfrm>
              <a:off x="0" y="0"/>
              <a:ext cx="10692282" cy="10665551"/>
            </a:xfrm>
            <a:custGeom>
              <a:avLst/>
              <a:gdLst/>
              <a:ahLst/>
              <a:cxnLst/>
              <a:rect l="l" t="t" r="r" b="b"/>
              <a:pathLst>
                <a:path w="10692282" h="10665551">
                  <a:moveTo>
                    <a:pt x="0" y="0"/>
                  </a:moveTo>
                  <a:lnTo>
                    <a:pt x="10692282" y="0"/>
                  </a:lnTo>
                  <a:lnTo>
                    <a:pt x="10692282" y="10665551"/>
                  </a:lnTo>
                  <a:lnTo>
                    <a:pt x="0" y="1066555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">
                <a:alphaModFix amt="6999"/>
                <a:extLst>
                  <a:ext uri="{96DAC541-7B7A-43D3-8B79-37D633B846F1}">
                    <asvg:svgBlip xmlns:asvg="http://schemas.microsoft.com/office/drawing/2016/SVG/main" r:embed="rId2"/>
                  </a:ext>
                </a:extLst>
              </a:blip>
              <a:stretch>
                <a:fillRect/>
              </a:stretch>
            </a:blipFill>
            <a:ln cap="sq">
              <a:noFill/>
              <a:prstDash val="solid"/>
              <a:miter/>
            </a:ln>
          </p:spPr>
        </p:sp>
      </p:grpSp>
      <p:sp>
        <p:nvSpPr>
          <p:cNvPr id="8" name="TextBox 8"/>
          <p:cNvSpPr txBox="1"/>
          <p:nvPr/>
        </p:nvSpPr>
        <p:spPr>
          <a:xfrm>
            <a:off x="5243781" y="2926299"/>
            <a:ext cx="3793031" cy="48133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>
              <a:lnSpc>
                <a:spcPts val="3920"/>
              </a:lnSpc>
              <a:spcBef>
                <a:spcPct val="0"/>
              </a:spcBef>
            </a:pPr>
            <a:r>
              <a:rPr lang="en-US" sz="2800" spc="722">
                <a:solidFill>
                  <a:srgbClr val="343333"/>
                </a:solidFill>
                <a:latin typeface="Chakra Petch" panose="00000500000000000000"/>
              </a:rPr>
              <a:t>CONTENTS</a:t>
            </a:r>
            <a:endParaRPr lang="en-US" sz="2800" spc="722">
              <a:solidFill>
                <a:srgbClr val="343333"/>
              </a:solidFill>
              <a:latin typeface="Chakra Petch" panose="00000500000000000000"/>
            </a:endParaRPr>
          </a:p>
        </p:txBody>
      </p:sp>
      <p:sp>
        <p:nvSpPr>
          <p:cNvPr id="9" name="TextBox 9"/>
          <p:cNvSpPr txBox="1"/>
          <p:nvPr/>
        </p:nvSpPr>
        <p:spPr>
          <a:xfrm>
            <a:off x="2522659" y="1763429"/>
            <a:ext cx="3091300" cy="17489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14440"/>
              </a:lnSpc>
            </a:pPr>
            <a:r>
              <a:rPr lang="en-US" sz="9625" spc="981">
                <a:solidFill>
                  <a:srgbClr val="41624D"/>
                </a:solidFill>
                <a:ea typeface="华文中宋" panose="02010600040101010101" charset="-122"/>
              </a:rPr>
              <a:t>目录</a:t>
            </a:r>
            <a:endParaRPr lang="en-US" sz="9625" spc="981">
              <a:solidFill>
                <a:srgbClr val="41624D"/>
              </a:solidFill>
              <a:ea typeface="华文中宋" panose="02010600040101010101" charset="-122"/>
            </a:endParaRPr>
          </a:p>
        </p:txBody>
      </p:sp>
      <p:sp>
        <p:nvSpPr>
          <p:cNvPr id="10" name="TextBox 10"/>
          <p:cNvSpPr txBox="1"/>
          <p:nvPr>
            <p:custDataLst>
              <p:tags r:id="rId3"/>
            </p:custDataLst>
          </p:nvPr>
        </p:nvSpPr>
        <p:spPr>
          <a:xfrm>
            <a:off x="4358851" y="4521449"/>
            <a:ext cx="2427315" cy="64579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>
              <a:lnSpc>
                <a:spcPts val="5040"/>
              </a:lnSpc>
              <a:spcBef>
                <a:spcPct val="0"/>
              </a:spcBef>
            </a:pPr>
            <a:r>
              <a:rPr lang="zh-CN" altLang="en-US" sz="3600" spc="201">
                <a:solidFill>
                  <a:srgbClr val="292828"/>
                </a:solidFill>
                <a:ea typeface="华文中宋" panose="02010600040101010101" charset="-122"/>
                <a:sym typeface="+mn-ea"/>
              </a:rPr>
              <a:t>论文简介</a:t>
            </a:r>
            <a:endParaRPr lang="zh-CN" altLang="en-US" sz="3600" spc="201">
              <a:solidFill>
                <a:srgbClr val="292828"/>
              </a:solidFill>
              <a:ea typeface="华文中宋" panose="02010600040101010101" charset="-122"/>
            </a:endParaRPr>
          </a:p>
        </p:txBody>
      </p:sp>
      <p:sp>
        <p:nvSpPr>
          <p:cNvPr id="11" name="TextBox 11"/>
          <p:cNvSpPr txBox="1"/>
          <p:nvPr>
            <p:custDataLst>
              <p:tags r:id="rId4"/>
            </p:custDataLst>
          </p:nvPr>
        </p:nvSpPr>
        <p:spPr>
          <a:xfrm>
            <a:off x="4358640" y="6537960"/>
            <a:ext cx="3087370" cy="129222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>
              <a:lnSpc>
                <a:spcPts val="5040"/>
              </a:lnSpc>
              <a:spcBef>
                <a:spcPct val="0"/>
              </a:spcBef>
            </a:pPr>
            <a:r>
              <a:rPr lang="zh-CN" altLang="en-US" sz="3600" spc="201">
                <a:solidFill>
                  <a:srgbClr val="292828"/>
                </a:solidFill>
                <a:ea typeface="华文中宋" panose="02010600040101010101" charset="-122"/>
                <a:sym typeface="+mn-ea"/>
              </a:rPr>
              <a:t>协议介绍</a:t>
            </a:r>
            <a:endParaRPr lang="zh-CN" altLang="en-US" sz="3600" spc="201">
              <a:solidFill>
                <a:srgbClr val="292828"/>
              </a:solidFill>
              <a:ea typeface="华文中宋" panose="02010600040101010101" charset="-122"/>
            </a:endParaRPr>
          </a:p>
          <a:p>
            <a:pPr marL="0" lvl="0" indent="0">
              <a:lnSpc>
                <a:spcPts val="5040"/>
              </a:lnSpc>
              <a:spcBef>
                <a:spcPct val="0"/>
              </a:spcBef>
            </a:pPr>
            <a:endParaRPr lang="zh-CN" altLang="en-US" sz="3600" spc="201">
              <a:solidFill>
                <a:srgbClr val="292828"/>
              </a:solidFill>
              <a:ea typeface="华文中宋" panose="02010600040101010101" charset="-122"/>
            </a:endParaRPr>
          </a:p>
        </p:txBody>
      </p:sp>
      <p:sp>
        <p:nvSpPr>
          <p:cNvPr id="12" name="TextBox 12"/>
          <p:cNvSpPr txBox="1"/>
          <p:nvPr>
            <p:custDataLst>
              <p:tags r:id="rId5"/>
            </p:custDataLst>
          </p:nvPr>
        </p:nvSpPr>
        <p:spPr>
          <a:xfrm>
            <a:off x="10989845" y="4521449"/>
            <a:ext cx="2427315" cy="64579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>
              <a:lnSpc>
                <a:spcPts val="5040"/>
              </a:lnSpc>
              <a:spcBef>
                <a:spcPct val="0"/>
              </a:spcBef>
            </a:pPr>
            <a:r>
              <a:rPr lang="zh-CN" altLang="en-US" sz="3600" spc="201">
                <a:solidFill>
                  <a:srgbClr val="292828"/>
                </a:solidFill>
                <a:ea typeface="华文中宋" panose="02010600040101010101" charset="-122"/>
                <a:sym typeface="+mn-ea"/>
              </a:rPr>
              <a:t>前置知识</a:t>
            </a:r>
            <a:endParaRPr lang="zh-CN" altLang="en-US" sz="3600" spc="201">
              <a:solidFill>
                <a:srgbClr val="292828"/>
              </a:solidFill>
              <a:ea typeface="华文中宋" panose="02010600040101010101" charset="-122"/>
            </a:endParaRPr>
          </a:p>
        </p:txBody>
      </p:sp>
      <p:sp>
        <p:nvSpPr>
          <p:cNvPr id="13" name="TextBox 13"/>
          <p:cNvSpPr txBox="1"/>
          <p:nvPr>
            <p:custDataLst>
              <p:tags r:id="rId6"/>
            </p:custDataLst>
          </p:nvPr>
        </p:nvSpPr>
        <p:spPr>
          <a:xfrm>
            <a:off x="10989945" y="6537960"/>
            <a:ext cx="3254375" cy="64579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>
              <a:lnSpc>
                <a:spcPts val="5040"/>
              </a:lnSpc>
              <a:spcBef>
                <a:spcPct val="0"/>
              </a:spcBef>
            </a:pPr>
            <a:r>
              <a:rPr lang="zh-CN" altLang="en-US" sz="3600" spc="201">
                <a:solidFill>
                  <a:srgbClr val="292828"/>
                </a:solidFill>
                <a:ea typeface="华文中宋" panose="02010600040101010101" charset="-122"/>
                <a:sym typeface="+mn-ea"/>
              </a:rPr>
              <a:t>投票平台演示</a:t>
            </a:r>
            <a:endParaRPr lang="zh-CN" altLang="en-US" sz="3600" spc="201">
              <a:solidFill>
                <a:srgbClr val="292828"/>
              </a:solidFill>
              <a:ea typeface="华文中宋" panose="02010600040101010101" charset="-122"/>
            </a:endParaRPr>
          </a:p>
        </p:txBody>
      </p:sp>
      <p:sp>
        <p:nvSpPr>
          <p:cNvPr id="14" name="TextBox 14"/>
          <p:cNvSpPr txBox="1"/>
          <p:nvPr>
            <p:custDataLst>
              <p:tags r:id="rId7"/>
            </p:custDataLst>
          </p:nvPr>
        </p:nvSpPr>
        <p:spPr>
          <a:xfrm>
            <a:off x="4379938" y="5120440"/>
            <a:ext cx="4491685" cy="43053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3360"/>
              </a:lnSpc>
              <a:spcBef>
                <a:spcPct val="0"/>
              </a:spcBef>
            </a:pPr>
            <a:r>
              <a:rPr lang="en-US" altLang="zh-CN" sz="2400" spc="216">
                <a:solidFill>
                  <a:srgbClr val="292828"/>
                </a:solidFill>
                <a:latin typeface="Chakra Petch" panose="00000500000000000000"/>
              </a:rPr>
              <a:t>Paper Introduction</a:t>
            </a:r>
            <a:endParaRPr lang="en-US" altLang="zh-CN" sz="2400" spc="216">
              <a:solidFill>
                <a:srgbClr val="292828"/>
              </a:solidFill>
              <a:latin typeface="Chakra Petch" panose="00000500000000000000"/>
            </a:endParaRPr>
          </a:p>
        </p:txBody>
      </p:sp>
      <p:sp>
        <p:nvSpPr>
          <p:cNvPr id="15" name="TextBox 15"/>
          <p:cNvSpPr txBox="1"/>
          <p:nvPr>
            <p:custDataLst>
              <p:tags r:id="rId8"/>
            </p:custDataLst>
          </p:nvPr>
        </p:nvSpPr>
        <p:spPr>
          <a:xfrm>
            <a:off x="4379938" y="7136835"/>
            <a:ext cx="4348031" cy="43053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3360"/>
              </a:lnSpc>
              <a:spcBef>
                <a:spcPct val="0"/>
              </a:spcBef>
            </a:pPr>
            <a:r>
              <a:rPr lang="en-US" altLang="zh-CN" sz="2400" spc="216">
                <a:solidFill>
                  <a:srgbClr val="292828"/>
                </a:solidFill>
                <a:latin typeface="Chakra Petch" panose="00000500000000000000"/>
              </a:rPr>
              <a:t>Protocol Description</a:t>
            </a:r>
            <a:endParaRPr lang="en-US" altLang="zh-CN" sz="2400" spc="216">
              <a:solidFill>
                <a:srgbClr val="292828"/>
              </a:solidFill>
              <a:latin typeface="Chakra Petch" panose="00000500000000000000"/>
            </a:endParaRPr>
          </a:p>
        </p:txBody>
      </p:sp>
      <p:sp>
        <p:nvSpPr>
          <p:cNvPr id="16" name="TextBox 16"/>
          <p:cNvSpPr txBox="1"/>
          <p:nvPr>
            <p:custDataLst>
              <p:tags r:id="rId9"/>
            </p:custDataLst>
          </p:nvPr>
        </p:nvSpPr>
        <p:spPr>
          <a:xfrm>
            <a:off x="11010932" y="5120440"/>
            <a:ext cx="4348031" cy="43053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3360"/>
              </a:lnSpc>
              <a:spcBef>
                <a:spcPct val="0"/>
              </a:spcBef>
            </a:pPr>
            <a:r>
              <a:rPr lang="en-US" altLang="zh-CN" sz="2400" spc="216">
                <a:solidFill>
                  <a:srgbClr val="292828"/>
                </a:solidFill>
                <a:latin typeface="Chakra Petch" panose="00000500000000000000"/>
              </a:rPr>
              <a:t>Prerequisite Knowledge</a:t>
            </a:r>
            <a:endParaRPr lang="en-US" altLang="zh-CN" sz="2400" spc="216">
              <a:solidFill>
                <a:srgbClr val="292828"/>
              </a:solidFill>
              <a:latin typeface="Chakra Petch" panose="00000500000000000000"/>
            </a:endParaRPr>
          </a:p>
        </p:txBody>
      </p:sp>
      <p:sp>
        <p:nvSpPr>
          <p:cNvPr id="17" name="TextBox 17"/>
          <p:cNvSpPr txBox="1"/>
          <p:nvPr>
            <p:custDataLst>
              <p:tags r:id="rId10"/>
            </p:custDataLst>
          </p:nvPr>
        </p:nvSpPr>
        <p:spPr>
          <a:xfrm>
            <a:off x="11010932" y="7136835"/>
            <a:ext cx="5145337" cy="43053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3360"/>
              </a:lnSpc>
              <a:spcBef>
                <a:spcPct val="0"/>
              </a:spcBef>
            </a:pPr>
            <a:r>
              <a:rPr lang="en-US" altLang="zh-CN" sz="2400" spc="216">
                <a:solidFill>
                  <a:srgbClr val="292828"/>
                </a:solidFill>
                <a:latin typeface="Chakra Petch" panose="00000500000000000000"/>
              </a:rPr>
              <a:t>Voting Platform Demo</a:t>
            </a:r>
            <a:endParaRPr lang="en-US" altLang="zh-CN" sz="2400" spc="216">
              <a:solidFill>
                <a:srgbClr val="292828"/>
              </a:solidFill>
              <a:latin typeface="Chakra Petch" panose="00000500000000000000"/>
            </a:endParaRPr>
          </a:p>
        </p:txBody>
      </p:sp>
      <p:sp>
        <p:nvSpPr>
          <p:cNvPr id="18" name="TextBox 18"/>
          <p:cNvSpPr txBox="1"/>
          <p:nvPr>
            <p:custDataLst>
              <p:tags r:id="rId11"/>
            </p:custDataLst>
          </p:nvPr>
        </p:nvSpPr>
        <p:spPr>
          <a:xfrm>
            <a:off x="2557370" y="4236304"/>
            <a:ext cx="1921374" cy="150197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12235"/>
              </a:lnSpc>
            </a:pPr>
            <a:r>
              <a:rPr lang="en-US" sz="8740" spc="926">
                <a:solidFill>
                  <a:srgbClr val="41624D"/>
                </a:solidFill>
                <a:latin typeface="Chakra Petch Bold" panose="00000800000000000000"/>
              </a:rPr>
              <a:t>01</a:t>
            </a:r>
            <a:endParaRPr lang="en-US" sz="8740" spc="926">
              <a:solidFill>
                <a:srgbClr val="41624D"/>
              </a:solidFill>
              <a:latin typeface="Chakra Petch Bold" panose="00000800000000000000"/>
            </a:endParaRPr>
          </a:p>
        </p:txBody>
      </p:sp>
      <p:sp>
        <p:nvSpPr>
          <p:cNvPr id="19" name="TextBox 19"/>
          <p:cNvSpPr txBox="1"/>
          <p:nvPr>
            <p:custDataLst>
              <p:tags r:id="rId12"/>
            </p:custDataLst>
          </p:nvPr>
        </p:nvSpPr>
        <p:spPr>
          <a:xfrm>
            <a:off x="2557370" y="6252699"/>
            <a:ext cx="1921374" cy="150197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12235"/>
              </a:lnSpc>
            </a:pPr>
            <a:r>
              <a:rPr lang="en-US" sz="8740" spc="926">
                <a:solidFill>
                  <a:srgbClr val="41624D"/>
                </a:solidFill>
                <a:latin typeface="Chakra Petch Bold" panose="00000800000000000000"/>
              </a:rPr>
              <a:t>03</a:t>
            </a:r>
            <a:endParaRPr lang="en-US" sz="8740" spc="926">
              <a:solidFill>
                <a:srgbClr val="41624D"/>
              </a:solidFill>
              <a:latin typeface="Chakra Petch Bold" panose="00000800000000000000"/>
            </a:endParaRPr>
          </a:p>
        </p:txBody>
      </p:sp>
      <p:sp>
        <p:nvSpPr>
          <p:cNvPr id="20" name="TextBox 20"/>
          <p:cNvSpPr txBox="1"/>
          <p:nvPr>
            <p:custDataLst>
              <p:tags r:id="rId13"/>
            </p:custDataLst>
          </p:nvPr>
        </p:nvSpPr>
        <p:spPr>
          <a:xfrm>
            <a:off x="9093330" y="4236304"/>
            <a:ext cx="1921374" cy="150197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12235"/>
              </a:lnSpc>
            </a:pPr>
            <a:r>
              <a:rPr lang="en-US" sz="8740" spc="926">
                <a:solidFill>
                  <a:srgbClr val="41624D"/>
                </a:solidFill>
                <a:latin typeface="Chakra Petch Bold" panose="00000800000000000000"/>
              </a:rPr>
              <a:t>02</a:t>
            </a:r>
            <a:endParaRPr lang="en-US" sz="8740" spc="926">
              <a:solidFill>
                <a:srgbClr val="41624D"/>
              </a:solidFill>
              <a:latin typeface="Chakra Petch Bold" panose="00000800000000000000"/>
            </a:endParaRPr>
          </a:p>
        </p:txBody>
      </p:sp>
      <p:sp>
        <p:nvSpPr>
          <p:cNvPr id="21" name="TextBox 21"/>
          <p:cNvSpPr txBox="1"/>
          <p:nvPr>
            <p:custDataLst>
              <p:tags r:id="rId14"/>
            </p:custDataLst>
          </p:nvPr>
        </p:nvSpPr>
        <p:spPr>
          <a:xfrm>
            <a:off x="9093330" y="6252699"/>
            <a:ext cx="1921374" cy="150197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12235"/>
              </a:lnSpc>
            </a:pPr>
            <a:r>
              <a:rPr lang="en-US" sz="8740" spc="926">
                <a:solidFill>
                  <a:srgbClr val="41624D"/>
                </a:solidFill>
                <a:latin typeface="Chakra Petch Bold" panose="00000800000000000000"/>
              </a:rPr>
              <a:t>04</a:t>
            </a:r>
            <a:endParaRPr lang="en-US" sz="8740" spc="926">
              <a:solidFill>
                <a:srgbClr val="41624D"/>
              </a:solidFill>
              <a:latin typeface="Chakra Petch Bold" panose="00000800000000000000"/>
            </a:endParaRPr>
          </a:p>
        </p:txBody>
      </p:sp>
      <p:grpSp>
        <p:nvGrpSpPr>
          <p:cNvPr id="22" name="Group 22"/>
          <p:cNvGrpSpPr/>
          <p:nvPr/>
        </p:nvGrpSpPr>
        <p:grpSpPr>
          <a:xfrm>
            <a:off x="8016441" y="3110338"/>
            <a:ext cx="7836341" cy="259929"/>
            <a:chOff x="0" y="0"/>
            <a:chExt cx="2063892" cy="68459"/>
          </a:xfrm>
        </p:grpSpPr>
        <p:sp>
          <p:nvSpPr>
            <p:cNvPr id="23" name="Freeform 23"/>
            <p:cNvSpPr/>
            <p:nvPr/>
          </p:nvSpPr>
          <p:spPr>
            <a:xfrm>
              <a:off x="0" y="0"/>
              <a:ext cx="2063892" cy="68459"/>
            </a:xfrm>
            <a:custGeom>
              <a:avLst/>
              <a:gdLst/>
              <a:ahLst/>
              <a:cxnLst/>
              <a:rect l="l" t="t" r="r" b="b"/>
              <a:pathLst>
                <a:path w="2063892" h="68459">
                  <a:moveTo>
                    <a:pt x="34229" y="0"/>
                  </a:moveTo>
                  <a:lnTo>
                    <a:pt x="2029663" y="0"/>
                  </a:lnTo>
                  <a:cubicBezTo>
                    <a:pt x="2048567" y="0"/>
                    <a:pt x="2063892" y="15325"/>
                    <a:pt x="2063892" y="34229"/>
                  </a:cubicBezTo>
                  <a:lnTo>
                    <a:pt x="2063892" y="34229"/>
                  </a:lnTo>
                  <a:cubicBezTo>
                    <a:pt x="2063892" y="43307"/>
                    <a:pt x="2060286" y="52014"/>
                    <a:pt x="2053867" y="58433"/>
                  </a:cubicBezTo>
                  <a:cubicBezTo>
                    <a:pt x="2047448" y="64852"/>
                    <a:pt x="2038741" y="68459"/>
                    <a:pt x="2029663" y="68459"/>
                  </a:cubicBezTo>
                  <a:lnTo>
                    <a:pt x="34229" y="68459"/>
                  </a:lnTo>
                  <a:cubicBezTo>
                    <a:pt x="15325" y="68459"/>
                    <a:pt x="0" y="53134"/>
                    <a:pt x="0" y="34229"/>
                  </a:cubicBezTo>
                  <a:lnTo>
                    <a:pt x="0" y="34229"/>
                  </a:lnTo>
                  <a:cubicBezTo>
                    <a:pt x="0" y="15325"/>
                    <a:pt x="15325" y="0"/>
                    <a:pt x="34229" y="0"/>
                  </a:cubicBezTo>
                  <a:close/>
                </a:path>
              </a:pathLst>
            </a:custGeom>
            <a:solidFill>
              <a:srgbClr val="41624D"/>
            </a:solidFill>
          </p:spPr>
        </p:sp>
        <p:sp>
          <p:nvSpPr>
            <p:cNvPr id="24" name="TextBox 24"/>
            <p:cNvSpPr txBox="1"/>
            <p:nvPr/>
          </p:nvSpPr>
          <p:spPr>
            <a:xfrm>
              <a:off x="0" y="-47625"/>
              <a:ext cx="2063892" cy="11608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895"/>
                </a:lnSpc>
              </a:pPr>
            </a:p>
          </p:txBody>
        </p:sp>
      </p:grpSp>
      <p:grpSp>
        <p:nvGrpSpPr>
          <p:cNvPr id="25" name="Group 25"/>
          <p:cNvGrpSpPr/>
          <p:nvPr/>
        </p:nvGrpSpPr>
        <p:grpSpPr>
          <a:xfrm>
            <a:off x="-9525" y="-212708"/>
            <a:ext cx="1423091" cy="10984331"/>
            <a:chOff x="0" y="0"/>
            <a:chExt cx="374806" cy="2892992"/>
          </a:xfrm>
        </p:grpSpPr>
        <p:sp>
          <p:nvSpPr>
            <p:cNvPr id="26" name="Freeform 26"/>
            <p:cNvSpPr/>
            <p:nvPr/>
          </p:nvSpPr>
          <p:spPr>
            <a:xfrm>
              <a:off x="0" y="0"/>
              <a:ext cx="374806" cy="2892992"/>
            </a:xfrm>
            <a:custGeom>
              <a:avLst/>
              <a:gdLst/>
              <a:ahLst/>
              <a:cxnLst/>
              <a:rect l="l" t="t" r="r" b="b"/>
              <a:pathLst>
                <a:path w="374806" h="2892992">
                  <a:moveTo>
                    <a:pt x="0" y="0"/>
                  </a:moveTo>
                  <a:lnTo>
                    <a:pt x="374806" y="0"/>
                  </a:lnTo>
                  <a:lnTo>
                    <a:pt x="374806" y="2892992"/>
                  </a:lnTo>
                  <a:lnTo>
                    <a:pt x="0" y="2892992"/>
                  </a:lnTo>
                  <a:close/>
                </a:path>
              </a:pathLst>
            </a:custGeom>
            <a:solidFill>
              <a:srgbClr val="41624D"/>
            </a:solidFill>
          </p:spPr>
        </p:sp>
        <p:sp>
          <p:nvSpPr>
            <p:cNvPr id="27" name="TextBox 27"/>
            <p:cNvSpPr txBox="1"/>
            <p:nvPr/>
          </p:nvSpPr>
          <p:spPr>
            <a:xfrm>
              <a:off x="0" y="-28575"/>
              <a:ext cx="374806" cy="292156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60"/>
                </a:lnSpc>
                <a:spcBef>
                  <a:spcPct val="0"/>
                </a:spcBef>
              </a:pPr>
            </a:p>
          </p:txBody>
        </p:sp>
      </p:grpSp>
      <p:grpSp>
        <p:nvGrpSpPr>
          <p:cNvPr id="28" name="Group 28"/>
          <p:cNvGrpSpPr/>
          <p:nvPr/>
        </p:nvGrpSpPr>
        <p:grpSpPr>
          <a:xfrm>
            <a:off x="16864909" y="-212708"/>
            <a:ext cx="1423091" cy="10984331"/>
            <a:chOff x="0" y="0"/>
            <a:chExt cx="374806" cy="2892992"/>
          </a:xfrm>
        </p:grpSpPr>
        <p:sp>
          <p:nvSpPr>
            <p:cNvPr id="29" name="Freeform 29"/>
            <p:cNvSpPr/>
            <p:nvPr/>
          </p:nvSpPr>
          <p:spPr>
            <a:xfrm>
              <a:off x="0" y="0"/>
              <a:ext cx="374806" cy="2892992"/>
            </a:xfrm>
            <a:custGeom>
              <a:avLst/>
              <a:gdLst/>
              <a:ahLst/>
              <a:cxnLst/>
              <a:rect l="l" t="t" r="r" b="b"/>
              <a:pathLst>
                <a:path w="374806" h="2892992">
                  <a:moveTo>
                    <a:pt x="0" y="0"/>
                  </a:moveTo>
                  <a:lnTo>
                    <a:pt x="374806" y="0"/>
                  </a:lnTo>
                  <a:lnTo>
                    <a:pt x="374806" y="2892992"/>
                  </a:lnTo>
                  <a:lnTo>
                    <a:pt x="0" y="2892992"/>
                  </a:lnTo>
                  <a:close/>
                </a:path>
              </a:pathLst>
            </a:custGeom>
            <a:solidFill>
              <a:srgbClr val="41624D"/>
            </a:solidFill>
            <a:ln cap="sq">
              <a:noFill/>
              <a:prstDash val="solid"/>
              <a:miter/>
            </a:ln>
          </p:spPr>
        </p:sp>
        <p:sp>
          <p:nvSpPr>
            <p:cNvPr id="30" name="TextBox 30"/>
            <p:cNvSpPr txBox="1"/>
            <p:nvPr/>
          </p:nvSpPr>
          <p:spPr>
            <a:xfrm>
              <a:off x="0" y="-28575"/>
              <a:ext cx="374806" cy="292156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660"/>
                </a:lnSpc>
                <a:spcBef>
                  <a:spcPct val="0"/>
                </a:spcBef>
              </a:pPr>
            </a:p>
          </p:txBody>
        </p:sp>
      </p:grpSp>
      <p:grpSp>
        <p:nvGrpSpPr>
          <p:cNvPr id="34" name="Group 34"/>
          <p:cNvGrpSpPr/>
          <p:nvPr/>
        </p:nvGrpSpPr>
        <p:grpSpPr>
          <a:xfrm>
            <a:off x="17380176" y="4983658"/>
            <a:ext cx="335407" cy="319685"/>
            <a:chOff x="0" y="0"/>
            <a:chExt cx="812800" cy="774700"/>
          </a:xfrm>
        </p:grpSpPr>
        <p:sp>
          <p:nvSpPr>
            <p:cNvPr id="35" name="Freeform 35"/>
            <p:cNvSpPr/>
            <p:nvPr/>
          </p:nvSpPr>
          <p:spPr>
            <a:xfrm>
              <a:off x="0" y="0"/>
              <a:ext cx="812800" cy="774700"/>
            </a:xfrm>
            <a:custGeom>
              <a:avLst/>
              <a:gdLst/>
              <a:ahLst/>
              <a:cxnLst/>
              <a:rect l="l" t="t" r="r" b="b"/>
              <a:pathLst>
                <a:path w="812800" h="774700">
                  <a:moveTo>
                    <a:pt x="406400" y="0"/>
                  </a:moveTo>
                  <a:lnTo>
                    <a:pt x="502338" y="295909"/>
                  </a:lnTo>
                  <a:lnTo>
                    <a:pt x="812800" y="295909"/>
                  </a:lnTo>
                  <a:lnTo>
                    <a:pt x="561631" y="478791"/>
                  </a:lnTo>
                  <a:lnTo>
                    <a:pt x="657569" y="774700"/>
                  </a:lnTo>
                  <a:lnTo>
                    <a:pt x="406400" y="591819"/>
                  </a:lnTo>
                  <a:lnTo>
                    <a:pt x="155231" y="774700"/>
                  </a:lnTo>
                  <a:lnTo>
                    <a:pt x="251169" y="478791"/>
                  </a:lnTo>
                  <a:lnTo>
                    <a:pt x="0" y="295909"/>
                  </a:lnTo>
                  <a:lnTo>
                    <a:pt x="310462" y="295909"/>
                  </a:lnTo>
                  <a:lnTo>
                    <a:pt x="406400" y="0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id="36" name="TextBox 36"/>
            <p:cNvSpPr txBox="1"/>
            <p:nvPr/>
          </p:nvSpPr>
          <p:spPr>
            <a:xfrm>
              <a:off x="228600" y="219075"/>
              <a:ext cx="355600" cy="3905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895"/>
                </a:lnSpc>
              </a:pPr>
            </a:p>
          </p:txBody>
        </p:sp>
      </p:grpSp>
      <p:sp>
        <p:nvSpPr>
          <p:cNvPr id="41" name="Freeform 30"/>
          <p:cNvSpPr/>
          <p:nvPr/>
        </p:nvSpPr>
        <p:spPr>
          <a:xfrm rot="5400000">
            <a:off x="-3984375" y="4593346"/>
            <a:ext cx="9411340" cy="1014660"/>
          </a:xfrm>
          <a:custGeom>
            <a:avLst/>
            <a:gdLst/>
            <a:ahLst/>
            <a:cxnLst/>
            <a:rect l="l" t="t" r="r" b="b"/>
            <a:pathLst>
              <a:path w="9411340" h="1014660">
                <a:moveTo>
                  <a:pt x="0" y="0"/>
                </a:moveTo>
                <a:lnTo>
                  <a:pt x="9411340" y="0"/>
                </a:lnTo>
                <a:lnTo>
                  <a:pt x="9411340" y="1014660"/>
                </a:lnTo>
                <a:lnTo>
                  <a:pt x="0" y="1014660"/>
                </a:lnTo>
                <a:lnTo>
                  <a:pt x="0" y="0"/>
                </a:lnTo>
                <a:close/>
              </a:path>
            </a:pathLst>
          </a:custGeom>
          <a:blipFill>
            <a:blip r:embed="rId15"/>
            <a:stretch>
              <a:fillRect/>
            </a:stretch>
          </a:blipFill>
        </p:spPr>
      </p:sp>
      <p:sp>
        <p:nvSpPr>
          <p:cNvPr id="42" name="Freeform 31"/>
          <p:cNvSpPr/>
          <p:nvPr/>
        </p:nvSpPr>
        <p:spPr>
          <a:xfrm>
            <a:off x="17165015" y="8632398"/>
            <a:ext cx="822879" cy="822879"/>
          </a:xfrm>
          <a:custGeom>
            <a:avLst/>
            <a:gdLst/>
            <a:ahLst/>
            <a:cxnLst/>
            <a:rect l="l" t="t" r="r" b="b"/>
            <a:pathLst>
              <a:path w="822879" h="822879">
                <a:moveTo>
                  <a:pt x="0" y="0"/>
                </a:moveTo>
                <a:lnTo>
                  <a:pt x="822879" y="0"/>
                </a:lnTo>
                <a:lnTo>
                  <a:pt x="822879" y="822879"/>
                </a:lnTo>
                <a:lnTo>
                  <a:pt x="0" y="822879"/>
                </a:lnTo>
                <a:lnTo>
                  <a:pt x="0" y="0"/>
                </a:lnTo>
                <a:close/>
              </a:path>
            </a:pathLst>
          </a:custGeom>
          <a:blipFill>
            <a:blip r:embed="rId16"/>
            <a:stretch>
              <a:fillRect/>
            </a:stretch>
          </a:blipFill>
        </p:spPr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D1D5B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078580" y="1138069"/>
            <a:ext cx="15916463" cy="8010861"/>
            <a:chOff x="0" y="0"/>
            <a:chExt cx="4191990" cy="2109856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4191990" cy="2109856"/>
            </a:xfrm>
            <a:custGeom>
              <a:avLst/>
              <a:gdLst/>
              <a:ahLst/>
              <a:cxnLst/>
              <a:rect l="l" t="t" r="r" b="b"/>
              <a:pathLst>
                <a:path w="4191990" h="2109856">
                  <a:moveTo>
                    <a:pt x="0" y="0"/>
                  </a:moveTo>
                  <a:lnTo>
                    <a:pt x="4191990" y="0"/>
                  </a:lnTo>
                  <a:lnTo>
                    <a:pt x="4191990" y="2109856"/>
                  </a:lnTo>
                  <a:lnTo>
                    <a:pt x="0" y="2109856"/>
                  </a:lnTo>
                  <a:close/>
                </a:path>
              </a:pathLst>
            </a:custGeom>
            <a:solidFill>
              <a:srgbClr val="F5FAF4"/>
            </a:solidFill>
          </p:spPr>
        </p:sp>
        <p:sp>
          <p:nvSpPr>
            <p:cNvPr id="4" name="TextBox 4"/>
            <p:cNvSpPr txBox="1"/>
            <p:nvPr/>
          </p:nvSpPr>
          <p:spPr>
            <a:xfrm>
              <a:off x="0" y="-28575"/>
              <a:ext cx="4191990" cy="213843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60"/>
                </a:lnSpc>
                <a:spcBef>
                  <a:spcPct val="0"/>
                </a:spcBef>
              </a:pPr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1078580" y="1142801"/>
            <a:ext cx="16028936" cy="7994432"/>
            <a:chOff x="0" y="0"/>
            <a:chExt cx="21371915" cy="10659242"/>
          </a:xfrm>
        </p:grpSpPr>
        <p:sp>
          <p:nvSpPr>
            <p:cNvPr id="6" name="Freeform 6"/>
            <p:cNvSpPr/>
            <p:nvPr/>
          </p:nvSpPr>
          <p:spPr>
            <a:xfrm>
              <a:off x="10685957" y="0"/>
              <a:ext cx="10685957" cy="10659242"/>
            </a:xfrm>
            <a:custGeom>
              <a:avLst/>
              <a:gdLst/>
              <a:ahLst/>
              <a:cxnLst/>
              <a:rect l="l" t="t" r="r" b="b"/>
              <a:pathLst>
                <a:path w="10685957" h="10659242">
                  <a:moveTo>
                    <a:pt x="0" y="0"/>
                  </a:moveTo>
                  <a:lnTo>
                    <a:pt x="10685958" y="0"/>
                  </a:lnTo>
                  <a:lnTo>
                    <a:pt x="10685958" y="10659242"/>
                  </a:lnTo>
                  <a:lnTo>
                    <a:pt x="0" y="1065924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">
                <a:alphaModFix amt="6999"/>
                <a:extLst>
                  <a:ext uri="{96DAC541-7B7A-43D3-8B79-37D633B846F1}">
                    <asvg:svgBlip xmlns:asvg="http://schemas.microsoft.com/office/drawing/2016/SVG/main" r:embed="rId2"/>
                  </a:ext>
                </a:extLst>
              </a:blip>
              <a:stretch>
                <a:fillRect/>
              </a:stretch>
            </a:blipFill>
          </p:spPr>
        </p:sp>
        <p:sp>
          <p:nvSpPr>
            <p:cNvPr id="7" name="Freeform 7"/>
            <p:cNvSpPr/>
            <p:nvPr/>
          </p:nvSpPr>
          <p:spPr>
            <a:xfrm>
              <a:off x="0" y="0"/>
              <a:ext cx="10685957" cy="10659242"/>
            </a:xfrm>
            <a:custGeom>
              <a:avLst/>
              <a:gdLst/>
              <a:ahLst/>
              <a:cxnLst/>
              <a:rect l="l" t="t" r="r" b="b"/>
              <a:pathLst>
                <a:path w="10685957" h="10659242">
                  <a:moveTo>
                    <a:pt x="0" y="0"/>
                  </a:moveTo>
                  <a:lnTo>
                    <a:pt x="10685957" y="0"/>
                  </a:lnTo>
                  <a:lnTo>
                    <a:pt x="10685957" y="10659242"/>
                  </a:lnTo>
                  <a:lnTo>
                    <a:pt x="0" y="1065924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">
                <a:alphaModFix amt="6999"/>
                <a:extLst>
                  <a:ext uri="{96DAC541-7B7A-43D3-8B79-37D633B846F1}">
                    <asvg:svgBlip xmlns:asvg="http://schemas.microsoft.com/office/drawing/2016/SVG/main" r:embed="rId2"/>
                  </a:ext>
                </a:extLst>
              </a:blip>
              <a:stretch>
                <a:fillRect/>
              </a:stretch>
            </a:blipFill>
            <a:ln cap="sq">
              <a:noFill/>
              <a:prstDash val="solid"/>
              <a:miter/>
            </a:ln>
          </p:spPr>
        </p:sp>
      </p:grpSp>
      <p:sp>
        <p:nvSpPr>
          <p:cNvPr id="8" name="TextBox 8"/>
          <p:cNvSpPr txBox="1"/>
          <p:nvPr/>
        </p:nvSpPr>
        <p:spPr>
          <a:xfrm>
            <a:off x="6633359" y="5547546"/>
            <a:ext cx="5538222" cy="14808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11550"/>
              </a:lnSpc>
              <a:spcBef>
                <a:spcPct val="0"/>
              </a:spcBef>
            </a:pPr>
            <a:r>
              <a:rPr lang="zh-CN" altLang="en-US" sz="7700" spc="769">
                <a:solidFill>
                  <a:srgbClr val="41624D"/>
                </a:solidFill>
                <a:ea typeface="华文中宋" panose="02010600040101010101" charset="-122"/>
              </a:rPr>
              <a:t>论文简介</a:t>
            </a:r>
            <a:endParaRPr lang="zh-CN" altLang="en-US" sz="7700" spc="769">
              <a:solidFill>
                <a:srgbClr val="41624D"/>
              </a:solidFill>
              <a:ea typeface="华文中宋" panose="02010600040101010101" charset="-122"/>
            </a:endParaRPr>
          </a:p>
        </p:txBody>
      </p:sp>
      <p:sp>
        <p:nvSpPr>
          <p:cNvPr id="9" name="TextBox 9"/>
          <p:cNvSpPr txBox="1"/>
          <p:nvPr/>
        </p:nvSpPr>
        <p:spPr>
          <a:xfrm>
            <a:off x="5166849" y="6996212"/>
            <a:ext cx="7954302" cy="64579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5040"/>
              </a:lnSpc>
              <a:spcBef>
                <a:spcPct val="0"/>
              </a:spcBef>
            </a:pPr>
            <a:r>
              <a:rPr lang="en-US" altLang="zh-CN" sz="3600" spc="928">
                <a:solidFill>
                  <a:srgbClr val="343333"/>
                </a:solidFill>
                <a:latin typeface="Chakra Petch" panose="00000500000000000000"/>
              </a:rPr>
              <a:t>Paper Introduction</a:t>
            </a:r>
            <a:endParaRPr lang="en-US" altLang="zh-CN" sz="3600" spc="928">
              <a:solidFill>
                <a:srgbClr val="343333"/>
              </a:solidFill>
              <a:latin typeface="Chakra Petch" panose="00000500000000000000"/>
            </a:endParaRPr>
          </a:p>
        </p:txBody>
      </p:sp>
      <p:sp>
        <p:nvSpPr>
          <p:cNvPr id="10" name="TextBox 10"/>
          <p:cNvSpPr txBox="1"/>
          <p:nvPr/>
        </p:nvSpPr>
        <p:spPr>
          <a:xfrm>
            <a:off x="7247802" y="2180147"/>
            <a:ext cx="3792396" cy="393061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32200"/>
              </a:lnSpc>
              <a:spcBef>
                <a:spcPct val="0"/>
              </a:spcBef>
            </a:pPr>
            <a:r>
              <a:rPr lang="en-US" sz="23000" u="none" strike="noStrike" spc="2437">
                <a:solidFill>
                  <a:srgbClr val="41624D"/>
                </a:solidFill>
                <a:latin typeface="Chakra Petch Bold" panose="00000800000000000000"/>
              </a:rPr>
              <a:t>01</a:t>
            </a:r>
            <a:endParaRPr lang="en-US" sz="23000" u="none" strike="noStrike" spc="2437">
              <a:solidFill>
                <a:srgbClr val="41624D"/>
              </a:solidFill>
              <a:latin typeface="Chakra Petch Bold" panose="00000800000000000000"/>
            </a:endParaRPr>
          </a:p>
        </p:txBody>
      </p:sp>
      <p:grpSp>
        <p:nvGrpSpPr>
          <p:cNvPr id="11" name="Group 11"/>
          <p:cNvGrpSpPr/>
          <p:nvPr/>
        </p:nvGrpSpPr>
        <p:grpSpPr>
          <a:xfrm>
            <a:off x="4533185" y="4229821"/>
            <a:ext cx="2308536" cy="259929"/>
            <a:chOff x="0" y="0"/>
            <a:chExt cx="608009" cy="68459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608009" cy="68459"/>
            </a:xfrm>
            <a:custGeom>
              <a:avLst/>
              <a:gdLst/>
              <a:ahLst/>
              <a:cxnLst/>
              <a:rect l="l" t="t" r="r" b="b"/>
              <a:pathLst>
                <a:path w="608009" h="68459">
                  <a:moveTo>
                    <a:pt x="34229" y="0"/>
                  </a:moveTo>
                  <a:lnTo>
                    <a:pt x="573780" y="0"/>
                  </a:lnTo>
                  <a:cubicBezTo>
                    <a:pt x="592684" y="0"/>
                    <a:pt x="608009" y="15325"/>
                    <a:pt x="608009" y="34229"/>
                  </a:cubicBezTo>
                  <a:lnTo>
                    <a:pt x="608009" y="34229"/>
                  </a:lnTo>
                  <a:cubicBezTo>
                    <a:pt x="608009" y="43307"/>
                    <a:pt x="604403" y="52014"/>
                    <a:pt x="597984" y="58433"/>
                  </a:cubicBezTo>
                  <a:cubicBezTo>
                    <a:pt x="591565" y="64852"/>
                    <a:pt x="582858" y="68459"/>
                    <a:pt x="573780" y="68459"/>
                  </a:cubicBezTo>
                  <a:lnTo>
                    <a:pt x="34229" y="68459"/>
                  </a:lnTo>
                  <a:cubicBezTo>
                    <a:pt x="15325" y="68459"/>
                    <a:pt x="0" y="53134"/>
                    <a:pt x="0" y="34229"/>
                  </a:cubicBezTo>
                  <a:lnTo>
                    <a:pt x="0" y="34229"/>
                  </a:lnTo>
                  <a:cubicBezTo>
                    <a:pt x="0" y="15325"/>
                    <a:pt x="15325" y="0"/>
                    <a:pt x="34229" y="0"/>
                  </a:cubicBezTo>
                  <a:close/>
                </a:path>
              </a:pathLst>
            </a:custGeom>
            <a:solidFill>
              <a:srgbClr val="41624D"/>
            </a:solidFill>
          </p:spPr>
        </p:sp>
        <p:sp>
          <p:nvSpPr>
            <p:cNvPr id="13" name="TextBox 13"/>
            <p:cNvSpPr txBox="1"/>
            <p:nvPr/>
          </p:nvSpPr>
          <p:spPr>
            <a:xfrm>
              <a:off x="0" y="-47625"/>
              <a:ext cx="608009" cy="11608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895"/>
                </a:lnSpc>
              </a:pPr>
            </a:p>
          </p:txBody>
        </p:sp>
      </p:grpSp>
      <p:grpSp>
        <p:nvGrpSpPr>
          <p:cNvPr id="14" name="Group 14"/>
          <p:cNvGrpSpPr/>
          <p:nvPr/>
        </p:nvGrpSpPr>
        <p:grpSpPr>
          <a:xfrm>
            <a:off x="11446280" y="4229821"/>
            <a:ext cx="2308536" cy="259929"/>
            <a:chOff x="0" y="0"/>
            <a:chExt cx="608009" cy="68459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608009" cy="68459"/>
            </a:xfrm>
            <a:custGeom>
              <a:avLst/>
              <a:gdLst/>
              <a:ahLst/>
              <a:cxnLst/>
              <a:rect l="l" t="t" r="r" b="b"/>
              <a:pathLst>
                <a:path w="608009" h="68459">
                  <a:moveTo>
                    <a:pt x="34229" y="0"/>
                  </a:moveTo>
                  <a:lnTo>
                    <a:pt x="573780" y="0"/>
                  </a:lnTo>
                  <a:cubicBezTo>
                    <a:pt x="592684" y="0"/>
                    <a:pt x="608009" y="15325"/>
                    <a:pt x="608009" y="34229"/>
                  </a:cubicBezTo>
                  <a:lnTo>
                    <a:pt x="608009" y="34229"/>
                  </a:lnTo>
                  <a:cubicBezTo>
                    <a:pt x="608009" y="43307"/>
                    <a:pt x="604403" y="52014"/>
                    <a:pt x="597984" y="58433"/>
                  </a:cubicBezTo>
                  <a:cubicBezTo>
                    <a:pt x="591565" y="64852"/>
                    <a:pt x="582858" y="68459"/>
                    <a:pt x="573780" y="68459"/>
                  </a:cubicBezTo>
                  <a:lnTo>
                    <a:pt x="34229" y="68459"/>
                  </a:lnTo>
                  <a:cubicBezTo>
                    <a:pt x="15325" y="68459"/>
                    <a:pt x="0" y="53134"/>
                    <a:pt x="0" y="34229"/>
                  </a:cubicBezTo>
                  <a:lnTo>
                    <a:pt x="0" y="34229"/>
                  </a:lnTo>
                  <a:cubicBezTo>
                    <a:pt x="0" y="15325"/>
                    <a:pt x="15325" y="0"/>
                    <a:pt x="34229" y="0"/>
                  </a:cubicBezTo>
                  <a:close/>
                </a:path>
              </a:pathLst>
            </a:custGeom>
            <a:solidFill>
              <a:srgbClr val="41624D"/>
            </a:solidFill>
          </p:spPr>
        </p:sp>
        <p:sp>
          <p:nvSpPr>
            <p:cNvPr id="16" name="TextBox 16"/>
            <p:cNvSpPr txBox="1"/>
            <p:nvPr/>
          </p:nvSpPr>
          <p:spPr>
            <a:xfrm>
              <a:off x="0" y="-47625"/>
              <a:ext cx="608009" cy="11608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895"/>
                </a:lnSpc>
              </a:pPr>
            </a:p>
          </p:txBody>
        </p:sp>
      </p:grpSp>
      <p:grpSp>
        <p:nvGrpSpPr>
          <p:cNvPr id="17" name="Group 17"/>
          <p:cNvGrpSpPr/>
          <p:nvPr/>
        </p:nvGrpSpPr>
        <p:grpSpPr>
          <a:xfrm>
            <a:off x="-9525" y="-212708"/>
            <a:ext cx="1423091" cy="10984331"/>
            <a:chOff x="0" y="0"/>
            <a:chExt cx="374806" cy="2892992"/>
          </a:xfrm>
        </p:grpSpPr>
        <p:sp>
          <p:nvSpPr>
            <p:cNvPr id="18" name="Freeform 18"/>
            <p:cNvSpPr/>
            <p:nvPr/>
          </p:nvSpPr>
          <p:spPr>
            <a:xfrm>
              <a:off x="0" y="0"/>
              <a:ext cx="374806" cy="2892992"/>
            </a:xfrm>
            <a:custGeom>
              <a:avLst/>
              <a:gdLst/>
              <a:ahLst/>
              <a:cxnLst/>
              <a:rect l="l" t="t" r="r" b="b"/>
              <a:pathLst>
                <a:path w="374806" h="2892992">
                  <a:moveTo>
                    <a:pt x="0" y="0"/>
                  </a:moveTo>
                  <a:lnTo>
                    <a:pt x="374806" y="0"/>
                  </a:lnTo>
                  <a:lnTo>
                    <a:pt x="374806" y="2892992"/>
                  </a:lnTo>
                  <a:lnTo>
                    <a:pt x="0" y="2892992"/>
                  </a:lnTo>
                  <a:close/>
                </a:path>
              </a:pathLst>
            </a:custGeom>
            <a:solidFill>
              <a:srgbClr val="41624D"/>
            </a:solidFill>
          </p:spPr>
        </p:sp>
        <p:sp>
          <p:nvSpPr>
            <p:cNvPr id="19" name="TextBox 19"/>
            <p:cNvSpPr txBox="1"/>
            <p:nvPr/>
          </p:nvSpPr>
          <p:spPr>
            <a:xfrm>
              <a:off x="0" y="-28575"/>
              <a:ext cx="374806" cy="292156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60"/>
                </a:lnSpc>
                <a:spcBef>
                  <a:spcPct val="0"/>
                </a:spcBef>
              </a:pPr>
            </a:p>
          </p:txBody>
        </p:sp>
      </p:grpSp>
      <p:grpSp>
        <p:nvGrpSpPr>
          <p:cNvPr id="20" name="Group 20"/>
          <p:cNvGrpSpPr/>
          <p:nvPr/>
        </p:nvGrpSpPr>
        <p:grpSpPr>
          <a:xfrm>
            <a:off x="16864909" y="-212708"/>
            <a:ext cx="1423091" cy="10984331"/>
            <a:chOff x="0" y="0"/>
            <a:chExt cx="374806" cy="2892992"/>
          </a:xfrm>
        </p:grpSpPr>
        <p:sp>
          <p:nvSpPr>
            <p:cNvPr id="21" name="Freeform 21"/>
            <p:cNvSpPr/>
            <p:nvPr/>
          </p:nvSpPr>
          <p:spPr>
            <a:xfrm>
              <a:off x="0" y="0"/>
              <a:ext cx="374806" cy="2892992"/>
            </a:xfrm>
            <a:custGeom>
              <a:avLst/>
              <a:gdLst/>
              <a:ahLst/>
              <a:cxnLst/>
              <a:rect l="l" t="t" r="r" b="b"/>
              <a:pathLst>
                <a:path w="374806" h="2892992">
                  <a:moveTo>
                    <a:pt x="0" y="0"/>
                  </a:moveTo>
                  <a:lnTo>
                    <a:pt x="374806" y="0"/>
                  </a:lnTo>
                  <a:lnTo>
                    <a:pt x="374806" y="2892992"/>
                  </a:lnTo>
                  <a:lnTo>
                    <a:pt x="0" y="2892992"/>
                  </a:lnTo>
                  <a:close/>
                </a:path>
              </a:pathLst>
            </a:custGeom>
            <a:solidFill>
              <a:srgbClr val="41624D"/>
            </a:solidFill>
            <a:ln cap="sq">
              <a:noFill/>
              <a:prstDash val="solid"/>
              <a:miter/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0" y="-28575"/>
              <a:ext cx="374806" cy="292156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660"/>
                </a:lnSpc>
                <a:spcBef>
                  <a:spcPct val="0"/>
                </a:spcBef>
              </a:pPr>
            </a:p>
          </p:txBody>
        </p:sp>
      </p:grpSp>
      <p:grpSp>
        <p:nvGrpSpPr>
          <p:cNvPr id="26" name="Group 26"/>
          <p:cNvGrpSpPr/>
          <p:nvPr/>
        </p:nvGrpSpPr>
        <p:grpSpPr>
          <a:xfrm>
            <a:off x="17380176" y="4983658"/>
            <a:ext cx="335407" cy="319685"/>
            <a:chOff x="0" y="0"/>
            <a:chExt cx="812800" cy="774700"/>
          </a:xfrm>
        </p:grpSpPr>
        <p:sp>
          <p:nvSpPr>
            <p:cNvPr id="27" name="Freeform 27"/>
            <p:cNvSpPr/>
            <p:nvPr/>
          </p:nvSpPr>
          <p:spPr>
            <a:xfrm>
              <a:off x="0" y="0"/>
              <a:ext cx="812800" cy="774700"/>
            </a:xfrm>
            <a:custGeom>
              <a:avLst/>
              <a:gdLst/>
              <a:ahLst/>
              <a:cxnLst/>
              <a:rect l="l" t="t" r="r" b="b"/>
              <a:pathLst>
                <a:path w="812800" h="774700">
                  <a:moveTo>
                    <a:pt x="406400" y="0"/>
                  </a:moveTo>
                  <a:lnTo>
                    <a:pt x="502338" y="295909"/>
                  </a:lnTo>
                  <a:lnTo>
                    <a:pt x="812800" y="295909"/>
                  </a:lnTo>
                  <a:lnTo>
                    <a:pt x="561631" y="478791"/>
                  </a:lnTo>
                  <a:lnTo>
                    <a:pt x="657569" y="774700"/>
                  </a:lnTo>
                  <a:lnTo>
                    <a:pt x="406400" y="591819"/>
                  </a:lnTo>
                  <a:lnTo>
                    <a:pt x="155231" y="774700"/>
                  </a:lnTo>
                  <a:lnTo>
                    <a:pt x="251169" y="478791"/>
                  </a:lnTo>
                  <a:lnTo>
                    <a:pt x="0" y="295909"/>
                  </a:lnTo>
                  <a:lnTo>
                    <a:pt x="310462" y="295909"/>
                  </a:lnTo>
                  <a:lnTo>
                    <a:pt x="406400" y="0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id="28" name="TextBox 28"/>
            <p:cNvSpPr txBox="1"/>
            <p:nvPr/>
          </p:nvSpPr>
          <p:spPr>
            <a:xfrm>
              <a:off x="228600" y="219075"/>
              <a:ext cx="355600" cy="3905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895"/>
                </a:lnSpc>
              </a:pPr>
            </a:p>
          </p:txBody>
        </p:sp>
      </p:grpSp>
      <p:sp>
        <p:nvSpPr>
          <p:cNvPr id="33" name="Freeform 31"/>
          <p:cNvSpPr/>
          <p:nvPr/>
        </p:nvSpPr>
        <p:spPr>
          <a:xfrm>
            <a:off x="17165015" y="8632398"/>
            <a:ext cx="822879" cy="822879"/>
          </a:xfrm>
          <a:custGeom>
            <a:avLst/>
            <a:gdLst/>
            <a:ahLst/>
            <a:cxnLst/>
            <a:rect l="l" t="t" r="r" b="b"/>
            <a:pathLst>
              <a:path w="822879" h="822879">
                <a:moveTo>
                  <a:pt x="0" y="0"/>
                </a:moveTo>
                <a:lnTo>
                  <a:pt x="822879" y="0"/>
                </a:lnTo>
                <a:lnTo>
                  <a:pt x="822879" y="822879"/>
                </a:lnTo>
                <a:lnTo>
                  <a:pt x="0" y="822879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sp>
        <p:nvSpPr>
          <p:cNvPr id="35" name="Freeform 30"/>
          <p:cNvSpPr/>
          <p:nvPr/>
        </p:nvSpPr>
        <p:spPr>
          <a:xfrm rot="5400000">
            <a:off x="-3984375" y="4593346"/>
            <a:ext cx="9411340" cy="1014660"/>
          </a:xfrm>
          <a:custGeom>
            <a:avLst/>
            <a:gdLst/>
            <a:ahLst/>
            <a:cxnLst/>
            <a:rect l="l" t="t" r="r" b="b"/>
            <a:pathLst>
              <a:path w="9411340" h="1014660">
                <a:moveTo>
                  <a:pt x="0" y="0"/>
                </a:moveTo>
                <a:lnTo>
                  <a:pt x="9411340" y="0"/>
                </a:lnTo>
                <a:lnTo>
                  <a:pt x="9411340" y="1014660"/>
                </a:lnTo>
                <a:lnTo>
                  <a:pt x="0" y="101466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41624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-524524" y="-175524"/>
            <a:ext cx="20998807" cy="10741067"/>
            <a:chOff x="0" y="0"/>
            <a:chExt cx="27998409" cy="14321423"/>
          </a:xfrm>
        </p:grpSpPr>
        <p:sp>
          <p:nvSpPr>
            <p:cNvPr id="3" name="Freeform 3"/>
            <p:cNvSpPr/>
            <p:nvPr/>
          </p:nvSpPr>
          <p:spPr>
            <a:xfrm>
              <a:off x="14357316" y="0"/>
              <a:ext cx="13641093" cy="14321423"/>
            </a:xfrm>
            <a:custGeom>
              <a:avLst/>
              <a:gdLst/>
              <a:ahLst/>
              <a:cxnLst/>
              <a:rect l="l" t="t" r="r" b="b"/>
              <a:pathLst>
                <a:path w="13641093" h="14321423">
                  <a:moveTo>
                    <a:pt x="0" y="0"/>
                  </a:moveTo>
                  <a:lnTo>
                    <a:pt x="13641093" y="0"/>
                  </a:lnTo>
                  <a:lnTo>
                    <a:pt x="13641093" y="14321423"/>
                  </a:lnTo>
                  <a:lnTo>
                    <a:pt x="0" y="1432142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">
                <a:alphaModFix amt="9999"/>
                <a:extLst>
                  <a:ext uri="{96DAC541-7B7A-43D3-8B79-37D633B846F1}">
                    <asvg:svgBlip xmlns:asvg="http://schemas.microsoft.com/office/drawing/2016/SVG/main" r:embed="rId2"/>
                  </a:ext>
                </a:extLst>
              </a:blip>
              <a:stretch>
                <a:fillRect r="-5250"/>
              </a:stretch>
            </a:blipFill>
          </p:spPr>
        </p:sp>
        <p:sp>
          <p:nvSpPr>
            <p:cNvPr id="4" name="Freeform 4"/>
            <p:cNvSpPr/>
            <p:nvPr/>
          </p:nvSpPr>
          <p:spPr>
            <a:xfrm>
              <a:off x="0" y="0"/>
              <a:ext cx="14357316" cy="14321423"/>
            </a:xfrm>
            <a:custGeom>
              <a:avLst/>
              <a:gdLst/>
              <a:ahLst/>
              <a:cxnLst/>
              <a:rect l="l" t="t" r="r" b="b"/>
              <a:pathLst>
                <a:path w="14357316" h="14321423">
                  <a:moveTo>
                    <a:pt x="0" y="0"/>
                  </a:moveTo>
                  <a:lnTo>
                    <a:pt x="14357316" y="0"/>
                  </a:lnTo>
                  <a:lnTo>
                    <a:pt x="14357316" y="14321423"/>
                  </a:lnTo>
                  <a:lnTo>
                    <a:pt x="0" y="1432142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">
                <a:alphaModFix amt="9999"/>
                <a:extLst>
                  <a:ext uri="{96DAC541-7B7A-43D3-8B79-37D633B846F1}">
                    <asvg:svgBlip xmlns:asvg="http://schemas.microsoft.com/office/drawing/2016/SVG/main" r:embed="rId2"/>
                  </a:ext>
                </a:extLst>
              </a:blip>
              <a:stretch>
                <a:fillRect/>
              </a:stretch>
            </a:blipFill>
            <a:ln cap="sq">
              <a:noFill/>
              <a:prstDash val="solid"/>
              <a:miter/>
            </a:ln>
          </p:spPr>
        </p:sp>
      </p:grpSp>
      <p:grpSp>
        <p:nvGrpSpPr>
          <p:cNvPr id="5" name="Group 5"/>
          <p:cNvGrpSpPr/>
          <p:nvPr/>
        </p:nvGrpSpPr>
        <p:grpSpPr>
          <a:xfrm>
            <a:off x="757944" y="1028700"/>
            <a:ext cx="17092120" cy="8680123"/>
            <a:chOff x="0" y="0"/>
            <a:chExt cx="4501628" cy="2286123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4501628" cy="2286123"/>
            </a:xfrm>
            <a:custGeom>
              <a:avLst/>
              <a:gdLst/>
              <a:ahLst/>
              <a:cxnLst/>
              <a:rect l="l" t="t" r="r" b="b"/>
              <a:pathLst>
                <a:path w="4501628" h="2286123">
                  <a:moveTo>
                    <a:pt x="0" y="0"/>
                  </a:moveTo>
                  <a:lnTo>
                    <a:pt x="4501628" y="0"/>
                  </a:lnTo>
                  <a:lnTo>
                    <a:pt x="4501628" y="2286123"/>
                  </a:lnTo>
                  <a:lnTo>
                    <a:pt x="0" y="2286123"/>
                  </a:lnTo>
                  <a:close/>
                </a:path>
              </a:pathLst>
            </a:custGeom>
            <a:solidFill>
              <a:srgbClr val="D1D5BA"/>
            </a:solidFill>
          </p:spPr>
        </p:sp>
        <p:sp>
          <p:nvSpPr>
            <p:cNvPr id="7" name="TextBox 7"/>
            <p:cNvSpPr txBox="1"/>
            <p:nvPr/>
          </p:nvSpPr>
          <p:spPr>
            <a:xfrm>
              <a:off x="0" y="-28575"/>
              <a:ext cx="4501628" cy="231469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60"/>
                </a:lnSpc>
                <a:spcBef>
                  <a:spcPct val="0"/>
                </a:spcBef>
              </a:pPr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437936" y="618151"/>
            <a:ext cx="17092120" cy="8746514"/>
            <a:chOff x="0" y="0"/>
            <a:chExt cx="4501628" cy="2303609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4501628" cy="2303609"/>
            </a:xfrm>
            <a:custGeom>
              <a:avLst/>
              <a:gdLst/>
              <a:ahLst/>
              <a:cxnLst/>
              <a:rect l="l" t="t" r="r" b="b"/>
              <a:pathLst>
                <a:path w="4501628" h="2303609">
                  <a:moveTo>
                    <a:pt x="0" y="0"/>
                  </a:moveTo>
                  <a:lnTo>
                    <a:pt x="4501628" y="0"/>
                  </a:lnTo>
                  <a:lnTo>
                    <a:pt x="4501628" y="2303609"/>
                  </a:lnTo>
                  <a:lnTo>
                    <a:pt x="0" y="2303609"/>
                  </a:lnTo>
                  <a:close/>
                </a:path>
              </a:pathLst>
            </a:custGeom>
            <a:solidFill>
              <a:srgbClr val="F5FAF4"/>
            </a:solidFill>
          </p:spPr>
        </p:sp>
        <p:sp>
          <p:nvSpPr>
            <p:cNvPr id="10" name="TextBox 10"/>
            <p:cNvSpPr txBox="1"/>
            <p:nvPr/>
          </p:nvSpPr>
          <p:spPr>
            <a:xfrm>
              <a:off x="0" y="-28575"/>
              <a:ext cx="4501628" cy="233218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60"/>
                </a:lnSpc>
                <a:spcBef>
                  <a:spcPct val="0"/>
                </a:spcBef>
              </a:pPr>
            </a:p>
          </p:txBody>
        </p:sp>
      </p:grpSp>
      <p:grpSp>
        <p:nvGrpSpPr>
          <p:cNvPr id="11" name="Group 11"/>
          <p:cNvGrpSpPr/>
          <p:nvPr>
            <p:custDataLst>
              <p:tags r:id="rId3"/>
            </p:custDataLst>
          </p:nvPr>
        </p:nvGrpSpPr>
        <p:grpSpPr>
          <a:xfrm>
            <a:off x="7586072" y="1565082"/>
            <a:ext cx="3115855" cy="217179"/>
            <a:chOff x="0" y="0"/>
            <a:chExt cx="820637" cy="57199"/>
          </a:xfrm>
        </p:grpSpPr>
        <p:sp>
          <p:nvSpPr>
            <p:cNvPr id="12" name="Freeform 12"/>
            <p:cNvSpPr/>
            <p:nvPr>
              <p:custDataLst>
                <p:tags r:id="rId4"/>
              </p:custDataLst>
            </p:nvPr>
          </p:nvSpPr>
          <p:spPr>
            <a:xfrm>
              <a:off x="0" y="0"/>
              <a:ext cx="820637" cy="57199"/>
            </a:xfrm>
            <a:custGeom>
              <a:avLst/>
              <a:gdLst/>
              <a:ahLst/>
              <a:cxnLst/>
              <a:rect l="l" t="t" r="r" b="b"/>
              <a:pathLst>
                <a:path w="820637" h="57199">
                  <a:moveTo>
                    <a:pt x="28600" y="0"/>
                  </a:moveTo>
                  <a:lnTo>
                    <a:pt x="792037" y="0"/>
                  </a:lnTo>
                  <a:cubicBezTo>
                    <a:pt x="807832" y="0"/>
                    <a:pt x="820637" y="12805"/>
                    <a:pt x="820637" y="28600"/>
                  </a:cubicBezTo>
                  <a:lnTo>
                    <a:pt x="820637" y="28600"/>
                  </a:lnTo>
                  <a:cubicBezTo>
                    <a:pt x="820637" y="44395"/>
                    <a:pt x="807832" y="57199"/>
                    <a:pt x="792037" y="57199"/>
                  </a:cubicBezTo>
                  <a:lnTo>
                    <a:pt x="28600" y="57199"/>
                  </a:lnTo>
                  <a:cubicBezTo>
                    <a:pt x="12805" y="57199"/>
                    <a:pt x="0" y="44395"/>
                    <a:pt x="0" y="28600"/>
                  </a:cubicBezTo>
                  <a:lnTo>
                    <a:pt x="0" y="28600"/>
                  </a:lnTo>
                  <a:cubicBezTo>
                    <a:pt x="0" y="12805"/>
                    <a:pt x="12805" y="0"/>
                    <a:pt x="28600" y="0"/>
                  </a:cubicBezTo>
                  <a:close/>
                </a:path>
              </a:pathLst>
            </a:custGeom>
            <a:solidFill>
              <a:srgbClr val="D1D5BA"/>
            </a:solidFill>
          </p:spPr>
        </p:sp>
        <p:sp>
          <p:nvSpPr>
            <p:cNvPr id="13" name="TextBox 13"/>
            <p:cNvSpPr txBox="1"/>
            <p:nvPr/>
          </p:nvSpPr>
          <p:spPr>
            <a:xfrm>
              <a:off x="0" y="-47625"/>
              <a:ext cx="820637" cy="10482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895"/>
                </a:lnSpc>
              </a:pPr>
            </a:p>
          </p:txBody>
        </p:sp>
      </p:grpSp>
      <p:grpSp>
        <p:nvGrpSpPr>
          <p:cNvPr id="14" name="Group 14"/>
          <p:cNvGrpSpPr/>
          <p:nvPr/>
        </p:nvGrpSpPr>
        <p:grpSpPr>
          <a:xfrm>
            <a:off x="1389380" y="6439535"/>
            <a:ext cx="2131695" cy="2226945"/>
            <a:chOff x="0" y="0"/>
            <a:chExt cx="812800" cy="812800"/>
          </a:xfrm>
          <a:blipFill rotWithShape="1">
            <a:blip r:embed="rId5"/>
            <a:stretch>
              <a:fillRect/>
            </a:stretch>
          </a:blipFill>
        </p:grpSpPr>
        <p:sp>
          <p:nvSpPr>
            <p:cNvPr id="15" name="Freeform 15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lnTo>
                    <a:pt x="406400" y="0"/>
                  </a:lnTo>
                  <a:close/>
                </a:path>
              </a:pathLst>
            </a:custGeom>
            <a:grpFill/>
            <a:ln cap="sq">
              <a:noFill/>
              <a:prstDash val="solid"/>
              <a:miter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  <a:grpFill/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660"/>
                </a:lnSpc>
                <a:spcBef>
                  <a:spcPct val="0"/>
                </a:spcBef>
              </a:pPr>
            </a:p>
          </p:txBody>
        </p:sp>
      </p:grpSp>
      <p:sp>
        <p:nvSpPr>
          <p:cNvPr id="34" name="TextBox 34"/>
          <p:cNvSpPr txBox="1"/>
          <p:nvPr/>
        </p:nvSpPr>
        <p:spPr>
          <a:xfrm>
            <a:off x="7619727" y="647995"/>
            <a:ext cx="3115855" cy="8077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6300"/>
              </a:lnSpc>
              <a:spcBef>
                <a:spcPct val="0"/>
              </a:spcBef>
            </a:pPr>
            <a:r>
              <a:rPr lang="zh-CN" altLang="en-US" sz="4200" spc="420">
                <a:solidFill>
                  <a:srgbClr val="343333"/>
                </a:solidFill>
                <a:ea typeface="华文中宋" panose="02010600040101010101" charset="-122"/>
              </a:rPr>
              <a:t>论文介绍</a:t>
            </a:r>
            <a:endParaRPr lang="zh-CN" altLang="en-US" sz="4200" spc="420">
              <a:solidFill>
                <a:srgbClr val="343333"/>
              </a:solidFill>
              <a:ea typeface="华文中宋" panose="02010600040101010101" charset="-122"/>
            </a:endParaRPr>
          </a:p>
        </p:txBody>
      </p:sp>
      <p:sp>
        <p:nvSpPr>
          <p:cNvPr id="35" name="TextBox 35"/>
          <p:cNvSpPr txBox="1"/>
          <p:nvPr/>
        </p:nvSpPr>
        <p:spPr>
          <a:xfrm>
            <a:off x="1447800" y="8752205"/>
            <a:ext cx="1691640" cy="268605"/>
          </a:xfrm>
          <a:prstGeom prst="rect">
            <a:avLst/>
          </a:prstGeom>
        </p:spPr>
        <p:txBody>
          <a:bodyPr lIns="0" tIns="0" rIns="0" bIns="0" rtlCol="0" anchor="t">
            <a:noAutofit/>
          </a:bodyPr>
          <a:lstStyle/>
          <a:p>
            <a:pPr marL="0" lvl="0" indent="0" algn="ctr">
              <a:lnSpc>
                <a:spcPts val="3000"/>
              </a:lnSpc>
              <a:spcBef>
                <a:spcPct val="0"/>
              </a:spcBef>
            </a:pPr>
            <a:r>
              <a:rPr lang="en-US" altLang="zh-CN" sz="2000">
                <a:solidFill>
                  <a:srgbClr val="343333"/>
                </a:solidFill>
                <a:ea typeface="清雅黑体" panose="00000500000000000000" charset="-122"/>
              </a:rPr>
              <a:t>Ilaria Chillotti</a:t>
            </a:r>
            <a:endParaRPr lang="en-US" altLang="zh-CN" sz="2000">
              <a:solidFill>
                <a:srgbClr val="343333"/>
              </a:solidFill>
              <a:ea typeface="清雅黑体" panose="00000500000000000000" charset="-122"/>
            </a:endParaRPr>
          </a:p>
        </p:txBody>
      </p:sp>
      <p:sp>
        <p:nvSpPr>
          <p:cNvPr id="41" name="TextBox 41"/>
          <p:cNvSpPr txBox="1"/>
          <p:nvPr>
            <p:custDataLst>
              <p:tags r:id="rId6"/>
            </p:custDataLst>
          </p:nvPr>
        </p:nvSpPr>
        <p:spPr>
          <a:xfrm>
            <a:off x="1306586" y="2857795"/>
            <a:ext cx="10940972" cy="3841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3000"/>
              </a:lnSpc>
              <a:spcBef>
                <a:spcPct val="0"/>
              </a:spcBef>
            </a:pPr>
            <a:r>
              <a:rPr lang="en-US" altLang="zh-CN" sz="2800">
                <a:solidFill>
                  <a:srgbClr val="343333"/>
                </a:solidFill>
                <a:ea typeface="清雅黑体" panose="00000500000000000000" charset="-122"/>
              </a:rPr>
              <a:t>A Homomorphic LWE Based E-voting Scheme</a:t>
            </a:r>
            <a:endParaRPr lang="en-US" altLang="zh-CN" sz="2800">
              <a:solidFill>
                <a:srgbClr val="343333"/>
              </a:solidFill>
              <a:ea typeface="清雅黑体" panose="00000500000000000000" charset="-122"/>
            </a:endParaRPr>
          </a:p>
        </p:txBody>
      </p:sp>
      <p:sp>
        <p:nvSpPr>
          <p:cNvPr id="42" name="TextBox 42"/>
          <p:cNvSpPr txBox="1"/>
          <p:nvPr>
            <p:custDataLst>
              <p:tags r:id="rId7"/>
            </p:custDataLst>
          </p:nvPr>
        </p:nvSpPr>
        <p:spPr>
          <a:xfrm>
            <a:off x="1371356" y="1562149"/>
            <a:ext cx="4857487" cy="11550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>
              <a:lnSpc>
                <a:spcPts val="9010"/>
              </a:lnSpc>
              <a:spcBef>
                <a:spcPct val="0"/>
              </a:spcBef>
            </a:pPr>
            <a:r>
              <a:rPr lang="zh-CN" altLang="en-US" sz="2400" spc="600">
                <a:solidFill>
                  <a:srgbClr val="41624D"/>
                </a:solidFill>
                <a:latin typeface="方正大黑体_GBK" panose="02010600010101010101" charset="-122"/>
                <a:ea typeface="方正大黑体_GBK" panose="02010600010101010101" charset="-122"/>
              </a:rPr>
              <a:t>论文</a:t>
            </a:r>
            <a:r>
              <a:rPr lang="zh-CN" altLang="en-US" sz="2400" spc="600">
                <a:solidFill>
                  <a:srgbClr val="41624D"/>
                </a:solidFill>
                <a:latin typeface="方正大黑体_GBK" panose="02010600010101010101" charset="-122"/>
                <a:ea typeface="方正大黑体_GBK" panose="02010600010101010101" charset="-122"/>
              </a:rPr>
              <a:t>题目</a:t>
            </a:r>
            <a:endParaRPr lang="zh-CN" altLang="en-US" sz="2400" spc="600">
              <a:solidFill>
                <a:srgbClr val="41624D"/>
              </a:solidFill>
              <a:latin typeface="方正大黑体_GBK" panose="02010600010101010101" charset="-122"/>
              <a:ea typeface="方正大黑体_GBK" panose="02010600010101010101" charset="-122"/>
            </a:endParaRPr>
          </a:p>
        </p:txBody>
      </p:sp>
      <p:sp>
        <p:nvSpPr>
          <p:cNvPr id="43" name="TextBox 42"/>
          <p:cNvSpPr txBox="1"/>
          <p:nvPr>
            <p:custDataLst>
              <p:tags r:id="rId8"/>
            </p:custDataLst>
          </p:nvPr>
        </p:nvSpPr>
        <p:spPr>
          <a:xfrm>
            <a:off x="1389136" y="2710864"/>
            <a:ext cx="4857487" cy="11550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>
              <a:lnSpc>
                <a:spcPts val="9010"/>
              </a:lnSpc>
              <a:spcBef>
                <a:spcPct val="0"/>
              </a:spcBef>
            </a:pPr>
            <a:r>
              <a:rPr lang="zh-CN" altLang="en-US" sz="2400" spc="600">
                <a:solidFill>
                  <a:srgbClr val="41624D"/>
                </a:solidFill>
                <a:latin typeface="方正大黑体_GBK" panose="02010600010101010101" charset="-122"/>
                <a:ea typeface="方正大黑体_GBK" panose="02010600010101010101" charset="-122"/>
              </a:rPr>
              <a:t>发表</a:t>
            </a:r>
            <a:r>
              <a:rPr lang="zh-CN" altLang="en-US" sz="2400" spc="600">
                <a:solidFill>
                  <a:srgbClr val="41624D"/>
                </a:solidFill>
                <a:latin typeface="方正大黑体_GBK" panose="02010600010101010101" charset="-122"/>
                <a:ea typeface="方正大黑体_GBK" panose="02010600010101010101" charset="-122"/>
              </a:rPr>
              <a:t>会议</a:t>
            </a:r>
            <a:endParaRPr lang="zh-CN" altLang="en-US" sz="2400" spc="600">
              <a:solidFill>
                <a:srgbClr val="41624D"/>
              </a:solidFill>
              <a:latin typeface="方正大黑体_GBK" panose="02010600010101010101" charset="-122"/>
              <a:ea typeface="方正大黑体_GBK" panose="02010600010101010101" charset="-122"/>
            </a:endParaRPr>
          </a:p>
        </p:txBody>
      </p:sp>
      <p:sp>
        <p:nvSpPr>
          <p:cNvPr id="44" name="TextBox 41"/>
          <p:cNvSpPr txBox="1"/>
          <p:nvPr>
            <p:custDataLst>
              <p:tags r:id="rId9"/>
            </p:custDataLst>
          </p:nvPr>
        </p:nvSpPr>
        <p:spPr>
          <a:xfrm>
            <a:off x="1218956" y="4082710"/>
            <a:ext cx="10940972" cy="3841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3000"/>
              </a:lnSpc>
              <a:spcBef>
                <a:spcPct val="0"/>
              </a:spcBef>
            </a:pPr>
            <a:r>
              <a:rPr lang="zh-CN" altLang="en-US" sz="2800">
                <a:solidFill>
                  <a:srgbClr val="343333"/>
                </a:solidFill>
                <a:ea typeface="清雅黑体" panose="00000500000000000000" charset="-122"/>
              </a:rPr>
              <a:t>第七届国际后量子密码学研讨会（</a:t>
            </a:r>
            <a:r>
              <a:rPr lang="en-US" altLang="zh-CN" sz="2800">
                <a:solidFill>
                  <a:srgbClr val="343333"/>
                </a:solidFill>
                <a:ea typeface="清雅黑体" panose="00000500000000000000" charset="-122"/>
              </a:rPr>
              <a:t>PQCrypto 2016</a:t>
            </a:r>
            <a:r>
              <a:rPr lang="zh-CN" altLang="en-US" sz="2800">
                <a:solidFill>
                  <a:srgbClr val="343333"/>
                </a:solidFill>
                <a:ea typeface="清雅黑体" panose="00000500000000000000" charset="-122"/>
              </a:rPr>
              <a:t>，</a:t>
            </a:r>
            <a:r>
              <a:rPr lang="en-US" altLang="zh-CN" sz="2800">
                <a:solidFill>
                  <a:srgbClr val="343333"/>
                </a:solidFill>
                <a:ea typeface="清雅黑体" panose="00000500000000000000" charset="-122"/>
              </a:rPr>
              <a:t>CACR B</a:t>
            </a:r>
            <a:r>
              <a:rPr lang="zh-CN" altLang="en-US" sz="2800">
                <a:solidFill>
                  <a:srgbClr val="343333"/>
                </a:solidFill>
                <a:ea typeface="清雅黑体" panose="00000500000000000000" charset="-122"/>
              </a:rPr>
              <a:t>级</a:t>
            </a:r>
            <a:r>
              <a:rPr lang="zh-CN" altLang="en-US" sz="2800">
                <a:solidFill>
                  <a:srgbClr val="343333"/>
                </a:solidFill>
                <a:ea typeface="清雅黑体" panose="00000500000000000000" charset="-122"/>
              </a:rPr>
              <a:t>会议）</a:t>
            </a:r>
            <a:endParaRPr lang="zh-CN" altLang="en-US" sz="2800">
              <a:solidFill>
                <a:srgbClr val="343333"/>
              </a:solidFill>
              <a:ea typeface="清雅黑体" panose="00000500000000000000" charset="-122"/>
            </a:endParaRPr>
          </a:p>
        </p:txBody>
      </p:sp>
      <p:sp>
        <p:nvSpPr>
          <p:cNvPr id="45" name="TextBox 42"/>
          <p:cNvSpPr txBox="1"/>
          <p:nvPr>
            <p:custDataLst>
              <p:tags r:id="rId10"/>
            </p:custDataLst>
          </p:nvPr>
        </p:nvSpPr>
        <p:spPr>
          <a:xfrm>
            <a:off x="1371356" y="4004359"/>
            <a:ext cx="4857487" cy="11550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>
              <a:lnSpc>
                <a:spcPts val="9010"/>
              </a:lnSpc>
              <a:spcBef>
                <a:spcPct val="0"/>
              </a:spcBef>
            </a:pPr>
            <a:r>
              <a:rPr lang="zh-CN" altLang="en-US" sz="2400" spc="600">
                <a:solidFill>
                  <a:srgbClr val="41624D"/>
                </a:solidFill>
                <a:latin typeface="方正大黑体_GBK" panose="02010600010101010101" charset="-122"/>
                <a:ea typeface="方正大黑体_GBK" panose="02010600010101010101" charset="-122"/>
              </a:rPr>
              <a:t>作者</a:t>
            </a:r>
            <a:r>
              <a:rPr lang="zh-CN" altLang="en-US" sz="2400" spc="600">
                <a:solidFill>
                  <a:srgbClr val="41624D"/>
                </a:solidFill>
                <a:latin typeface="方正大黑体_GBK" panose="02010600010101010101" charset="-122"/>
                <a:ea typeface="方正大黑体_GBK" panose="02010600010101010101" charset="-122"/>
              </a:rPr>
              <a:t>信息</a:t>
            </a:r>
            <a:endParaRPr lang="zh-CN" altLang="en-US" sz="2400" spc="600">
              <a:solidFill>
                <a:srgbClr val="41624D"/>
              </a:solidFill>
              <a:latin typeface="方正大黑体_GBK" panose="02010600010101010101" charset="-122"/>
              <a:ea typeface="方正大黑体_GBK" panose="02010600010101010101" charset="-122"/>
            </a:endParaRPr>
          </a:p>
        </p:txBody>
      </p:sp>
      <p:sp>
        <p:nvSpPr>
          <p:cNvPr id="46" name="TextBox 41"/>
          <p:cNvSpPr txBox="1"/>
          <p:nvPr>
            <p:custDataLst>
              <p:tags r:id="rId11"/>
            </p:custDataLst>
          </p:nvPr>
        </p:nvSpPr>
        <p:spPr>
          <a:xfrm>
            <a:off x="1224036" y="5376205"/>
            <a:ext cx="10940972" cy="7689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3000"/>
              </a:lnSpc>
              <a:spcBef>
                <a:spcPct val="0"/>
              </a:spcBef>
            </a:pPr>
            <a:r>
              <a:rPr lang="zh-CN" altLang="en-US" sz="2800">
                <a:solidFill>
                  <a:srgbClr val="343333"/>
                </a:solidFill>
                <a:ea typeface="清雅黑体" panose="00000500000000000000" charset="-122"/>
              </a:rPr>
              <a:t>论文作者来自凡尔赛数学</a:t>
            </a:r>
            <a:r>
              <a:rPr lang="zh-CN" altLang="en-US" sz="2800">
                <a:solidFill>
                  <a:srgbClr val="343333"/>
                </a:solidFill>
                <a:ea typeface="清雅黑体" panose="00000500000000000000" charset="-122"/>
              </a:rPr>
              <a:t>实验室、法国国家科学研究中心（</a:t>
            </a:r>
            <a:r>
              <a:rPr lang="en-US" altLang="zh-CN" sz="2800">
                <a:solidFill>
                  <a:srgbClr val="343333"/>
                </a:solidFill>
                <a:ea typeface="清雅黑体" panose="00000500000000000000" charset="-122"/>
              </a:rPr>
              <a:t>CNRS</a:t>
            </a:r>
            <a:r>
              <a:rPr lang="zh-CN" altLang="en-US" sz="2800">
                <a:solidFill>
                  <a:srgbClr val="343333"/>
                </a:solidFill>
                <a:ea typeface="清雅黑体" panose="00000500000000000000" charset="-122"/>
              </a:rPr>
              <a:t>）、</a:t>
            </a:r>
            <a:r>
              <a:rPr lang="en-US" altLang="zh-CN" sz="2800">
                <a:solidFill>
                  <a:srgbClr val="343333"/>
                </a:solidFill>
                <a:ea typeface="清雅黑体" panose="00000500000000000000" charset="-122"/>
              </a:rPr>
              <a:t>Inpher</a:t>
            </a:r>
            <a:r>
              <a:rPr lang="zh-CN" altLang="en-US" sz="2800">
                <a:solidFill>
                  <a:srgbClr val="343333"/>
                </a:solidFill>
                <a:ea typeface="清雅黑体" panose="00000500000000000000" charset="-122"/>
              </a:rPr>
              <a:t>公司、</a:t>
            </a:r>
            <a:r>
              <a:rPr lang="en-US" altLang="zh-CN" sz="2800">
                <a:solidFill>
                  <a:srgbClr val="343333"/>
                </a:solidFill>
                <a:ea typeface="清雅黑体" panose="00000500000000000000" charset="-122"/>
              </a:rPr>
              <a:t>Gemalto</a:t>
            </a:r>
            <a:r>
              <a:rPr lang="zh-CN" altLang="en-US" sz="2800">
                <a:solidFill>
                  <a:srgbClr val="343333"/>
                </a:solidFill>
                <a:ea typeface="清雅黑体" panose="00000500000000000000" charset="-122"/>
              </a:rPr>
              <a:t>公司以及</a:t>
            </a:r>
            <a:r>
              <a:rPr lang="en-US" altLang="zh-CN" sz="2800">
                <a:solidFill>
                  <a:srgbClr val="343333"/>
                </a:solidFill>
                <a:ea typeface="清雅黑体" panose="00000500000000000000" charset="-122"/>
              </a:rPr>
              <a:t>CEA LIST</a:t>
            </a:r>
            <a:endParaRPr lang="en-US" altLang="zh-CN" sz="2800">
              <a:solidFill>
                <a:srgbClr val="343333"/>
              </a:solidFill>
              <a:ea typeface="清雅黑体" panose="00000500000000000000" charset="-122"/>
            </a:endParaRPr>
          </a:p>
        </p:txBody>
      </p:sp>
      <p:sp>
        <p:nvSpPr>
          <p:cNvPr id="71" name="TextBox 41"/>
          <p:cNvSpPr txBox="1"/>
          <p:nvPr>
            <p:custDataLst>
              <p:tags r:id="rId12"/>
            </p:custDataLst>
          </p:nvPr>
        </p:nvSpPr>
        <p:spPr>
          <a:xfrm>
            <a:off x="4114800" y="6910705"/>
            <a:ext cx="7111365" cy="192341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 algn="l">
              <a:lnSpc>
                <a:spcPts val="3000"/>
              </a:lnSpc>
              <a:spcBef>
                <a:spcPct val="0"/>
              </a:spcBef>
            </a:pPr>
            <a:r>
              <a:rPr lang="en-US" altLang="zh-CN" sz="2000">
                <a:solidFill>
                  <a:srgbClr val="343333"/>
                </a:solidFill>
                <a:ea typeface="清雅黑体" panose="00000500000000000000" charset="-122"/>
              </a:rPr>
              <a:t>Ilaria Chillotti </a:t>
            </a:r>
            <a:r>
              <a:rPr lang="zh-CN" altLang="en-US" sz="2000">
                <a:solidFill>
                  <a:srgbClr val="343333"/>
                </a:solidFill>
                <a:ea typeface="清雅黑体" panose="00000500000000000000" charset="-122"/>
              </a:rPr>
              <a:t>是鲁汶大学（比利时）</a:t>
            </a:r>
            <a:r>
              <a:rPr lang="en-US" altLang="zh-CN" sz="2000">
                <a:solidFill>
                  <a:srgbClr val="343333"/>
                </a:solidFill>
                <a:ea typeface="清雅黑体" panose="00000500000000000000" charset="-122"/>
              </a:rPr>
              <a:t>COSIC </a:t>
            </a:r>
            <a:r>
              <a:rPr lang="zh-CN" altLang="en-US" sz="2000">
                <a:solidFill>
                  <a:srgbClr val="343333"/>
                </a:solidFill>
                <a:ea typeface="清雅黑体" panose="00000500000000000000" charset="-122"/>
              </a:rPr>
              <a:t>研究组的博士后，同时也是扎马大学密码学研究员。</a:t>
            </a:r>
            <a:endParaRPr lang="zh-CN" altLang="en-US" sz="2000">
              <a:solidFill>
                <a:srgbClr val="343333"/>
              </a:solidFill>
              <a:ea typeface="清雅黑体" panose="00000500000000000000" charset="-122"/>
            </a:endParaRPr>
          </a:p>
          <a:p>
            <a:pPr marL="0" lvl="0" indent="0" algn="l">
              <a:lnSpc>
                <a:spcPts val="3000"/>
              </a:lnSpc>
              <a:spcBef>
                <a:spcPct val="0"/>
              </a:spcBef>
            </a:pPr>
            <a:r>
              <a:rPr lang="zh-CN" altLang="en-US" sz="2000">
                <a:solidFill>
                  <a:srgbClr val="343333"/>
                </a:solidFill>
                <a:ea typeface="清雅黑体" panose="00000500000000000000" charset="-122"/>
              </a:rPr>
              <a:t>她的主要研究主题是全同态加密、多方计算和云计算。</a:t>
            </a:r>
            <a:endParaRPr lang="zh-CN" altLang="en-US" sz="2000">
              <a:solidFill>
                <a:srgbClr val="343333"/>
              </a:solidFill>
              <a:ea typeface="清雅黑体" panose="00000500000000000000" charset="-122"/>
            </a:endParaRPr>
          </a:p>
          <a:p>
            <a:pPr marL="0" lvl="0" indent="0" algn="l">
              <a:lnSpc>
                <a:spcPts val="3000"/>
              </a:lnSpc>
              <a:spcBef>
                <a:spcPct val="0"/>
              </a:spcBef>
            </a:pPr>
            <a:r>
              <a:rPr lang="en-US" altLang="zh-CN" sz="2000">
                <a:solidFill>
                  <a:srgbClr val="343333"/>
                </a:solidFill>
                <a:ea typeface="清雅黑体" panose="00000500000000000000" charset="-122"/>
              </a:rPr>
              <a:t>2015</a:t>
            </a:r>
            <a:r>
              <a:rPr lang="zh-CN" altLang="en-US" sz="2000">
                <a:solidFill>
                  <a:srgbClr val="343333"/>
                </a:solidFill>
                <a:ea typeface="清雅黑体" panose="00000500000000000000" charset="-122"/>
              </a:rPr>
              <a:t>年至</a:t>
            </a:r>
            <a:r>
              <a:rPr lang="en-US" altLang="zh-CN" sz="2000">
                <a:solidFill>
                  <a:srgbClr val="343333"/>
                </a:solidFill>
                <a:ea typeface="清雅黑体" panose="00000500000000000000" charset="-122"/>
              </a:rPr>
              <a:t>2018</a:t>
            </a:r>
            <a:r>
              <a:rPr lang="zh-CN" altLang="en-US" sz="2000">
                <a:solidFill>
                  <a:srgbClr val="343333"/>
                </a:solidFill>
                <a:ea typeface="清雅黑体" panose="00000500000000000000" charset="-122"/>
              </a:rPr>
              <a:t>年，伊拉里亚在凡尔赛数学实验室的密码学团队担任博士生。</a:t>
            </a:r>
            <a:endParaRPr lang="zh-CN" altLang="en-US" sz="2000">
              <a:solidFill>
                <a:srgbClr val="343333"/>
              </a:solidFill>
              <a:ea typeface="清雅黑体" panose="00000500000000000000" charset="-122"/>
            </a:endParaRPr>
          </a:p>
        </p:txBody>
      </p:sp>
      <p:pic>
        <p:nvPicPr>
          <p:cNvPr id="72" name="图片 71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12251690" y="2230755"/>
            <a:ext cx="4535805" cy="6790055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D1D5B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078580" y="1138069"/>
            <a:ext cx="15916463" cy="8010861"/>
            <a:chOff x="0" y="0"/>
            <a:chExt cx="4191990" cy="2109856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4191990" cy="2109856"/>
            </a:xfrm>
            <a:custGeom>
              <a:avLst/>
              <a:gdLst/>
              <a:ahLst/>
              <a:cxnLst/>
              <a:rect l="l" t="t" r="r" b="b"/>
              <a:pathLst>
                <a:path w="4191990" h="2109856">
                  <a:moveTo>
                    <a:pt x="0" y="0"/>
                  </a:moveTo>
                  <a:lnTo>
                    <a:pt x="4191990" y="0"/>
                  </a:lnTo>
                  <a:lnTo>
                    <a:pt x="4191990" y="2109856"/>
                  </a:lnTo>
                  <a:lnTo>
                    <a:pt x="0" y="2109856"/>
                  </a:lnTo>
                  <a:close/>
                </a:path>
              </a:pathLst>
            </a:custGeom>
            <a:solidFill>
              <a:srgbClr val="F5FAF4"/>
            </a:solidFill>
          </p:spPr>
        </p:sp>
        <p:sp>
          <p:nvSpPr>
            <p:cNvPr id="4" name="TextBox 4"/>
            <p:cNvSpPr txBox="1"/>
            <p:nvPr/>
          </p:nvSpPr>
          <p:spPr>
            <a:xfrm>
              <a:off x="0" y="-28575"/>
              <a:ext cx="4191990" cy="213843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60"/>
                </a:lnSpc>
                <a:spcBef>
                  <a:spcPct val="0"/>
                </a:spcBef>
              </a:pPr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1078580" y="1142801"/>
            <a:ext cx="16028936" cy="7994432"/>
            <a:chOff x="0" y="0"/>
            <a:chExt cx="21371915" cy="10659242"/>
          </a:xfrm>
        </p:grpSpPr>
        <p:sp>
          <p:nvSpPr>
            <p:cNvPr id="6" name="Freeform 6"/>
            <p:cNvSpPr/>
            <p:nvPr/>
          </p:nvSpPr>
          <p:spPr>
            <a:xfrm>
              <a:off x="10685957" y="0"/>
              <a:ext cx="10685957" cy="10659242"/>
            </a:xfrm>
            <a:custGeom>
              <a:avLst/>
              <a:gdLst/>
              <a:ahLst/>
              <a:cxnLst/>
              <a:rect l="l" t="t" r="r" b="b"/>
              <a:pathLst>
                <a:path w="10685957" h="10659242">
                  <a:moveTo>
                    <a:pt x="0" y="0"/>
                  </a:moveTo>
                  <a:lnTo>
                    <a:pt x="10685958" y="0"/>
                  </a:lnTo>
                  <a:lnTo>
                    <a:pt x="10685958" y="10659242"/>
                  </a:lnTo>
                  <a:lnTo>
                    <a:pt x="0" y="1065924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">
                <a:alphaModFix amt="6999"/>
                <a:extLst>
                  <a:ext uri="{96DAC541-7B7A-43D3-8B79-37D633B846F1}">
                    <asvg:svgBlip xmlns:asvg="http://schemas.microsoft.com/office/drawing/2016/SVG/main" r:embed="rId2"/>
                  </a:ext>
                </a:extLst>
              </a:blip>
              <a:stretch>
                <a:fillRect/>
              </a:stretch>
            </a:blipFill>
          </p:spPr>
        </p:sp>
        <p:sp>
          <p:nvSpPr>
            <p:cNvPr id="7" name="Freeform 7"/>
            <p:cNvSpPr/>
            <p:nvPr/>
          </p:nvSpPr>
          <p:spPr>
            <a:xfrm>
              <a:off x="0" y="0"/>
              <a:ext cx="10685957" cy="10659242"/>
            </a:xfrm>
            <a:custGeom>
              <a:avLst/>
              <a:gdLst/>
              <a:ahLst/>
              <a:cxnLst/>
              <a:rect l="l" t="t" r="r" b="b"/>
              <a:pathLst>
                <a:path w="10685957" h="10659242">
                  <a:moveTo>
                    <a:pt x="0" y="0"/>
                  </a:moveTo>
                  <a:lnTo>
                    <a:pt x="10685957" y="0"/>
                  </a:lnTo>
                  <a:lnTo>
                    <a:pt x="10685957" y="10659242"/>
                  </a:lnTo>
                  <a:lnTo>
                    <a:pt x="0" y="1065924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">
                <a:alphaModFix amt="6999"/>
                <a:extLst>
                  <a:ext uri="{96DAC541-7B7A-43D3-8B79-37D633B846F1}">
                    <asvg:svgBlip xmlns:asvg="http://schemas.microsoft.com/office/drawing/2016/SVG/main" r:embed="rId2"/>
                  </a:ext>
                </a:extLst>
              </a:blip>
              <a:stretch>
                <a:fillRect/>
              </a:stretch>
            </a:blipFill>
            <a:ln cap="sq">
              <a:noFill/>
              <a:prstDash val="solid"/>
              <a:miter/>
            </a:ln>
          </p:spPr>
        </p:sp>
      </p:grpSp>
      <p:sp>
        <p:nvSpPr>
          <p:cNvPr id="8" name="TextBox 8"/>
          <p:cNvSpPr txBox="1"/>
          <p:nvPr/>
        </p:nvSpPr>
        <p:spPr>
          <a:xfrm>
            <a:off x="6633359" y="5547546"/>
            <a:ext cx="5538222" cy="14808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11550"/>
              </a:lnSpc>
              <a:spcBef>
                <a:spcPct val="0"/>
              </a:spcBef>
            </a:pPr>
            <a:r>
              <a:rPr lang="zh-CN" altLang="en-US" sz="7700" spc="769">
                <a:solidFill>
                  <a:srgbClr val="41624D"/>
                </a:solidFill>
                <a:ea typeface="华文中宋" panose="02010600040101010101" charset="-122"/>
              </a:rPr>
              <a:t>前置知识</a:t>
            </a:r>
            <a:endParaRPr lang="zh-CN" altLang="en-US" sz="7700" spc="769">
              <a:solidFill>
                <a:srgbClr val="41624D"/>
              </a:solidFill>
              <a:ea typeface="华文中宋" panose="02010600040101010101" charset="-122"/>
            </a:endParaRPr>
          </a:p>
        </p:txBody>
      </p:sp>
      <p:sp>
        <p:nvSpPr>
          <p:cNvPr id="9" name="TextBox 9"/>
          <p:cNvSpPr txBox="1"/>
          <p:nvPr/>
        </p:nvSpPr>
        <p:spPr>
          <a:xfrm>
            <a:off x="5166849" y="6996212"/>
            <a:ext cx="7954302" cy="64579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5040"/>
              </a:lnSpc>
              <a:spcBef>
                <a:spcPct val="0"/>
              </a:spcBef>
            </a:pPr>
            <a:r>
              <a:rPr lang="en-US" altLang="zh-CN" sz="3600" spc="928">
                <a:solidFill>
                  <a:srgbClr val="343333"/>
                </a:solidFill>
                <a:latin typeface="Chakra Petch" panose="00000500000000000000"/>
              </a:rPr>
              <a:t>Prerequisite Knowledge</a:t>
            </a:r>
            <a:endParaRPr lang="en-US" altLang="zh-CN" sz="3600" spc="928">
              <a:solidFill>
                <a:srgbClr val="343333"/>
              </a:solidFill>
              <a:latin typeface="Chakra Petch" panose="00000500000000000000"/>
            </a:endParaRPr>
          </a:p>
        </p:txBody>
      </p:sp>
      <p:sp>
        <p:nvSpPr>
          <p:cNvPr id="10" name="TextBox 10"/>
          <p:cNvSpPr txBox="1"/>
          <p:nvPr/>
        </p:nvSpPr>
        <p:spPr>
          <a:xfrm>
            <a:off x="6835140" y="2179955"/>
            <a:ext cx="4549775" cy="412940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 algn="ctr">
              <a:lnSpc>
                <a:spcPts val="32200"/>
              </a:lnSpc>
              <a:spcBef>
                <a:spcPct val="0"/>
              </a:spcBef>
            </a:pPr>
            <a:r>
              <a:rPr lang="en-US" sz="23000" u="none" strike="noStrike" spc="2437">
                <a:solidFill>
                  <a:srgbClr val="41624D"/>
                </a:solidFill>
                <a:latin typeface="Chakra Petch Bold" panose="00000800000000000000"/>
              </a:rPr>
              <a:t>02</a:t>
            </a:r>
            <a:endParaRPr lang="en-US" sz="23000" u="none" strike="noStrike" spc="2437">
              <a:solidFill>
                <a:srgbClr val="41624D"/>
              </a:solidFill>
              <a:latin typeface="Chakra Petch Bold" panose="00000800000000000000"/>
            </a:endParaRPr>
          </a:p>
        </p:txBody>
      </p:sp>
      <p:grpSp>
        <p:nvGrpSpPr>
          <p:cNvPr id="11" name="Group 11"/>
          <p:cNvGrpSpPr/>
          <p:nvPr/>
        </p:nvGrpSpPr>
        <p:grpSpPr>
          <a:xfrm>
            <a:off x="4533185" y="4229821"/>
            <a:ext cx="2308536" cy="259929"/>
            <a:chOff x="0" y="0"/>
            <a:chExt cx="608009" cy="68459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608009" cy="68459"/>
            </a:xfrm>
            <a:custGeom>
              <a:avLst/>
              <a:gdLst/>
              <a:ahLst/>
              <a:cxnLst/>
              <a:rect l="l" t="t" r="r" b="b"/>
              <a:pathLst>
                <a:path w="608009" h="68459">
                  <a:moveTo>
                    <a:pt x="34229" y="0"/>
                  </a:moveTo>
                  <a:lnTo>
                    <a:pt x="573780" y="0"/>
                  </a:lnTo>
                  <a:cubicBezTo>
                    <a:pt x="592684" y="0"/>
                    <a:pt x="608009" y="15325"/>
                    <a:pt x="608009" y="34229"/>
                  </a:cubicBezTo>
                  <a:lnTo>
                    <a:pt x="608009" y="34229"/>
                  </a:lnTo>
                  <a:cubicBezTo>
                    <a:pt x="608009" y="43307"/>
                    <a:pt x="604403" y="52014"/>
                    <a:pt x="597984" y="58433"/>
                  </a:cubicBezTo>
                  <a:cubicBezTo>
                    <a:pt x="591565" y="64852"/>
                    <a:pt x="582858" y="68459"/>
                    <a:pt x="573780" y="68459"/>
                  </a:cubicBezTo>
                  <a:lnTo>
                    <a:pt x="34229" y="68459"/>
                  </a:lnTo>
                  <a:cubicBezTo>
                    <a:pt x="15325" y="68459"/>
                    <a:pt x="0" y="53134"/>
                    <a:pt x="0" y="34229"/>
                  </a:cubicBezTo>
                  <a:lnTo>
                    <a:pt x="0" y="34229"/>
                  </a:lnTo>
                  <a:cubicBezTo>
                    <a:pt x="0" y="15325"/>
                    <a:pt x="15325" y="0"/>
                    <a:pt x="34229" y="0"/>
                  </a:cubicBezTo>
                  <a:close/>
                </a:path>
              </a:pathLst>
            </a:custGeom>
            <a:solidFill>
              <a:srgbClr val="41624D"/>
            </a:solidFill>
          </p:spPr>
        </p:sp>
        <p:sp>
          <p:nvSpPr>
            <p:cNvPr id="13" name="TextBox 13"/>
            <p:cNvSpPr txBox="1"/>
            <p:nvPr/>
          </p:nvSpPr>
          <p:spPr>
            <a:xfrm>
              <a:off x="0" y="-47625"/>
              <a:ext cx="608009" cy="11608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895"/>
                </a:lnSpc>
              </a:pPr>
            </a:p>
          </p:txBody>
        </p:sp>
      </p:grpSp>
      <p:grpSp>
        <p:nvGrpSpPr>
          <p:cNvPr id="14" name="Group 14"/>
          <p:cNvGrpSpPr/>
          <p:nvPr/>
        </p:nvGrpSpPr>
        <p:grpSpPr>
          <a:xfrm>
            <a:off x="11446280" y="4229821"/>
            <a:ext cx="2308536" cy="259929"/>
            <a:chOff x="0" y="0"/>
            <a:chExt cx="608009" cy="68459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608009" cy="68459"/>
            </a:xfrm>
            <a:custGeom>
              <a:avLst/>
              <a:gdLst/>
              <a:ahLst/>
              <a:cxnLst/>
              <a:rect l="l" t="t" r="r" b="b"/>
              <a:pathLst>
                <a:path w="608009" h="68459">
                  <a:moveTo>
                    <a:pt x="34229" y="0"/>
                  </a:moveTo>
                  <a:lnTo>
                    <a:pt x="573780" y="0"/>
                  </a:lnTo>
                  <a:cubicBezTo>
                    <a:pt x="592684" y="0"/>
                    <a:pt x="608009" y="15325"/>
                    <a:pt x="608009" y="34229"/>
                  </a:cubicBezTo>
                  <a:lnTo>
                    <a:pt x="608009" y="34229"/>
                  </a:lnTo>
                  <a:cubicBezTo>
                    <a:pt x="608009" y="43307"/>
                    <a:pt x="604403" y="52014"/>
                    <a:pt x="597984" y="58433"/>
                  </a:cubicBezTo>
                  <a:cubicBezTo>
                    <a:pt x="591565" y="64852"/>
                    <a:pt x="582858" y="68459"/>
                    <a:pt x="573780" y="68459"/>
                  </a:cubicBezTo>
                  <a:lnTo>
                    <a:pt x="34229" y="68459"/>
                  </a:lnTo>
                  <a:cubicBezTo>
                    <a:pt x="15325" y="68459"/>
                    <a:pt x="0" y="53134"/>
                    <a:pt x="0" y="34229"/>
                  </a:cubicBezTo>
                  <a:lnTo>
                    <a:pt x="0" y="34229"/>
                  </a:lnTo>
                  <a:cubicBezTo>
                    <a:pt x="0" y="15325"/>
                    <a:pt x="15325" y="0"/>
                    <a:pt x="34229" y="0"/>
                  </a:cubicBezTo>
                  <a:close/>
                </a:path>
              </a:pathLst>
            </a:custGeom>
            <a:solidFill>
              <a:srgbClr val="41624D"/>
            </a:solidFill>
          </p:spPr>
        </p:sp>
        <p:sp>
          <p:nvSpPr>
            <p:cNvPr id="16" name="TextBox 16"/>
            <p:cNvSpPr txBox="1"/>
            <p:nvPr/>
          </p:nvSpPr>
          <p:spPr>
            <a:xfrm>
              <a:off x="0" y="-47625"/>
              <a:ext cx="608009" cy="11608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895"/>
                </a:lnSpc>
              </a:pPr>
            </a:p>
          </p:txBody>
        </p:sp>
      </p:grpSp>
      <p:grpSp>
        <p:nvGrpSpPr>
          <p:cNvPr id="17" name="Group 17"/>
          <p:cNvGrpSpPr/>
          <p:nvPr/>
        </p:nvGrpSpPr>
        <p:grpSpPr>
          <a:xfrm>
            <a:off x="-9525" y="-212708"/>
            <a:ext cx="1423091" cy="10984331"/>
            <a:chOff x="0" y="0"/>
            <a:chExt cx="374806" cy="2892992"/>
          </a:xfrm>
        </p:grpSpPr>
        <p:sp>
          <p:nvSpPr>
            <p:cNvPr id="18" name="Freeform 18"/>
            <p:cNvSpPr/>
            <p:nvPr/>
          </p:nvSpPr>
          <p:spPr>
            <a:xfrm>
              <a:off x="0" y="0"/>
              <a:ext cx="374806" cy="2892992"/>
            </a:xfrm>
            <a:custGeom>
              <a:avLst/>
              <a:gdLst/>
              <a:ahLst/>
              <a:cxnLst/>
              <a:rect l="l" t="t" r="r" b="b"/>
              <a:pathLst>
                <a:path w="374806" h="2892992">
                  <a:moveTo>
                    <a:pt x="0" y="0"/>
                  </a:moveTo>
                  <a:lnTo>
                    <a:pt x="374806" y="0"/>
                  </a:lnTo>
                  <a:lnTo>
                    <a:pt x="374806" y="2892992"/>
                  </a:lnTo>
                  <a:lnTo>
                    <a:pt x="0" y="2892992"/>
                  </a:lnTo>
                  <a:close/>
                </a:path>
              </a:pathLst>
            </a:custGeom>
            <a:solidFill>
              <a:srgbClr val="41624D"/>
            </a:solidFill>
          </p:spPr>
        </p:sp>
        <p:sp>
          <p:nvSpPr>
            <p:cNvPr id="19" name="TextBox 19"/>
            <p:cNvSpPr txBox="1"/>
            <p:nvPr/>
          </p:nvSpPr>
          <p:spPr>
            <a:xfrm>
              <a:off x="0" y="-28575"/>
              <a:ext cx="374806" cy="292156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60"/>
                </a:lnSpc>
                <a:spcBef>
                  <a:spcPct val="0"/>
                </a:spcBef>
              </a:pPr>
            </a:p>
          </p:txBody>
        </p:sp>
      </p:grpSp>
      <p:grpSp>
        <p:nvGrpSpPr>
          <p:cNvPr id="20" name="Group 20"/>
          <p:cNvGrpSpPr/>
          <p:nvPr/>
        </p:nvGrpSpPr>
        <p:grpSpPr>
          <a:xfrm>
            <a:off x="16864909" y="-212708"/>
            <a:ext cx="1423091" cy="10984331"/>
            <a:chOff x="0" y="0"/>
            <a:chExt cx="374806" cy="2892992"/>
          </a:xfrm>
        </p:grpSpPr>
        <p:sp>
          <p:nvSpPr>
            <p:cNvPr id="21" name="Freeform 21"/>
            <p:cNvSpPr/>
            <p:nvPr/>
          </p:nvSpPr>
          <p:spPr>
            <a:xfrm>
              <a:off x="0" y="0"/>
              <a:ext cx="374806" cy="2892992"/>
            </a:xfrm>
            <a:custGeom>
              <a:avLst/>
              <a:gdLst/>
              <a:ahLst/>
              <a:cxnLst/>
              <a:rect l="l" t="t" r="r" b="b"/>
              <a:pathLst>
                <a:path w="374806" h="2892992">
                  <a:moveTo>
                    <a:pt x="0" y="0"/>
                  </a:moveTo>
                  <a:lnTo>
                    <a:pt x="374806" y="0"/>
                  </a:lnTo>
                  <a:lnTo>
                    <a:pt x="374806" y="2892992"/>
                  </a:lnTo>
                  <a:lnTo>
                    <a:pt x="0" y="2892992"/>
                  </a:lnTo>
                  <a:close/>
                </a:path>
              </a:pathLst>
            </a:custGeom>
            <a:solidFill>
              <a:srgbClr val="41624D"/>
            </a:solidFill>
            <a:ln cap="sq">
              <a:noFill/>
              <a:prstDash val="solid"/>
              <a:miter/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0" y="-28575"/>
              <a:ext cx="374806" cy="292156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660"/>
                </a:lnSpc>
                <a:spcBef>
                  <a:spcPct val="0"/>
                </a:spcBef>
              </a:pPr>
            </a:p>
          </p:txBody>
        </p:sp>
      </p:grpSp>
      <p:grpSp>
        <p:nvGrpSpPr>
          <p:cNvPr id="26" name="Group 26"/>
          <p:cNvGrpSpPr/>
          <p:nvPr/>
        </p:nvGrpSpPr>
        <p:grpSpPr>
          <a:xfrm>
            <a:off x="17380176" y="4983658"/>
            <a:ext cx="335407" cy="319685"/>
            <a:chOff x="0" y="0"/>
            <a:chExt cx="812800" cy="774700"/>
          </a:xfrm>
        </p:grpSpPr>
        <p:sp>
          <p:nvSpPr>
            <p:cNvPr id="27" name="Freeform 27"/>
            <p:cNvSpPr/>
            <p:nvPr/>
          </p:nvSpPr>
          <p:spPr>
            <a:xfrm>
              <a:off x="0" y="0"/>
              <a:ext cx="812800" cy="774700"/>
            </a:xfrm>
            <a:custGeom>
              <a:avLst/>
              <a:gdLst/>
              <a:ahLst/>
              <a:cxnLst/>
              <a:rect l="l" t="t" r="r" b="b"/>
              <a:pathLst>
                <a:path w="812800" h="774700">
                  <a:moveTo>
                    <a:pt x="406400" y="0"/>
                  </a:moveTo>
                  <a:lnTo>
                    <a:pt x="502338" y="295909"/>
                  </a:lnTo>
                  <a:lnTo>
                    <a:pt x="812800" y="295909"/>
                  </a:lnTo>
                  <a:lnTo>
                    <a:pt x="561631" y="478791"/>
                  </a:lnTo>
                  <a:lnTo>
                    <a:pt x="657569" y="774700"/>
                  </a:lnTo>
                  <a:lnTo>
                    <a:pt x="406400" y="591819"/>
                  </a:lnTo>
                  <a:lnTo>
                    <a:pt x="155231" y="774700"/>
                  </a:lnTo>
                  <a:lnTo>
                    <a:pt x="251169" y="478791"/>
                  </a:lnTo>
                  <a:lnTo>
                    <a:pt x="0" y="295909"/>
                  </a:lnTo>
                  <a:lnTo>
                    <a:pt x="310462" y="295909"/>
                  </a:lnTo>
                  <a:lnTo>
                    <a:pt x="406400" y="0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id="28" name="TextBox 28"/>
            <p:cNvSpPr txBox="1"/>
            <p:nvPr/>
          </p:nvSpPr>
          <p:spPr>
            <a:xfrm>
              <a:off x="228600" y="219075"/>
              <a:ext cx="355600" cy="3905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895"/>
                </a:lnSpc>
              </a:pPr>
            </a:p>
          </p:txBody>
        </p:sp>
      </p:grpSp>
      <p:sp>
        <p:nvSpPr>
          <p:cNvPr id="33" name="Freeform 31"/>
          <p:cNvSpPr/>
          <p:nvPr/>
        </p:nvSpPr>
        <p:spPr>
          <a:xfrm>
            <a:off x="17165015" y="8632398"/>
            <a:ext cx="822879" cy="822879"/>
          </a:xfrm>
          <a:custGeom>
            <a:avLst/>
            <a:gdLst/>
            <a:ahLst/>
            <a:cxnLst/>
            <a:rect l="l" t="t" r="r" b="b"/>
            <a:pathLst>
              <a:path w="822879" h="822879">
                <a:moveTo>
                  <a:pt x="0" y="0"/>
                </a:moveTo>
                <a:lnTo>
                  <a:pt x="822879" y="0"/>
                </a:lnTo>
                <a:lnTo>
                  <a:pt x="822879" y="822879"/>
                </a:lnTo>
                <a:lnTo>
                  <a:pt x="0" y="822879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sp>
        <p:nvSpPr>
          <p:cNvPr id="35" name="Freeform 30"/>
          <p:cNvSpPr/>
          <p:nvPr/>
        </p:nvSpPr>
        <p:spPr>
          <a:xfrm rot="5400000">
            <a:off x="-3984375" y="4593346"/>
            <a:ext cx="9411340" cy="1014660"/>
          </a:xfrm>
          <a:custGeom>
            <a:avLst/>
            <a:gdLst/>
            <a:ahLst/>
            <a:cxnLst/>
            <a:rect l="l" t="t" r="r" b="b"/>
            <a:pathLst>
              <a:path w="9411340" h="1014660">
                <a:moveTo>
                  <a:pt x="0" y="0"/>
                </a:moveTo>
                <a:lnTo>
                  <a:pt x="9411340" y="0"/>
                </a:lnTo>
                <a:lnTo>
                  <a:pt x="9411340" y="1014660"/>
                </a:lnTo>
                <a:lnTo>
                  <a:pt x="0" y="101466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41624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-524524" y="-175524"/>
            <a:ext cx="20998807" cy="10741067"/>
            <a:chOff x="0" y="0"/>
            <a:chExt cx="27998409" cy="14321423"/>
          </a:xfrm>
        </p:grpSpPr>
        <p:sp>
          <p:nvSpPr>
            <p:cNvPr id="3" name="Freeform 3"/>
            <p:cNvSpPr/>
            <p:nvPr/>
          </p:nvSpPr>
          <p:spPr>
            <a:xfrm>
              <a:off x="14357316" y="0"/>
              <a:ext cx="13641093" cy="14321423"/>
            </a:xfrm>
            <a:custGeom>
              <a:avLst/>
              <a:gdLst/>
              <a:ahLst/>
              <a:cxnLst/>
              <a:rect l="l" t="t" r="r" b="b"/>
              <a:pathLst>
                <a:path w="13641093" h="14321423">
                  <a:moveTo>
                    <a:pt x="0" y="0"/>
                  </a:moveTo>
                  <a:lnTo>
                    <a:pt x="13641093" y="0"/>
                  </a:lnTo>
                  <a:lnTo>
                    <a:pt x="13641093" y="14321423"/>
                  </a:lnTo>
                  <a:lnTo>
                    <a:pt x="0" y="1432142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">
                <a:alphaModFix amt="9999"/>
                <a:extLst>
                  <a:ext uri="{96DAC541-7B7A-43D3-8B79-37D633B846F1}">
                    <asvg:svgBlip xmlns:asvg="http://schemas.microsoft.com/office/drawing/2016/SVG/main" r:embed="rId2"/>
                  </a:ext>
                </a:extLst>
              </a:blip>
              <a:stretch>
                <a:fillRect r="-5250"/>
              </a:stretch>
            </a:blipFill>
          </p:spPr>
        </p:sp>
        <p:sp>
          <p:nvSpPr>
            <p:cNvPr id="4" name="Freeform 4"/>
            <p:cNvSpPr/>
            <p:nvPr/>
          </p:nvSpPr>
          <p:spPr>
            <a:xfrm>
              <a:off x="0" y="0"/>
              <a:ext cx="14357316" cy="14321423"/>
            </a:xfrm>
            <a:custGeom>
              <a:avLst/>
              <a:gdLst/>
              <a:ahLst/>
              <a:cxnLst/>
              <a:rect l="l" t="t" r="r" b="b"/>
              <a:pathLst>
                <a:path w="14357316" h="14321423">
                  <a:moveTo>
                    <a:pt x="0" y="0"/>
                  </a:moveTo>
                  <a:lnTo>
                    <a:pt x="14357316" y="0"/>
                  </a:lnTo>
                  <a:lnTo>
                    <a:pt x="14357316" y="14321423"/>
                  </a:lnTo>
                  <a:lnTo>
                    <a:pt x="0" y="1432142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">
                <a:alphaModFix amt="9999"/>
                <a:extLst>
                  <a:ext uri="{96DAC541-7B7A-43D3-8B79-37D633B846F1}">
                    <asvg:svgBlip xmlns:asvg="http://schemas.microsoft.com/office/drawing/2016/SVG/main" r:embed="rId2"/>
                  </a:ext>
                </a:extLst>
              </a:blip>
              <a:stretch>
                <a:fillRect/>
              </a:stretch>
            </a:blipFill>
            <a:ln cap="sq">
              <a:noFill/>
              <a:prstDash val="solid"/>
              <a:miter/>
            </a:ln>
          </p:spPr>
        </p:sp>
      </p:grpSp>
      <p:grpSp>
        <p:nvGrpSpPr>
          <p:cNvPr id="5" name="Group 5"/>
          <p:cNvGrpSpPr/>
          <p:nvPr/>
        </p:nvGrpSpPr>
        <p:grpSpPr>
          <a:xfrm>
            <a:off x="757944" y="1028700"/>
            <a:ext cx="17092120" cy="8680123"/>
            <a:chOff x="0" y="0"/>
            <a:chExt cx="4501628" cy="2286123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4501628" cy="2286123"/>
            </a:xfrm>
            <a:custGeom>
              <a:avLst/>
              <a:gdLst/>
              <a:ahLst/>
              <a:cxnLst/>
              <a:rect l="l" t="t" r="r" b="b"/>
              <a:pathLst>
                <a:path w="4501628" h="2286123">
                  <a:moveTo>
                    <a:pt x="0" y="0"/>
                  </a:moveTo>
                  <a:lnTo>
                    <a:pt x="4501628" y="0"/>
                  </a:lnTo>
                  <a:lnTo>
                    <a:pt x="4501628" y="2286123"/>
                  </a:lnTo>
                  <a:lnTo>
                    <a:pt x="0" y="2286123"/>
                  </a:lnTo>
                  <a:close/>
                </a:path>
              </a:pathLst>
            </a:custGeom>
            <a:solidFill>
              <a:srgbClr val="D1D5BA"/>
            </a:solidFill>
          </p:spPr>
        </p:sp>
        <p:sp>
          <p:nvSpPr>
            <p:cNvPr id="7" name="TextBox 7"/>
            <p:cNvSpPr txBox="1"/>
            <p:nvPr/>
          </p:nvSpPr>
          <p:spPr>
            <a:xfrm>
              <a:off x="0" y="-28575"/>
              <a:ext cx="4501628" cy="231469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60"/>
                </a:lnSpc>
                <a:spcBef>
                  <a:spcPct val="0"/>
                </a:spcBef>
              </a:pPr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437936" y="618151"/>
            <a:ext cx="17092120" cy="8746514"/>
            <a:chOff x="0" y="0"/>
            <a:chExt cx="4501628" cy="2303609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4501628" cy="2303609"/>
            </a:xfrm>
            <a:custGeom>
              <a:avLst/>
              <a:gdLst/>
              <a:ahLst/>
              <a:cxnLst/>
              <a:rect l="l" t="t" r="r" b="b"/>
              <a:pathLst>
                <a:path w="4501628" h="2303609">
                  <a:moveTo>
                    <a:pt x="0" y="0"/>
                  </a:moveTo>
                  <a:lnTo>
                    <a:pt x="4501628" y="0"/>
                  </a:lnTo>
                  <a:lnTo>
                    <a:pt x="4501628" y="2303609"/>
                  </a:lnTo>
                  <a:lnTo>
                    <a:pt x="0" y="2303609"/>
                  </a:lnTo>
                  <a:close/>
                </a:path>
              </a:pathLst>
            </a:custGeom>
            <a:solidFill>
              <a:srgbClr val="F5FAF4"/>
            </a:solidFill>
          </p:spPr>
        </p:sp>
        <p:sp>
          <p:nvSpPr>
            <p:cNvPr id="10" name="TextBox 10"/>
            <p:cNvSpPr txBox="1"/>
            <p:nvPr/>
          </p:nvSpPr>
          <p:spPr>
            <a:xfrm>
              <a:off x="0" y="-28575"/>
              <a:ext cx="4501628" cy="233218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60"/>
                </a:lnSpc>
                <a:spcBef>
                  <a:spcPct val="0"/>
                </a:spcBef>
              </a:pPr>
            </a:p>
          </p:txBody>
        </p:sp>
      </p:grpSp>
      <p:grpSp>
        <p:nvGrpSpPr>
          <p:cNvPr id="11" name="Group 11"/>
          <p:cNvGrpSpPr/>
          <p:nvPr/>
        </p:nvGrpSpPr>
        <p:grpSpPr>
          <a:xfrm>
            <a:off x="7586072" y="1565082"/>
            <a:ext cx="3115855" cy="217179"/>
            <a:chOff x="0" y="0"/>
            <a:chExt cx="820637" cy="57199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820637" cy="57199"/>
            </a:xfrm>
            <a:custGeom>
              <a:avLst/>
              <a:gdLst/>
              <a:ahLst/>
              <a:cxnLst/>
              <a:rect l="l" t="t" r="r" b="b"/>
              <a:pathLst>
                <a:path w="820637" h="57199">
                  <a:moveTo>
                    <a:pt x="28600" y="0"/>
                  </a:moveTo>
                  <a:lnTo>
                    <a:pt x="792037" y="0"/>
                  </a:lnTo>
                  <a:cubicBezTo>
                    <a:pt x="807832" y="0"/>
                    <a:pt x="820637" y="12805"/>
                    <a:pt x="820637" y="28600"/>
                  </a:cubicBezTo>
                  <a:lnTo>
                    <a:pt x="820637" y="28600"/>
                  </a:lnTo>
                  <a:cubicBezTo>
                    <a:pt x="820637" y="44395"/>
                    <a:pt x="807832" y="57199"/>
                    <a:pt x="792037" y="57199"/>
                  </a:cubicBezTo>
                  <a:lnTo>
                    <a:pt x="28600" y="57199"/>
                  </a:lnTo>
                  <a:cubicBezTo>
                    <a:pt x="12805" y="57199"/>
                    <a:pt x="0" y="44395"/>
                    <a:pt x="0" y="28600"/>
                  </a:cubicBezTo>
                  <a:lnTo>
                    <a:pt x="0" y="28600"/>
                  </a:lnTo>
                  <a:cubicBezTo>
                    <a:pt x="0" y="12805"/>
                    <a:pt x="12805" y="0"/>
                    <a:pt x="28600" y="0"/>
                  </a:cubicBezTo>
                  <a:close/>
                </a:path>
              </a:pathLst>
            </a:custGeom>
            <a:solidFill>
              <a:srgbClr val="D1D5BA"/>
            </a:solidFill>
          </p:spPr>
        </p:sp>
        <p:sp>
          <p:nvSpPr>
            <p:cNvPr id="13" name="TextBox 13"/>
            <p:cNvSpPr txBox="1"/>
            <p:nvPr/>
          </p:nvSpPr>
          <p:spPr>
            <a:xfrm>
              <a:off x="0" y="-47625"/>
              <a:ext cx="820637" cy="10482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895"/>
                </a:lnSpc>
              </a:pPr>
            </a:p>
          </p:txBody>
        </p:sp>
      </p:grpSp>
      <p:sp>
        <p:nvSpPr>
          <p:cNvPr id="14" name="TextBox 14"/>
          <p:cNvSpPr txBox="1"/>
          <p:nvPr/>
        </p:nvSpPr>
        <p:spPr>
          <a:xfrm>
            <a:off x="4984115" y="944880"/>
            <a:ext cx="8219440" cy="80772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 algn="ctr">
              <a:lnSpc>
                <a:spcPts val="6300"/>
              </a:lnSpc>
              <a:spcBef>
                <a:spcPct val="0"/>
              </a:spcBef>
            </a:pPr>
            <a:r>
              <a:rPr lang="zh-CN" altLang="en-US" sz="4200" spc="420">
                <a:solidFill>
                  <a:srgbClr val="343333"/>
                </a:solidFill>
                <a:ea typeface="华文中宋" panose="02010600040101010101" charset="-122"/>
              </a:rPr>
              <a:t>量子计算与后量子</a:t>
            </a:r>
            <a:r>
              <a:rPr lang="zh-CN" altLang="en-US" sz="4200" spc="420">
                <a:solidFill>
                  <a:srgbClr val="343333"/>
                </a:solidFill>
                <a:ea typeface="华文中宋" panose="02010600040101010101" charset="-122"/>
              </a:rPr>
              <a:t>密码</a:t>
            </a:r>
            <a:endParaRPr lang="zh-CN" altLang="en-US" sz="4200" spc="420">
              <a:solidFill>
                <a:srgbClr val="343333"/>
              </a:solidFill>
              <a:ea typeface="华文中宋" panose="02010600040101010101" charset="-122"/>
            </a:endParaRPr>
          </a:p>
        </p:txBody>
      </p:sp>
      <p:sp>
        <p:nvSpPr>
          <p:cNvPr id="15" name="TextBox 15"/>
          <p:cNvSpPr txBox="1"/>
          <p:nvPr/>
        </p:nvSpPr>
        <p:spPr>
          <a:xfrm>
            <a:off x="1277765" y="7088556"/>
            <a:ext cx="3043255" cy="5022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3920"/>
              </a:lnSpc>
              <a:spcBef>
                <a:spcPct val="0"/>
              </a:spcBef>
            </a:pPr>
            <a:r>
              <a:rPr lang="en-US" altLang="zh-CN" sz="2800" spc="279">
                <a:solidFill>
                  <a:srgbClr val="41624D"/>
                </a:solidFill>
                <a:ea typeface="方正大黑体_GBK" panose="02010600010101010101" charset="-122"/>
              </a:rPr>
              <a:t>3. </a:t>
            </a:r>
            <a:r>
              <a:rPr lang="zh-CN" altLang="en-US" sz="2800" spc="279">
                <a:solidFill>
                  <a:srgbClr val="41624D"/>
                </a:solidFill>
                <a:ea typeface="方正大黑体_GBK" panose="02010600010101010101" charset="-122"/>
              </a:rPr>
              <a:t>现实威胁</a:t>
            </a:r>
            <a:endParaRPr lang="zh-CN" altLang="en-US" sz="2800" spc="279">
              <a:solidFill>
                <a:srgbClr val="41624D"/>
              </a:solidFill>
              <a:ea typeface="方正大黑体_GBK" panose="02010600010101010101" charset="-122"/>
            </a:endParaRPr>
          </a:p>
        </p:txBody>
      </p:sp>
      <p:sp>
        <p:nvSpPr>
          <p:cNvPr id="16" name="TextBox 16"/>
          <p:cNvSpPr txBox="1"/>
          <p:nvPr/>
        </p:nvSpPr>
        <p:spPr>
          <a:xfrm>
            <a:off x="1277764" y="7717177"/>
            <a:ext cx="7710133" cy="115379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 algn="l">
              <a:lnSpc>
                <a:spcPts val="3000"/>
              </a:lnSpc>
              <a:spcBef>
                <a:spcPct val="0"/>
              </a:spcBef>
            </a:pPr>
            <a:r>
              <a:rPr lang="zh-CN" altLang="en-US" sz="2000" dirty="0">
                <a:solidFill>
                  <a:srgbClr val="343333"/>
                </a:solidFill>
                <a:ea typeface="清雅黑体" panose="00000500000000000000" charset="-122"/>
              </a:rPr>
              <a:t>经典算法对大数分解无能为力（</a:t>
            </a:r>
            <a:r>
              <a:rPr lang="en-US" altLang="zh-CN" sz="2000" dirty="0">
                <a:solidFill>
                  <a:srgbClr val="343333"/>
                </a:solidFill>
                <a:ea typeface="清雅黑体" panose="00000500000000000000" charset="-122"/>
              </a:rPr>
              <a:t>NP</a:t>
            </a:r>
            <a:r>
              <a:rPr lang="zh-CN" altLang="en-US" sz="2000" dirty="0">
                <a:solidFill>
                  <a:srgbClr val="343333"/>
                </a:solidFill>
                <a:ea typeface="清雅黑体" panose="00000500000000000000" charset="-122"/>
              </a:rPr>
              <a:t>问题）</a:t>
            </a:r>
            <a:endParaRPr lang="en-US" altLang="zh-CN" sz="2000" dirty="0">
              <a:solidFill>
                <a:srgbClr val="343333"/>
              </a:solidFill>
              <a:ea typeface="清雅黑体" panose="00000500000000000000" charset="-122"/>
            </a:endParaRPr>
          </a:p>
          <a:p>
            <a:pPr marL="0" lvl="0" indent="0" algn="l">
              <a:lnSpc>
                <a:spcPts val="3000"/>
              </a:lnSpc>
              <a:spcBef>
                <a:spcPct val="0"/>
              </a:spcBef>
            </a:pPr>
            <a:r>
              <a:rPr lang="en-US" altLang="zh-CN" sz="2000" dirty="0">
                <a:solidFill>
                  <a:srgbClr val="343333"/>
                </a:solidFill>
                <a:ea typeface="清雅黑体" panose="00000500000000000000" charset="-122"/>
              </a:rPr>
              <a:t>Shor</a:t>
            </a:r>
            <a:r>
              <a:rPr lang="zh-CN" altLang="en-US" sz="2000" dirty="0">
                <a:solidFill>
                  <a:srgbClr val="343333"/>
                </a:solidFill>
                <a:ea typeface="清雅黑体" panose="00000500000000000000" charset="-122"/>
              </a:rPr>
              <a:t>算法为量子计算机提供了多项式时间解法</a:t>
            </a:r>
            <a:endParaRPr lang="en-US" altLang="zh-CN" sz="2000" dirty="0">
              <a:solidFill>
                <a:srgbClr val="343333"/>
              </a:solidFill>
              <a:ea typeface="清雅黑体" panose="00000500000000000000" charset="-122"/>
            </a:endParaRPr>
          </a:p>
          <a:p>
            <a:pPr marL="0" lvl="0" indent="0" algn="l">
              <a:lnSpc>
                <a:spcPts val="3000"/>
              </a:lnSpc>
              <a:spcBef>
                <a:spcPct val="0"/>
              </a:spcBef>
            </a:pPr>
            <a:r>
              <a:rPr lang="zh-CN" altLang="en-US" sz="2000" dirty="0">
                <a:solidFill>
                  <a:srgbClr val="343333"/>
                </a:solidFill>
                <a:ea typeface="清雅黑体" panose="00000500000000000000" charset="-122"/>
              </a:rPr>
              <a:t>例：分解</a:t>
            </a:r>
            <a:r>
              <a:rPr lang="en-US" altLang="zh-CN" sz="2000" dirty="0">
                <a:solidFill>
                  <a:srgbClr val="343333"/>
                </a:solidFill>
                <a:ea typeface="清雅黑体" panose="00000500000000000000" charset="-122"/>
              </a:rPr>
              <a:t>1000</a:t>
            </a:r>
            <a:r>
              <a:rPr lang="zh-CN" altLang="en-US" sz="2000" dirty="0">
                <a:solidFill>
                  <a:srgbClr val="343333"/>
                </a:solidFill>
                <a:ea typeface="清雅黑体" panose="00000500000000000000" charset="-122"/>
              </a:rPr>
              <a:t>位大数，经典需数百年，量子仅需几分之一秒</a:t>
            </a:r>
            <a:endParaRPr lang="zh-CN" altLang="en-US" sz="2000" dirty="0">
              <a:solidFill>
                <a:srgbClr val="343333"/>
              </a:solidFill>
              <a:ea typeface="清雅黑体" panose="00000500000000000000" charset="-122"/>
            </a:endParaRPr>
          </a:p>
        </p:txBody>
      </p:sp>
      <p:sp>
        <p:nvSpPr>
          <p:cNvPr id="17" name="AutoShape 17"/>
          <p:cNvSpPr/>
          <p:nvPr/>
        </p:nvSpPr>
        <p:spPr>
          <a:xfrm>
            <a:off x="1287290" y="6782301"/>
            <a:ext cx="7570559" cy="0"/>
          </a:xfrm>
          <a:prstGeom prst="line">
            <a:avLst/>
          </a:prstGeom>
          <a:ln w="19050" cap="flat">
            <a:solidFill>
              <a:srgbClr val="41624D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20" name="TextBox 20"/>
          <p:cNvSpPr txBox="1"/>
          <p:nvPr/>
        </p:nvSpPr>
        <p:spPr>
          <a:xfrm>
            <a:off x="9528810" y="7088505"/>
            <a:ext cx="6042025" cy="50228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 algn="l">
              <a:lnSpc>
                <a:spcPts val="3920"/>
              </a:lnSpc>
              <a:spcBef>
                <a:spcPct val="0"/>
              </a:spcBef>
            </a:pPr>
            <a:r>
              <a:rPr lang="en-US" altLang="zh-CN" sz="2800" spc="279">
                <a:solidFill>
                  <a:srgbClr val="41624D"/>
                </a:solidFill>
                <a:ea typeface="方正大黑体_GBK" panose="02010600010101010101" charset="-122"/>
              </a:rPr>
              <a:t>4. </a:t>
            </a:r>
            <a:r>
              <a:rPr lang="zh-CN" altLang="en-US" sz="2800" spc="279">
                <a:solidFill>
                  <a:srgbClr val="41624D"/>
                </a:solidFill>
                <a:ea typeface="方正大黑体_GBK" panose="02010600010101010101" charset="-122"/>
              </a:rPr>
              <a:t>应对：后量子密码（</a:t>
            </a:r>
            <a:r>
              <a:rPr lang="en-US" altLang="zh-CN" sz="2800" spc="279">
                <a:solidFill>
                  <a:srgbClr val="41624D"/>
                </a:solidFill>
                <a:ea typeface="方正大黑体_GBK" panose="02010600010101010101" charset="-122"/>
              </a:rPr>
              <a:t>PQC</a:t>
            </a:r>
            <a:r>
              <a:rPr lang="zh-CN" altLang="en-US" sz="2800" spc="279">
                <a:solidFill>
                  <a:srgbClr val="41624D"/>
                </a:solidFill>
                <a:ea typeface="方正大黑体_GBK" panose="02010600010101010101" charset="-122"/>
              </a:rPr>
              <a:t>）</a:t>
            </a:r>
            <a:endParaRPr lang="zh-CN" altLang="en-US" sz="2800" spc="279">
              <a:solidFill>
                <a:srgbClr val="41624D"/>
              </a:solidFill>
              <a:ea typeface="方正大黑体_GBK" panose="02010600010101010101" charset="-122"/>
            </a:endParaRPr>
          </a:p>
        </p:txBody>
      </p:sp>
      <p:sp>
        <p:nvSpPr>
          <p:cNvPr id="21" name="TextBox 21"/>
          <p:cNvSpPr txBox="1"/>
          <p:nvPr/>
        </p:nvSpPr>
        <p:spPr>
          <a:xfrm>
            <a:off x="9528550" y="7717177"/>
            <a:ext cx="7580084" cy="153860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 algn="just">
              <a:lnSpc>
                <a:spcPts val="3000"/>
              </a:lnSpc>
              <a:spcBef>
                <a:spcPct val="0"/>
              </a:spcBef>
            </a:pPr>
            <a:r>
              <a:rPr lang="zh-CN" altLang="en-US" sz="2000">
                <a:solidFill>
                  <a:srgbClr val="343333"/>
                </a:solidFill>
                <a:ea typeface="清雅黑体" panose="00000500000000000000" charset="-122"/>
              </a:rPr>
              <a:t>必须设计能抵抗量子攻击的新型密码算法</a:t>
            </a:r>
            <a:endParaRPr lang="en-US" altLang="zh-CN" sz="2000">
              <a:solidFill>
                <a:srgbClr val="343333"/>
              </a:solidFill>
              <a:ea typeface="清雅黑体" panose="00000500000000000000" charset="-122"/>
            </a:endParaRPr>
          </a:p>
          <a:p>
            <a:pPr marL="0" lvl="0" indent="0" algn="just">
              <a:lnSpc>
                <a:spcPts val="3000"/>
              </a:lnSpc>
              <a:spcBef>
                <a:spcPct val="0"/>
              </a:spcBef>
            </a:pPr>
            <a:r>
              <a:rPr lang="en-US" altLang="zh-CN" sz="2000">
                <a:solidFill>
                  <a:srgbClr val="343333"/>
                </a:solidFill>
                <a:ea typeface="清雅黑体" panose="00000500000000000000" charset="-122"/>
              </a:rPr>
              <a:t>NIST</a:t>
            </a:r>
            <a:r>
              <a:rPr lang="zh-CN" altLang="en-US" sz="2000">
                <a:solidFill>
                  <a:srgbClr val="343333"/>
                </a:solidFill>
                <a:ea typeface="清雅黑体" panose="00000500000000000000" charset="-122"/>
              </a:rPr>
              <a:t>自</a:t>
            </a:r>
            <a:r>
              <a:rPr lang="en-US" altLang="zh-CN" sz="2000">
                <a:solidFill>
                  <a:srgbClr val="343333"/>
                </a:solidFill>
                <a:ea typeface="清雅黑体" panose="00000500000000000000" charset="-122"/>
              </a:rPr>
              <a:t>2016</a:t>
            </a:r>
            <a:r>
              <a:rPr lang="zh-CN" altLang="en-US" sz="2000">
                <a:solidFill>
                  <a:srgbClr val="343333"/>
                </a:solidFill>
                <a:ea typeface="清雅黑体" panose="00000500000000000000" charset="-122"/>
              </a:rPr>
              <a:t>年启动</a:t>
            </a:r>
            <a:r>
              <a:rPr lang="en-US" altLang="zh-CN" sz="2000">
                <a:solidFill>
                  <a:srgbClr val="343333"/>
                </a:solidFill>
                <a:ea typeface="清雅黑体" panose="00000500000000000000" charset="-122"/>
              </a:rPr>
              <a:t>PQC</a:t>
            </a:r>
            <a:r>
              <a:rPr lang="zh-CN" altLang="en-US" sz="2000">
                <a:solidFill>
                  <a:srgbClr val="343333"/>
                </a:solidFill>
                <a:ea typeface="清雅黑体" panose="00000500000000000000" charset="-122"/>
              </a:rPr>
              <a:t>标准化，</a:t>
            </a:r>
            <a:r>
              <a:rPr lang="en-US" altLang="zh-CN" sz="2000">
                <a:solidFill>
                  <a:srgbClr val="343333"/>
                </a:solidFill>
                <a:ea typeface="清雅黑体" panose="00000500000000000000" charset="-122"/>
              </a:rPr>
              <a:t>2024</a:t>
            </a:r>
            <a:r>
              <a:rPr lang="zh-CN" altLang="en-US" sz="2000">
                <a:solidFill>
                  <a:srgbClr val="343333"/>
                </a:solidFill>
                <a:ea typeface="清雅黑体" panose="00000500000000000000" charset="-122"/>
              </a:rPr>
              <a:t>年发布首批标准</a:t>
            </a:r>
            <a:endParaRPr lang="en-US" altLang="zh-CN" sz="2000">
              <a:solidFill>
                <a:srgbClr val="343333"/>
              </a:solidFill>
              <a:ea typeface="清雅黑体" panose="00000500000000000000" charset="-122"/>
            </a:endParaRPr>
          </a:p>
          <a:p>
            <a:pPr marL="0" lvl="0" indent="0" algn="just">
              <a:lnSpc>
                <a:spcPts val="3000"/>
              </a:lnSpc>
              <a:spcBef>
                <a:spcPct val="0"/>
              </a:spcBef>
            </a:pPr>
            <a:r>
              <a:rPr lang="en-US" altLang="zh-CN" sz="2000">
                <a:solidFill>
                  <a:srgbClr val="343333"/>
                </a:solidFill>
                <a:ea typeface="清雅黑体" panose="00000500000000000000" charset="-122"/>
              </a:rPr>
              <a:t>ML-KEM</a:t>
            </a:r>
            <a:r>
              <a:rPr lang="zh-CN" altLang="en-US" sz="2000">
                <a:solidFill>
                  <a:srgbClr val="343333"/>
                </a:solidFill>
                <a:ea typeface="清雅黑体" panose="00000500000000000000" charset="-122"/>
              </a:rPr>
              <a:t>（基于模格</a:t>
            </a:r>
            <a:r>
              <a:rPr lang="en-US" altLang="zh-CN" sz="2000">
                <a:solidFill>
                  <a:srgbClr val="343333"/>
                </a:solidFill>
                <a:ea typeface="清雅黑体" panose="00000500000000000000" charset="-122"/>
              </a:rPr>
              <a:t>LWE</a:t>
            </a:r>
            <a:r>
              <a:rPr lang="zh-CN" altLang="en-US" sz="2000">
                <a:solidFill>
                  <a:srgbClr val="343333"/>
                </a:solidFill>
                <a:ea typeface="清雅黑体" panose="00000500000000000000" charset="-122"/>
              </a:rPr>
              <a:t>）、</a:t>
            </a:r>
            <a:r>
              <a:rPr lang="en-US" altLang="zh-CN" sz="2000">
                <a:solidFill>
                  <a:srgbClr val="343333"/>
                </a:solidFill>
                <a:ea typeface="清雅黑体" panose="00000500000000000000" charset="-122"/>
              </a:rPr>
              <a:t>ML-DSA</a:t>
            </a:r>
            <a:r>
              <a:rPr lang="zh-CN" altLang="en-US" sz="2000">
                <a:solidFill>
                  <a:srgbClr val="343333"/>
                </a:solidFill>
                <a:ea typeface="清雅黑体" panose="00000500000000000000" charset="-122"/>
              </a:rPr>
              <a:t>（基于模格</a:t>
            </a:r>
            <a:r>
              <a:rPr lang="en-US" altLang="zh-CN" sz="2000">
                <a:solidFill>
                  <a:srgbClr val="343333"/>
                </a:solidFill>
                <a:ea typeface="清雅黑体" panose="00000500000000000000" charset="-122"/>
              </a:rPr>
              <a:t>SIS</a:t>
            </a:r>
            <a:r>
              <a:rPr lang="zh-CN" altLang="en-US" sz="2000">
                <a:solidFill>
                  <a:srgbClr val="343333"/>
                </a:solidFill>
                <a:ea typeface="清雅黑体" panose="00000500000000000000" charset="-122"/>
              </a:rPr>
              <a:t>）</a:t>
            </a:r>
            <a:endParaRPr lang="en-US" altLang="zh-CN" sz="2000">
              <a:solidFill>
                <a:srgbClr val="343333"/>
              </a:solidFill>
              <a:ea typeface="清雅黑体" panose="00000500000000000000" charset="-122"/>
            </a:endParaRPr>
          </a:p>
          <a:p>
            <a:pPr marL="0" lvl="0" indent="0" algn="just">
              <a:lnSpc>
                <a:spcPts val="3000"/>
              </a:lnSpc>
              <a:spcBef>
                <a:spcPct val="0"/>
              </a:spcBef>
            </a:pPr>
            <a:r>
              <a:rPr lang="zh-CN" altLang="en-US" sz="2000">
                <a:solidFill>
                  <a:srgbClr val="343333"/>
                </a:solidFill>
                <a:ea typeface="清雅黑体" panose="00000500000000000000" charset="-122"/>
              </a:rPr>
              <a:t>格密码（</a:t>
            </a:r>
            <a:r>
              <a:rPr lang="en-US" altLang="zh-CN" sz="2000">
                <a:solidFill>
                  <a:srgbClr val="343333"/>
                </a:solidFill>
                <a:ea typeface="清雅黑体" panose="00000500000000000000" charset="-122"/>
              </a:rPr>
              <a:t>LWE</a:t>
            </a:r>
            <a:r>
              <a:rPr lang="zh-CN" altLang="en-US" sz="2000">
                <a:solidFill>
                  <a:srgbClr val="343333"/>
                </a:solidFill>
                <a:ea typeface="清雅黑体" panose="00000500000000000000" charset="-122"/>
              </a:rPr>
              <a:t>、</a:t>
            </a:r>
            <a:r>
              <a:rPr lang="en-US" altLang="zh-CN" sz="2000">
                <a:solidFill>
                  <a:srgbClr val="343333"/>
                </a:solidFill>
                <a:ea typeface="清雅黑体" panose="00000500000000000000" charset="-122"/>
              </a:rPr>
              <a:t>SIS</a:t>
            </a:r>
            <a:r>
              <a:rPr lang="zh-CN" altLang="en-US" sz="2000">
                <a:solidFill>
                  <a:srgbClr val="343333"/>
                </a:solidFill>
                <a:ea typeface="清雅黑体" panose="00000500000000000000" charset="-122"/>
              </a:rPr>
              <a:t>等）是</a:t>
            </a:r>
            <a:r>
              <a:rPr lang="en-US" altLang="zh-CN" sz="2000">
                <a:solidFill>
                  <a:srgbClr val="343333"/>
                </a:solidFill>
                <a:ea typeface="清雅黑体" panose="00000500000000000000" charset="-122"/>
              </a:rPr>
              <a:t>PQC</a:t>
            </a:r>
            <a:r>
              <a:rPr lang="zh-CN" altLang="en-US" sz="2000">
                <a:solidFill>
                  <a:srgbClr val="343333"/>
                </a:solidFill>
                <a:ea typeface="清雅黑体" panose="00000500000000000000" charset="-122"/>
              </a:rPr>
              <a:t>主流技术路线，也是本论文的基础</a:t>
            </a:r>
            <a:endParaRPr lang="zh-CN" altLang="en-US" sz="2000">
              <a:solidFill>
                <a:srgbClr val="343333"/>
              </a:solidFill>
              <a:ea typeface="清雅黑体" panose="00000500000000000000" charset="-122"/>
            </a:endParaRPr>
          </a:p>
        </p:txBody>
      </p:sp>
      <p:sp>
        <p:nvSpPr>
          <p:cNvPr id="22" name="AutoShape 22"/>
          <p:cNvSpPr/>
          <p:nvPr/>
        </p:nvSpPr>
        <p:spPr>
          <a:xfrm>
            <a:off x="9538075" y="6782301"/>
            <a:ext cx="7570559" cy="0"/>
          </a:xfrm>
          <a:prstGeom prst="line">
            <a:avLst/>
          </a:prstGeom>
          <a:ln w="19050" cap="flat">
            <a:solidFill>
              <a:srgbClr val="41624D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31" name="TextBox 15"/>
          <p:cNvSpPr txBox="1"/>
          <p:nvPr/>
        </p:nvSpPr>
        <p:spPr>
          <a:xfrm>
            <a:off x="1277620" y="2782570"/>
            <a:ext cx="4957445" cy="50228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 algn="l">
              <a:lnSpc>
                <a:spcPts val="3920"/>
              </a:lnSpc>
              <a:spcBef>
                <a:spcPct val="0"/>
              </a:spcBef>
            </a:pPr>
            <a:r>
              <a:rPr lang="en-US" altLang="zh-CN" sz="2800" spc="279">
                <a:solidFill>
                  <a:srgbClr val="41624D"/>
                </a:solidFill>
                <a:ea typeface="方正大黑体_GBK" panose="02010600010101010101" charset="-122"/>
              </a:rPr>
              <a:t>1. </a:t>
            </a:r>
            <a:r>
              <a:rPr lang="zh-CN" altLang="en-US" sz="2800" spc="279">
                <a:solidFill>
                  <a:srgbClr val="41624D"/>
                </a:solidFill>
                <a:ea typeface="方正大黑体_GBK" panose="02010600010101010101" charset="-122"/>
              </a:rPr>
              <a:t>量子计算的颠覆性能力</a:t>
            </a:r>
            <a:endParaRPr lang="zh-CN" altLang="en-US" sz="2800" spc="279">
              <a:solidFill>
                <a:srgbClr val="41624D"/>
              </a:solidFill>
              <a:ea typeface="方正大黑体_GBK" panose="02010600010101010101" charset="-122"/>
            </a:endParaRPr>
          </a:p>
        </p:txBody>
      </p:sp>
      <p:sp>
        <p:nvSpPr>
          <p:cNvPr id="32" name="TextBox 16"/>
          <p:cNvSpPr txBox="1"/>
          <p:nvPr/>
        </p:nvSpPr>
        <p:spPr>
          <a:xfrm>
            <a:off x="1277764" y="3411242"/>
            <a:ext cx="7710133" cy="115379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 algn="l">
              <a:lnSpc>
                <a:spcPts val="3000"/>
              </a:lnSpc>
              <a:spcBef>
                <a:spcPct val="0"/>
              </a:spcBef>
            </a:pPr>
            <a:r>
              <a:rPr lang="zh-CN" altLang="en-US" sz="2000" dirty="0">
                <a:solidFill>
                  <a:srgbClr val="343333"/>
                </a:solidFill>
                <a:ea typeface="清雅黑体" panose="00000500000000000000" charset="-122"/>
              </a:rPr>
              <a:t>量子计算具有超强并行处理能力（基于量子态叠加）</a:t>
            </a:r>
            <a:endParaRPr lang="en-US" altLang="zh-CN" sz="2000" dirty="0">
              <a:solidFill>
                <a:srgbClr val="343333"/>
              </a:solidFill>
              <a:ea typeface="清雅黑体" panose="00000500000000000000" charset="-122"/>
            </a:endParaRPr>
          </a:p>
          <a:p>
            <a:pPr marL="0" lvl="0" indent="0" algn="l">
              <a:lnSpc>
                <a:spcPts val="3000"/>
              </a:lnSpc>
              <a:spcBef>
                <a:spcPct val="0"/>
              </a:spcBef>
            </a:pPr>
            <a:r>
              <a:rPr lang="en-US" altLang="zh-CN" sz="2000" dirty="0">
                <a:solidFill>
                  <a:srgbClr val="343333"/>
                </a:solidFill>
                <a:ea typeface="清雅黑体" panose="00000500000000000000" charset="-122"/>
              </a:rPr>
              <a:t>Shor</a:t>
            </a:r>
            <a:r>
              <a:rPr lang="zh-CN" altLang="en-US" sz="2000" dirty="0">
                <a:solidFill>
                  <a:srgbClr val="343333"/>
                </a:solidFill>
                <a:ea typeface="清雅黑体" panose="00000500000000000000" charset="-122"/>
              </a:rPr>
              <a:t>算法（</a:t>
            </a:r>
            <a:r>
              <a:rPr lang="en-US" altLang="zh-CN" sz="2000" dirty="0">
                <a:solidFill>
                  <a:srgbClr val="343333"/>
                </a:solidFill>
                <a:ea typeface="清雅黑体" panose="00000500000000000000" charset="-122"/>
              </a:rPr>
              <a:t>1994</a:t>
            </a:r>
            <a:r>
              <a:rPr lang="zh-CN" altLang="en-US" sz="2000" dirty="0">
                <a:solidFill>
                  <a:srgbClr val="343333"/>
                </a:solidFill>
                <a:ea typeface="清雅黑体" panose="00000500000000000000" charset="-122"/>
              </a:rPr>
              <a:t>）：多项式时间内完成大整数分解与离散对数求解</a:t>
            </a:r>
            <a:endParaRPr lang="en-US" altLang="zh-CN" sz="2000" dirty="0">
              <a:solidFill>
                <a:srgbClr val="343333"/>
              </a:solidFill>
              <a:ea typeface="清雅黑体" panose="00000500000000000000" charset="-122"/>
            </a:endParaRPr>
          </a:p>
          <a:p>
            <a:pPr marL="0" lvl="0" indent="0" algn="l">
              <a:lnSpc>
                <a:spcPts val="3000"/>
              </a:lnSpc>
              <a:spcBef>
                <a:spcPct val="0"/>
              </a:spcBef>
            </a:pPr>
            <a:r>
              <a:rPr lang="en-US" altLang="en-US" sz="2000" dirty="0">
                <a:solidFill>
                  <a:srgbClr val="343333"/>
                </a:solidFill>
                <a:ea typeface="清雅黑体" panose="00000500000000000000" charset="-122"/>
              </a:rPr>
              <a:t>→</a:t>
            </a:r>
            <a:r>
              <a:rPr lang="en-US" altLang="zh-CN" sz="2000" dirty="0">
                <a:solidFill>
                  <a:srgbClr val="343333"/>
                </a:solidFill>
                <a:ea typeface="清雅黑体" panose="00000500000000000000" charset="-122"/>
              </a:rPr>
              <a:t> RSA</a:t>
            </a:r>
            <a:r>
              <a:rPr lang="zh-CN" altLang="en-US" sz="2000" dirty="0">
                <a:solidFill>
                  <a:srgbClr val="343333"/>
                </a:solidFill>
                <a:ea typeface="清雅黑体" panose="00000500000000000000" charset="-122"/>
              </a:rPr>
              <a:t>、</a:t>
            </a:r>
            <a:r>
              <a:rPr lang="en-US" altLang="zh-CN" sz="2000" dirty="0">
                <a:solidFill>
                  <a:srgbClr val="343333"/>
                </a:solidFill>
                <a:ea typeface="清雅黑体" panose="00000500000000000000" charset="-122"/>
              </a:rPr>
              <a:t>ECC</a:t>
            </a:r>
            <a:r>
              <a:rPr lang="zh-CN" altLang="en-US" sz="2000" dirty="0">
                <a:solidFill>
                  <a:srgbClr val="343333"/>
                </a:solidFill>
                <a:ea typeface="清雅黑体" panose="00000500000000000000" charset="-122"/>
              </a:rPr>
              <a:t>等公钥密码体系面临根本性威胁</a:t>
            </a:r>
            <a:endParaRPr lang="zh-CN" altLang="en-US" sz="2000" dirty="0">
              <a:solidFill>
                <a:srgbClr val="343333"/>
              </a:solidFill>
              <a:ea typeface="清雅黑体" panose="00000500000000000000" charset="-122"/>
            </a:endParaRPr>
          </a:p>
        </p:txBody>
      </p:sp>
      <p:sp>
        <p:nvSpPr>
          <p:cNvPr id="33" name="AutoShape 17"/>
          <p:cNvSpPr/>
          <p:nvPr/>
        </p:nvSpPr>
        <p:spPr>
          <a:xfrm>
            <a:off x="1287290" y="2476366"/>
            <a:ext cx="7570559" cy="0"/>
          </a:xfrm>
          <a:prstGeom prst="line">
            <a:avLst/>
          </a:prstGeom>
          <a:ln w="19050" cap="flat">
            <a:solidFill>
              <a:srgbClr val="41624D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34" name="TextBox 20"/>
          <p:cNvSpPr txBox="1"/>
          <p:nvPr/>
        </p:nvSpPr>
        <p:spPr>
          <a:xfrm>
            <a:off x="9528550" y="2782621"/>
            <a:ext cx="3043255" cy="5022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3920"/>
              </a:lnSpc>
              <a:spcBef>
                <a:spcPct val="0"/>
              </a:spcBef>
            </a:pPr>
            <a:r>
              <a:rPr lang="en-US" altLang="zh-CN" sz="2800" spc="279">
                <a:solidFill>
                  <a:srgbClr val="41624D"/>
                </a:solidFill>
                <a:ea typeface="方正大黑体_GBK" panose="02010600010101010101" charset="-122"/>
              </a:rPr>
              <a:t>2. Shor</a:t>
            </a:r>
            <a:r>
              <a:rPr lang="zh-CN" altLang="en-US" sz="2800" spc="279">
                <a:solidFill>
                  <a:srgbClr val="41624D"/>
                </a:solidFill>
                <a:ea typeface="方正大黑体_GBK" panose="02010600010101010101" charset="-122"/>
              </a:rPr>
              <a:t>算法原理</a:t>
            </a:r>
            <a:endParaRPr lang="zh-CN" altLang="en-US" sz="2800" spc="279">
              <a:solidFill>
                <a:srgbClr val="41624D"/>
              </a:solidFill>
              <a:ea typeface="方正大黑体_GBK" panose="02010600010101010101" charset="-122"/>
            </a:endParaRPr>
          </a:p>
        </p:txBody>
      </p:sp>
      <p:sp>
        <p:nvSpPr>
          <p:cNvPr id="35" name="TextBox 21"/>
          <p:cNvSpPr txBox="1"/>
          <p:nvPr/>
        </p:nvSpPr>
        <p:spPr>
          <a:xfrm>
            <a:off x="9528550" y="3411242"/>
            <a:ext cx="7580084" cy="153860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 algn="just">
              <a:lnSpc>
                <a:spcPts val="3000"/>
              </a:lnSpc>
              <a:spcBef>
                <a:spcPct val="0"/>
              </a:spcBef>
            </a:pPr>
            <a:r>
              <a:rPr lang="zh-CN" altLang="en-US" sz="2000">
                <a:solidFill>
                  <a:srgbClr val="343333"/>
                </a:solidFill>
                <a:ea typeface="清雅黑体" panose="00000500000000000000" charset="-122"/>
              </a:rPr>
              <a:t>将大数分解问题转化为求函数周期问题</a:t>
            </a:r>
            <a:endParaRPr lang="en-US" altLang="zh-CN" sz="2000">
              <a:solidFill>
                <a:srgbClr val="343333"/>
              </a:solidFill>
              <a:ea typeface="清雅黑体" panose="00000500000000000000" charset="-122"/>
            </a:endParaRPr>
          </a:p>
          <a:p>
            <a:pPr marL="0" lvl="0" indent="0" algn="just">
              <a:lnSpc>
                <a:spcPts val="3000"/>
              </a:lnSpc>
              <a:spcBef>
                <a:spcPct val="0"/>
              </a:spcBef>
            </a:pPr>
            <a:r>
              <a:rPr lang="zh-CN" altLang="en-US" sz="2000">
                <a:solidFill>
                  <a:srgbClr val="343333"/>
                </a:solidFill>
                <a:ea typeface="清雅黑体" panose="00000500000000000000" charset="-122"/>
              </a:rPr>
              <a:t>利用量子并行性一步获得所有函数值的叠加态</a:t>
            </a:r>
            <a:endParaRPr lang="en-US" altLang="zh-CN" sz="2000">
              <a:solidFill>
                <a:srgbClr val="343333"/>
              </a:solidFill>
              <a:ea typeface="清雅黑体" panose="00000500000000000000" charset="-122"/>
            </a:endParaRPr>
          </a:p>
          <a:p>
            <a:pPr marL="0" lvl="0" indent="0" algn="just">
              <a:lnSpc>
                <a:spcPts val="3000"/>
              </a:lnSpc>
              <a:spcBef>
                <a:spcPct val="0"/>
              </a:spcBef>
            </a:pPr>
            <a:r>
              <a:rPr lang="zh-CN" altLang="en-US" sz="2000">
                <a:solidFill>
                  <a:srgbClr val="343333"/>
                </a:solidFill>
                <a:ea typeface="清雅黑体" panose="00000500000000000000" charset="-122"/>
              </a:rPr>
              <a:t>通过量子傅里叶变换（</a:t>
            </a:r>
            <a:r>
              <a:rPr lang="en-US" altLang="zh-CN" sz="2000">
                <a:solidFill>
                  <a:srgbClr val="343333"/>
                </a:solidFill>
                <a:ea typeface="清雅黑体" panose="00000500000000000000" charset="-122"/>
              </a:rPr>
              <a:t>QFT</a:t>
            </a:r>
            <a:r>
              <a:rPr lang="zh-CN" altLang="en-US" sz="2000">
                <a:solidFill>
                  <a:srgbClr val="343333"/>
                </a:solidFill>
                <a:ea typeface="清雅黑体" panose="00000500000000000000" charset="-122"/>
              </a:rPr>
              <a:t>）</a:t>
            </a:r>
            <a:r>
              <a:rPr lang="en-US" altLang="zh-CN" sz="2000">
                <a:solidFill>
                  <a:srgbClr val="343333"/>
                </a:solidFill>
                <a:ea typeface="清雅黑体" panose="00000500000000000000" charset="-122"/>
              </a:rPr>
              <a:t> </a:t>
            </a:r>
            <a:r>
              <a:rPr lang="zh-CN" altLang="en-US" sz="2000">
                <a:solidFill>
                  <a:srgbClr val="343333"/>
                </a:solidFill>
                <a:ea typeface="清雅黑体" panose="00000500000000000000" charset="-122"/>
              </a:rPr>
              <a:t>快速提取周期</a:t>
            </a:r>
            <a:endParaRPr lang="en-US" altLang="zh-CN" sz="2000">
              <a:solidFill>
                <a:srgbClr val="343333"/>
              </a:solidFill>
              <a:ea typeface="清雅黑体" panose="00000500000000000000" charset="-122"/>
            </a:endParaRPr>
          </a:p>
          <a:p>
            <a:pPr marL="0" lvl="0" indent="0" algn="just">
              <a:lnSpc>
                <a:spcPts val="3000"/>
              </a:lnSpc>
              <a:spcBef>
                <a:spcPct val="0"/>
              </a:spcBef>
            </a:pPr>
            <a:r>
              <a:rPr lang="zh-CN" altLang="en-US" sz="2000">
                <a:solidFill>
                  <a:srgbClr val="343333"/>
                </a:solidFill>
                <a:ea typeface="清雅黑体" panose="00000500000000000000" charset="-122"/>
              </a:rPr>
              <a:t>得到周期后，用经典算法（辗转相除法）计算出两个质因子</a:t>
            </a:r>
            <a:endParaRPr lang="zh-CN" altLang="en-US" sz="2000">
              <a:solidFill>
                <a:srgbClr val="343333"/>
              </a:solidFill>
              <a:ea typeface="清雅黑体" panose="00000500000000000000" charset="-122"/>
            </a:endParaRPr>
          </a:p>
        </p:txBody>
      </p:sp>
      <p:sp>
        <p:nvSpPr>
          <p:cNvPr id="36" name="AutoShape 22"/>
          <p:cNvSpPr/>
          <p:nvPr/>
        </p:nvSpPr>
        <p:spPr>
          <a:xfrm>
            <a:off x="9538075" y="2476366"/>
            <a:ext cx="7570559" cy="0"/>
          </a:xfrm>
          <a:prstGeom prst="line">
            <a:avLst/>
          </a:prstGeom>
          <a:ln w="19050" cap="flat">
            <a:solidFill>
              <a:srgbClr val="41624D"/>
            </a:solidFill>
            <a:prstDash val="solid"/>
            <a:headEnd type="none" w="sm" len="sm"/>
            <a:tailEnd type="none" w="sm" len="sm"/>
          </a:ln>
        </p:spPr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41624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-524524" y="-175524"/>
            <a:ext cx="20998807" cy="10741067"/>
            <a:chOff x="0" y="0"/>
            <a:chExt cx="27998409" cy="14321423"/>
          </a:xfrm>
        </p:grpSpPr>
        <p:sp>
          <p:nvSpPr>
            <p:cNvPr id="3" name="Freeform 3"/>
            <p:cNvSpPr/>
            <p:nvPr/>
          </p:nvSpPr>
          <p:spPr>
            <a:xfrm>
              <a:off x="14357316" y="0"/>
              <a:ext cx="13641093" cy="14321423"/>
            </a:xfrm>
            <a:custGeom>
              <a:avLst/>
              <a:gdLst/>
              <a:ahLst/>
              <a:cxnLst/>
              <a:rect l="l" t="t" r="r" b="b"/>
              <a:pathLst>
                <a:path w="13641093" h="14321423">
                  <a:moveTo>
                    <a:pt x="0" y="0"/>
                  </a:moveTo>
                  <a:lnTo>
                    <a:pt x="13641093" y="0"/>
                  </a:lnTo>
                  <a:lnTo>
                    <a:pt x="13641093" y="14321423"/>
                  </a:lnTo>
                  <a:lnTo>
                    <a:pt x="0" y="1432142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">
                <a:alphaModFix amt="9999"/>
                <a:extLst>
                  <a:ext uri="{96DAC541-7B7A-43D3-8B79-37D633B846F1}">
                    <asvg:svgBlip xmlns:asvg="http://schemas.microsoft.com/office/drawing/2016/SVG/main" r:embed="rId2"/>
                  </a:ext>
                </a:extLst>
              </a:blip>
              <a:stretch>
                <a:fillRect r="-5250"/>
              </a:stretch>
            </a:blipFill>
          </p:spPr>
        </p:sp>
        <p:sp>
          <p:nvSpPr>
            <p:cNvPr id="4" name="Freeform 4"/>
            <p:cNvSpPr/>
            <p:nvPr/>
          </p:nvSpPr>
          <p:spPr>
            <a:xfrm>
              <a:off x="0" y="0"/>
              <a:ext cx="14357316" cy="14321423"/>
            </a:xfrm>
            <a:custGeom>
              <a:avLst/>
              <a:gdLst/>
              <a:ahLst/>
              <a:cxnLst/>
              <a:rect l="l" t="t" r="r" b="b"/>
              <a:pathLst>
                <a:path w="14357316" h="14321423">
                  <a:moveTo>
                    <a:pt x="0" y="0"/>
                  </a:moveTo>
                  <a:lnTo>
                    <a:pt x="14357316" y="0"/>
                  </a:lnTo>
                  <a:lnTo>
                    <a:pt x="14357316" y="14321423"/>
                  </a:lnTo>
                  <a:lnTo>
                    <a:pt x="0" y="1432142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">
                <a:alphaModFix amt="9999"/>
                <a:extLst>
                  <a:ext uri="{96DAC541-7B7A-43D3-8B79-37D633B846F1}">
                    <asvg:svgBlip xmlns:asvg="http://schemas.microsoft.com/office/drawing/2016/SVG/main" r:embed="rId2"/>
                  </a:ext>
                </a:extLst>
              </a:blip>
              <a:stretch>
                <a:fillRect/>
              </a:stretch>
            </a:blipFill>
            <a:ln cap="sq">
              <a:noFill/>
              <a:prstDash val="solid"/>
              <a:miter/>
            </a:ln>
          </p:spPr>
        </p:sp>
      </p:grpSp>
      <p:grpSp>
        <p:nvGrpSpPr>
          <p:cNvPr id="5" name="Group 5"/>
          <p:cNvGrpSpPr/>
          <p:nvPr/>
        </p:nvGrpSpPr>
        <p:grpSpPr>
          <a:xfrm>
            <a:off x="757944" y="1028700"/>
            <a:ext cx="17092120" cy="8680123"/>
            <a:chOff x="0" y="0"/>
            <a:chExt cx="4501628" cy="2286123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4501628" cy="2286123"/>
            </a:xfrm>
            <a:custGeom>
              <a:avLst/>
              <a:gdLst/>
              <a:ahLst/>
              <a:cxnLst/>
              <a:rect l="l" t="t" r="r" b="b"/>
              <a:pathLst>
                <a:path w="4501628" h="2286123">
                  <a:moveTo>
                    <a:pt x="0" y="0"/>
                  </a:moveTo>
                  <a:lnTo>
                    <a:pt x="4501628" y="0"/>
                  </a:lnTo>
                  <a:lnTo>
                    <a:pt x="4501628" y="2286123"/>
                  </a:lnTo>
                  <a:lnTo>
                    <a:pt x="0" y="2286123"/>
                  </a:lnTo>
                  <a:close/>
                </a:path>
              </a:pathLst>
            </a:custGeom>
            <a:solidFill>
              <a:srgbClr val="D1D5BA"/>
            </a:solidFill>
          </p:spPr>
        </p:sp>
        <p:sp>
          <p:nvSpPr>
            <p:cNvPr id="7" name="TextBox 7"/>
            <p:cNvSpPr txBox="1"/>
            <p:nvPr/>
          </p:nvSpPr>
          <p:spPr>
            <a:xfrm>
              <a:off x="0" y="-28575"/>
              <a:ext cx="4501628" cy="231469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60"/>
                </a:lnSpc>
                <a:spcBef>
                  <a:spcPct val="0"/>
                </a:spcBef>
              </a:pPr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437936" y="618151"/>
            <a:ext cx="17092120" cy="8746514"/>
            <a:chOff x="0" y="0"/>
            <a:chExt cx="4501628" cy="2303609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4501628" cy="2303609"/>
            </a:xfrm>
            <a:custGeom>
              <a:avLst/>
              <a:gdLst/>
              <a:ahLst/>
              <a:cxnLst/>
              <a:rect l="l" t="t" r="r" b="b"/>
              <a:pathLst>
                <a:path w="4501628" h="2303609">
                  <a:moveTo>
                    <a:pt x="0" y="0"/>
                  </a:moveTo>
                  <a:lnTo>
                    <a:pt x="4501628" y="0"/>
                  </a:lnTo>
                  <a:lnTo>
                    <a:pt x="4501628" y="2303609"/>
                  </a:lnTo>
                  <a:lnTo>
                    <a:pt x="0" y="2303609"/>
                  </a:lnTo>
                  <a:close/>
                </a:path>
              </a:pathLst>
            </a:custGeom>
            <a:solidFill>
              <a:srgbClr val="F5FAF4"/>
            </a:solidFill>
          </p:spPr>
        </p:sp>
        <p:sp>
          <p:nvSpPr>
            <p:cNvPr id="10" name="TextBox 10"/>
            <p:cNvSpPr txBox="1"/>
            <p:nvPr/>
          </p:nvSpPr>
          <p:spPr>
            <a:xfrm>
              <a:off x="0" y="-28575"/>
              <a:ext cx="4501628" cy="233218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60"/>
                </a:lnSpc>
                <a:spcBef>
                  <a:spcPct val="0"/>
                </a:spcBef>
              </a:pPr>
            </a:p>
          </p:txBody>
        </p:sp>
      </p:grpSp>
      <p:grpSp>
        <p:nvGrpSpPr>
          <p:cNvPr id="11" name="Group 11"/>
          <p:cNvGrpSpPr/>
          <p:nvPr/>
        </p:nvGrpSpPr>
        <p:grpSpPr>
          <a:xfrm>
            <a:off x="7586072" y="1565082"/>
            <a:ext cx="3115855" cy="217179"/>
            <a:chOff x="0" y="0"/>
            <a:chExt cx="820637" cy="57199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820637" cy="57199"/>
            </a:xfrm>
            <a:custGeom>
              <a:avLst/>
              <a:gdLst/>
              <a:ahLst/>
              <a:cxnLst/>
              <a:rect l="l" t="t" r="r" b="b"/>
              <a:pathLst>
                <a:path w="820637" h="57199">
                  <a:moveTo>
                    <a:pt x="28600" y="0"/>
                  </a:moveTo>
                  <a:lnTo>
                    <a:pt x="792037" y="0"/>
                  </a:lnTo>
                  <a:cubicBezTo>
                    <a:pt x="807832" y="0"/>
                    <a:pt x="820637" y="12805"/>
                    <a:pt x="820637" y="28600"/>
                  </a:cubicBezTo>
                  <a:lnTo>
                    <a:pt x="820637" y="28600"/>
                  </a:lnTo>
                  <a:cubicBezTo>
                    <a:pt x="820637" y="44395"/>
                    <a:pt x="807832" y="57199"/>
                    <a:pt x="792037" y="57199"/>
                  </a:cubicBezTo>
                  <a:lnTo>
                    <a:pt x="28600" y="57199"/>
                  </a:lnTo>
                  <a:cubicBezTo>
                    <a:pt x="12805" y="57199"/>
                    <a:pt x="0" y="44395"/>
                    <a:pt x="0" y="28600"/>
                  </a:cubicBezTo>
                  <a:lnTo>
                    <a:pt x="0" y="28600"/>
                  </a:lnTo>
                  <a:cubicBezTo>
                    <a:pt x="0" y="12805"/>
                    <a:pt x="12805" y="0"/>
                    <a:pt x="28600" y="0"/>
                  </a:cubicBezTo>
                  <a:close/>
                </a:path>
              </a:pathLst>
            </a:custGeom>
            <a:solidFill>
              <a:srgbClr val="D1D5BA"/>
            </a:solidFill>
          </p:spPr>
        </p:sp>
        <p:sp>
          <p:nvSpPr>
            <p:cNvPr id="13" name="TextBox 13"/>
            <p:cNvSpPr txBox="1"/>
            <p:nvPr/>
          </p:nvSpPr>
          <p:spPr>
            <a:xfrm>
              <a:off x="0" y="-47625"/>
              <a:ext cx="820637" cy="10482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895"/>
                </a:lnSpc>
              </a:pPr>
            </a:p>
          </p:txBody>
        </p:sp>
      </p:grpSp>
      <p:sp>
        <p:nvSpPr>
          <p:cNvPr id="14" name="TextBox 14"/>
          <p:cNvSpPr txBox="1"/>
          <p:nvPr/>
        </p:nvSpPr>
        <p:spPr>
          <a:xfrm>
            <a:off x="6351905" y="944880"/>
            <a:ext cx="5678170" cy="80772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 algn="ctr">
              <a:lnSpc>
                <a:spcPts val="6300"/>
              </a:lnSpc>
              <a:spcBef>
                <a:spcPct val="0"/>
              </a:spcBef>
            </a:pPr>
            <a:r>
              <a:rPr lang="zh-CN" altLang="en-US" sz="4200" spc="420">
                <a:solidFill>
                  <a:srgbClr val="343333"/>
                </a:solidFill>
                <a:ea typeface="华文中宋" panose="02010600040101010101" charset="-122"/>
              </a:rPr>
              <a:t>格密码与</a:t>
            </a:r>
            <a:r>
              <a:rPr lang="en-US" altLang="zh-CN" sz="4200" spc="420">
                <a:solidFill>
                  <a:srgbClr val="343333"/>
                </a:solidFill>
                <a:ea typeface="华文中宋" panose="02010600040101010101" charset="-122"/>
              </a:rPr>
              <a:t>LWE</a:t>
            </a:r>
            <a:endParaRPr lang="en-US" altLang="zh-CN" sz="4200" spc="420">
              <a:solidFill>
                <a:srgbClr val="343333"/>
              </a:solidFill>
              <a:ea typeface="华文中宋" panose="02010600040101010101" charset="-122"/>
            </a:endParaRPr>
          </a:p>
        </p:txBody>
      </p:sp>
      <p:sp>
        <p:nvSpPr>
          <p:cNvPr id="15" name="TextBox 15"/>
          <p:cNvSpPr txBox="1"/>
          <p:nvPr/>
        </p:nvSpPr>
        <p:spPr>
          <a:xfrm>
            <a:off x="1371745" y="4709211"/>
            <a:ext cx="3043255" cy="5022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3920"/>
              </a:lnSpc>
              <a:spcBef>
                <a:spcPct val="0"/>
              </a:spcBef>
            </a:pPr>
            <a:r>
              <a:rPr lang="zh-CN" altLang="en-US" sz="2800" spc="279">
                <a:solidFill>
                  <a:srgbClr val="41624D"/>
                </a:solidFill>
                <a:ea typeface="方正大黑体_GBK" panose="02010600010101010101" charset="-122"/>
              </a:rPr>
              <a:t>什么是</a:t>
            </a:r>
            <a:r>
              <a:rPr lang="zh-CN" altLang="en-US" sz="2800" spc="279">
                <a:solidFill>
                  <a:srgbClr val="41624D"/>
                </a:solidFill>
                <a:ea typeface="方正大黑体_GBK" panose="02010600010101010101" charset="-122"/>
              </a:rPr>
              <a:t>格？</a:t>
            </a:r>
            <a:endParaRPr lang="zh-CN" altLang="en-US" sz="2800" spc="279">
              <a:solidFill>
                <a:srgbClr val="41624D"/>
              </a:solidFill>
              <a:ea typeface="方正大黑体_GBK" panose="02010600010101010101" charset="-122"/>
            </a:endParaRPr>
          </a:p>
        </p:txBody>
      </p:sp>
      <p:sp>
        <p:nvSpPr>
          <p:cNvPr id="17" name="AutoShape 17"/>
          <p:cNvSpPr/>
          <p:nvPr/>
        </p:nvSpPr>
        <p:spPr>
          <a:xfrm>
            <a:off x="1295545" y="4542021"/>
            <a:ext cx="7570559" cy="0"/>
          </a:xfrm>
          <a:prstGeom prst="line">
            <a:avLst/>
          </a:prstGeom>
          <a:ln w="19050" cap="flat">
            <a:solidFill>
              <a:srgbClr val="41624D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20" name="TextBox 20"/>
          <p:cNvSpPr txBox="1"/>
          <p:nvPr/>
        </p:nvSpPr>
        <p:spPr>
          <a:xfrm>
            <a:off x="9448540" y="2171751"/>
            <a:ext cx="3043255" cy="5022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3920"/>
              </a:lnSpc>
              <a:spcBef>
                <a:spcPct val="0"/>
              </a:spcBef>
            </a:pPr>
            <a:r>
              <a:rPr lang="en-US" altLang="zh-CN" sz="2800" spc="279">
                <a:solidFill>
                  <a:srgbClr val="41624D"/>
                </a:solidFill>
                <a:ea typeface="方正大黑体_GBK" panose="02010600010101010101" charset="-122"/>
              </a:rPr>
              <a:t>LWE (</a:t>
            </a:r>
            <a:r>
              <a:rPr lang="zh-CN" altLang="en-US" sz="2800" spc="279">
                <a:solidFill>
                  <a:srgbClr val="41624D"/>
                </a:solidFill>
                <a:ea typeface="方正大黑体_GBK" panose="02010600010101010101" charset="-122"/>
              </a:rPr>
              <a:t>带误差学习</a:t>
            </a:r>
            <a:r>
              <a:rPr lang="en-US" altLang="zh-CN" sz="2800" spc="279">
                <a:solidFill>
                  <a:srgbClr val="41624D"/>
                </a:solidFill>
                <a:ea typeface="方正大黑体_GBK" panose="02010600010101010101" charset="-122"/>
              </a:rPr>
              <a:t>)</a:t>
            </a:r>
            <a:endParaRPr lang="en-US" altLang="zh-CN" sz="2800" spc="279">
              <a:solidFill>
                <a:srgbClr val="41624D"/>
              </a:solidFill>
              <a:ea typeface="方正大黑体_GBK" panose="02010600010101010101" charset="-122"/>
            </a:endParaRPr>
          </a:p>
        </p:txBody>
      </p:sp>
      <p:sp>
        <p:nvSpPr>
          <p:cNvPr id="22" name="AutoShape 22"/>
          <p:cNvSpPr/>
          <p:nvPr/>
        </p:nvSpPr>
        <p:spPr>
          <a:xfrm>
            <a:off x="9600940" y="5524366"/>
            <a:ext cx="7570559" cy="0"/>
          </a:xfrm>
          <a:prstGeom prst="line">
            <a:avLst/>
          </a:prstGeom>
          <a:ln w="19050" cap="flat">
            <a:solidFill>
              <a:srgbClr val="41624D"/>
            </a:solidFill>
            <a:prstDash val="solid"/>
            <a:headEnd type="none" w="sm" len="sm"/>
            <a:tailEnd type="none" w="sm" len="sm"/>
          </a:ln>
        </p:spPr>
      </p:sp>
      <p:pic>
        <p:nvPicPr>
          <p:cNvPr id="25" name="图片 24" descr="v2-f57596c333c4f58dabe3384a9416787f_r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95600" y="1714500"/>
            <a:ext cx="4133850" cy="2660015"/>
          </a:xfrm>
          <a:prstGeom prst="rect">
            <a:avLst/>
          </a:prstGeom>
        </p:spPr>
      </p:pic>
      <p:sp>
        <p:nvSpPr>
          <p:cNvPr id="19" name="文本框 18"/>
          <p:cNvSpPr txBox="1"/>
          <p:nvPr/>
        </p:nvSpPr>
        <p:spPr>
          <a:xfrm>
            <a:off x="1295400" y="5394960"/>
            <a:ext cx="7475855" cy="37846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marL="285750" indent="-285750">
              <a:buFont typeface="Wingdings" panose="05000000000000000000" charset="0"/>
              <a:buChar char="l"/>
            </a:pPr>
            <a:r>
              <a:rPr lang="zh-CN" altLang="en-US" sz="2000" b="1"/>
              <a:t>直观</a:t>
            </a:r>
            <a:r>
              <a:rPr lang="zh-CN" altLang="en-US" sz="2000"/>
              <a:t>理解：</a:t>
            </a:r>
            <a:r>
              <a:rPr lang="zh-CN" altLang="en-US" sz="2000" b="1"/>
              <a:t>格</a:t>
            </a:r>
            <a:r>
              <a:rPr lang="zh-CN" altLang="en-US" sz="2000"/>
              <a:t>是空间中</a:t>
            </a:r>
            <a:r>
              <a:rPr lang="zh-CN" altLang="en-US" sz="2000" b="1"/>
              <a:t>规则排列的离散点集</a:t>
            </a:r>
            <a:r>
              <a:rPr lang="zh-CN" altLang="en-US" sz="2000"/>
              <a:t>。例如，二维平面上所有整点坐标</a:t>
            </a:r>
            <a:r>
              <a:rPr lang="en-US" altLang="en-US" sz="2000"/>
              <a:t> </a:t>
            </a:r>
            <a:r>
              <a:rPr lang="en-US" altLang="zh-CN" sz="2000"/>
              <a:t>(x,y)</a:t>
            </a:r>
            <a:r>
              <a:rPr lang="en-US" altLang="en-US" sz="2000"/>
              <a:t> </a:t>
            </a:r>
            <a:r>
              <a:rPr lang="zh-CN" altLang="en-US" sz="2000"/>
              <a:t>就是一个格（由基向量</a:t>
            </a:r>
            <a:r>
              <a:rPr lang="en-US" altLang="en-US" sz="2000"/>
              <a:t> </a:t>
            </a:r>
            <a:r>
              <a:rPr lang="en-US" altLang="zh-CN" sz="2000"/>
              <a:t>(1,0)</a:t>
            </a:r>
            <a:r>
              <a:rPr lang="zh-CN" altLang="en-US" sz="2000"/>
              <a:t>和</a:t>
            </a:r>
            <a:r>
              <a:rPr lang="en-US" altLang="en-US" sz="2000"/>
              <a:t> </a:t>
            </a:r>
            <a:r>
              <a:rPr lang="en-US" altLang="zh-CN" sz="2000"/>
              <a:t>(0,1)</a:t>
            </a:r>
            <a:r>
              <a:rPr lang="en-US" altLang="en-US" sz="2000"/>
              <a:t> </a:t>
            </a:r>
            <a:r>
              <a:rPr lang="zh-CN" altLang="en-US" sz="2000"/>
              <a:t>生成）。</a:t>
            </a:r>
            <a:endParaRPr lang="zh-CN" altLang="en-US" sz="2000"/>
          </a:p>
          <a:p>
            <a:pPr marL="285750" indent="-285750">
              <a:buFont typeface="Wingdings" panose="05000000000000000000" charset="0"/>
              <a:buChar char="l"/>
            </a:pPr>
            <a:r>
              <a:rPr lang="zh-CN" altLang="en-US" sz="2000"/>
              <a:t>更一般的定义：给定一组</a:t>
            </a:r>
            <a:r>
              <a:rPr lang="zh-CN" altLang="en-US" sz="2000" b="1"/>
              <a:t>线性无关的基向量</a:t>
            </a:r>
            <a:r>
              <a:rPr lang="en-US" altLang="zh-CN" sz="2000"/>
              <a:t>b1,…,bn∈Rm</a:t>
            </a:r>
            <a:r>
              <a:rPr lang="zh-CN" altLang="en-US" sz="2000"/>
              <a:t>，格就是这些</a:t>
            </a:r>
            <a:r>
              <a:rPr lang="zh-CN" altLang="en-US" sz="2000" b="1"/>
              <a:t>向量的所有整数系数组合</a:t>
            </a:r>
            <a:r>
              <a:rPr lang="zh-CN" altLang="en-US" sz="2000"/>
              <a:t>构成的集合。</a:t>
            </a:r>
            <a:endParaRPr lang="zh-CN" altLang="en-US" sz="2000"/>
          </a:p>
          <a:p>
            <a:pPr marL="285750" indent="-285750">
              <a:buFont typeface="Wingdings" panose="05000000000000000000" charset="0"/>
              <a:buChar char="l"/>
            </a:pPr>
            <a:r>
              <a:rPr lang="zh-CN" altLang="en-US" sz="2000"/>
              <a:t>格密码的安全性建立在一些计算上非常</a:t>
            </a:r>
            <a:r>
              <a:rPr lang="zh-CN" altLang="en-US" sz="2000" b="1"/>
              <a:t>困难的数学问题</a:t>
            </a:r>
            <a:r>
              <a:rPr lang="zh-CN" altLang="en-US" sz="2000"/>
              <a:t>，</a:t>
            </a:r>
            <a:r>
              <a:rPr lang="zh-CN" altLang="en-US" sz="2000"/>
              <a:t>例如：</a:t>
            </a:r>
            <a:endParaRPr lang="zh-CN" altLang="en-US" sz="2000"/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altLang="zh-CN" sz="2000"/>
              <a:t>SVP</a:t>
            </a:r>
            <a:r>
              <a:rPr lang="zh-CN" altLang="en-US" sz="2000"/>
              <a:t>：</a:t>
            </a:r>
            <a:r>
              <a:rPr lang="zh-CN" altLang="en-US" sz="2000" b="1"/>
              <a:t>最短向量</a:t>
            </a:r>
            <a:r>
              <a:rPr lang="zh-CN" altLang="en-US" sz="2000"/>
              <a:t>问题，给定一个格，找出其中</a:t>
            </a:r>
            <a:r>
              <a:rPr lang="zh-CN" altLang="en-US" sz="2000" b="1"/>
              <a:t>长度最短的非零向量</a:t>
            </a:r>
            <a:endParaRPr lang="zh-CN" altLang="en-US" sz="2000" b="1"/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altLang="zh-CN" sz="2000"/>
              <a:t>CVP</a:t>
            </a:r>
            <a:r>
              <a:rPr lang="zh-CN" altLang="en-US" sz="2000"/>
              <a:t>：</a:t>
            </a:r>
            <a:r>
              <a:rPr lang="zh-CN" altLang="en-US" sz="2000" b="1"/>
              <a:t>最近向量</a:t>
            </a:r>
            <a:r>
              <a:rPr lang="zh-CN" altLang="en-US" sz="2000"/>
              <a:t>问题，给定一个格和一个不在格上的目标点，找出格中</a:t>
            </a:r>
            <a:r>
              <a:rPr lang="zh-CN" altLang="en-US" sz="2000" b="1"/>
              <a:t>离该点最近的格点</a:t>
            </a:r>
            <a:endParaRPr lang="zh-CN" altLang="en-US" sz="2000"/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altLang="zh-CN" sz="2000"/>
              <a:t>SIS</a:t>
            </a:r>
            <a:r>
              <a:rPr lang="zh-CN" altLang="en-US" sz="2000"/>
              <a:t>：小</a:t>
            </a:r>
            <a:r>
              <a:rPr lang="zh-CN" altLang="en-US" sz="2000" b="1"/>
              <a:t>整数解</a:t>
            </a:r>
            <a:r>
              <a:rPr lang="zh-CN" altLang="en-US" sz="2000"/>
              <a:t>问题，给定一组随机向量，找一组小的</a:t>
            </a:r>
            <a:r>
              <a:rPr lang="zh-CN" altLang="en-US" sz="2000" b="1"/>
              <a:t>整数系数（不全为零）</a:t>
            </a:r>
            <a:r>
              <a:rPr lang="zh-CN" altLang="en-US" sz="2000"/>
              <a:t>，使得它们的</a:t>
            </a:r>
            <a:r>
              <a:rPr lang="zh-CN" altLang="en-US" sz="2000" b="1"/>
              <a:t>线性组合为零向量</a:t>
            </a:r>
            <a:r>
              <a:rPr lang="zh-CN" altLang="en-US" sz="2000"/>
              <a:t>。</a:t>
            </a:r>
            <a:endParaRPr lang="zh-CN" altLang="en-US" sz="2000"/>
          </a:p>
        </p:txBody>
      </p:sp>
      <p:sp>
        <p:nvSpPr>
          <p:cNvPr id="27" name="文本框 26"/>
          <p:cNvSpPr txBox="1"/>
          <p:nvPr/>
        </p:nvSpPr>
        <p:spPr>
          <a:xfrm>
            <a:off x="9349740" y="2844165"/>
            <a:ext cx="7475855" cy="224536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indent="0">
              <a:buFont typeface="Wingdings" panose="05000000000000000000" charset="0"/>
              <a:buNone/>
            </a:pPr>
            <a:r>
              <a:rPr lang="zh-CN" altLang="en-US" sz="2000"/>
              <a:t>困难问题：带</a:t>
            </a:r>
            <a:r>
              <a:rPr lang="zh-CN" altLang="en-US" sz="2000" b="1"/>
              <a:t>噪声</a:t>
            </a:r>
            <a:r>
              <a:rPr lang="zh-CN" altLang="en-US" sz="2000"/>
              <a:t>的</a:t>
            </a:r>
            <a:r>
              <a:rPr lang="zh-CN" altLang="en-US" sz="2000" b="1"/>
              <a:t>线性求解</a:t>
            </a:r>
            <a:endParaRPr lang="zh-CN" altLang="en-US" sz="2000"/>
          </a:p>
          <a:p>
            <a:pPr marL="285750" indent="-285750">
              <a:buFont typeface="Wingdings" panose="05000000000000000000" charset="0"/>
              <a:buChar char="l"/>
            </a:pPr>
            <a:r>
              <a:rPr lang="zh-CN" altLang="en-US" sz="2000"/>
              <a:t>有一个</a:t>
            </a:r>
            <a:r>
              <a:rPr lang="zh-CN" altLang="en-US" sz="2000" b="1"/>
              <a:t>秘密向量</a:t>
            </a:r>
            <a:r>
              <a:rPr lang="zh-CN" altLang="en-US" sz="2000"/>
              <a:t>：</a:t>
            </a:r>
            <a:r>
              <a:rPr lang="en-US" altLang="zh-CN" sz="2000"/>
              <a:t>s</a:t>
            </a:r>
            <a:r>
              <a:rPr lang="zh-CN" altLang="en-US" sz="2000"/>
              <a:t>，可以作为</a:t>
            </a:r>
            <a:r>
              <a:rPr lang="zh-CN" altLang="en-US" sz="2000" b="1"/>
              <a:t>私钥</a:t>
            </a:r>
            <a:endParaRPr lang="en-US" altLang="zh-CN" sz="2000"/>
          </a:p>
          <a:p>
            <a:pPr marL="285750" indent="-285750">
              <a:buFont typeface="Wingdings" panose="05000000000000000000" charset="0"/>
              <a:buChar char="l"/>
            </a:pPr>
            <a:r>
              <a:rPr lang="zh-CN" altLang="en-US" sz="2000"/>
              <a:t>每次生成一些</a:t>
            </a:r>
            <a:r>
              <a:rPr lang="zh-CN" altLang="en-US" sz="2000" b="1"/>
              <a:t>随机向量</a:t>
            </a:r>
            <a:r>
              <a:rPr lang="en-US" altLang="en-US" sz="2000"/>
              <a:t> </a:t>
            </a:r>
            <a:r>
              <a:rPr lang="en-US" sz="2000"/>
              <a:t>a</a:t>
            </a:r>
            <a:r>
              <a:rPr lang="zh-CN" altLang="en-US" sz="2000"/>
              <a:t>，然后计算</a:t>
            </a:r>
            <a:r>
              <a:rPr lang="en-US" altLang="en-US" sz="2000"/>
              <a:t> </a:t>
            </a:r>
            <a:r>
              <a:rPr lang="en-US" altLang="zh-CN" sz="2000"/>
              <a:t>b=&lt;a,s&gt;+e</a:t>
            </a:r>
            <a:r>
              <a:rPr lang="zh-CN" altLang="en-US" sz="2000"/>
              <a:t>，其中</a:t>
            </a:r>
            <a:r>
              <a:rPr lang="en-US" altLang="en-US" sz="2000"/>
              <a:t> </a:t>
            </a:r>
            <a:r>
              <a:rPr lang="en-US" altLang="zh-CN" sz="2000"/>
              <a:t>e</a:t>
            </a:r>
            <a:r>
              <a:rPr lang="en-US" altLang="en-US" sz="2000"/>
              <a:t> </a:t>
            </a:r>
            <a:r>
              <a:rPr lang="zh-CN" altLang="en-US" sz="2000"/>
              <a:t>是一个很小的</a:t>
            </a:r>
            <a:r>
              <a:rPr lang="zh-CN" altLang="en-US" sz="2000" b="1"/>
              <a:t>随机误差</a:t>
            </a:r>
            <a:r>
              <a:rPr lang="zh-CN" altLang="en-US" sz="2000"/>
              <a:t>，生成公私钥之后直接丢弃。</a:t>
            </a:r>
            <a:endParaRPr lang="zh-CN" altLang="en-US" sz="2000"/>
          </a:p>
          <a:p>
            <a:pPr marL="285750" indent="-285750">
              <a:buFont typeface="Wingdings" panose="05000000000000000000" charset="0"/>
              <a:buChar char="l"/>
            </a:pPr>
            <a:r>
              <a:rPr lang="zh-CN" altLang="en-US" sz="2000"/>
              <a:t>题目给了很多这样的</a:t>
            </a:r>
            <a:r>
              <a:rPr lang="en-US" altLang="zh-CN" sz="2000" b="1"/>
              <a:t>(a,b)</a:t>
            </a:r>
            <a:r>
              <a:rPr lang="en-US" altLang="en-US" sz="2000" b="1"/>
              <a:t> </a:t>
            </a:r>
            <a:r>
              <a:rPr lang="zh-CN" altLang="en-US" sz="2000" b="1"/>
              <a:t>对</a:t>
            </a:r>
            <a:r>
              <a:rPr lang="zh-CN" altLang="en-US" sz="2000"/>
              <a:t>（这些</a:t>
            </a:r>
            <a:r>
              <a:rPr lang="en-US" altLang="zh-CN" sz="2000"/>
              <a:t>ab</a:t>
            </a:r>
            <a:r>
              <a:rPr lang="zh-CN" altLang="en-US" sz="2000"/>
              <a:t>对是</a:t>
            </a:r>
            <a:r>
              <a:rPr lang="zh-CN" altLang="en-US" sz="2000" b="1"/>
              <a:t>公钥</a:t>
            </a:r>
            <a:r>
              <a:rPr lang="en-US" altLang="zh-CN" sz="2000"/>
              <a:t>,</a:t>
            </a:r>
            <a:r>
              <a:rPr lang="zh-CN" altLang="en-US" sz="2000"/>
              <a:t>每一个</a:t>
            </a:r>
            <a:r>
              <a:rPr lang="en-US" altLang="zh-CN" sz="2000"/>
              <a:t>e</a:t>
            </a:r>
            <a:r>
              <a:rPr lang="zh-CN" altLang="en-US" sz="2000"/>
              <a:t>是不一样的），求出</a:t>
            </a:r>
            <a:r>
              <a:rPr lang="zh-CN" altLang="en-US" sz="2000" b="1"/>
              <a:t>秘密</a:t>
            </a:r>
            <a:r>
              <a:rPr lang="en-US" altLang="en-US" sz="2000" b="1"/>
              <a:t> </a:t>
            </a:r>
            <a:r>
              <a:rPr lang="en-US" altLang="zh-CN" sz="2000" b="1"/>
              <a:t>s </a:t>
            </a:r>
            <a:r>
              <a:rPr lang="zh-CN" altLang="en-US" sz="2000"/>
              <a:t>十分困</a:t>
            </a:r>
            <a:r>
              <a:rPr lang="zh-CN" altLang="en-US" sz="2000"/>
              <a:t>难。</a:t>
            </a:r>
            <a:endParaRPr lang="zh-CN" altLang="en-US" sz="2000"/>
          </a:p>
          <a:p>
            <a:pPr indent="0">
              <a:buFont typeface="Wingdings" panose="05000000000000000000" charset="0"/>
              <a:buNone/>
            </a:pPr>
            <a:r>
              <a:rPr lang="zh-CN" altLang="en-US" sz="2000"/>
              <a:t>加密</a:t>
            </a:r>
            <a:r>
              <a:rPr lang="zh-CN" altLang="en-US" sz="2000"/>
              <a:t>方案详情会在下一页</a:t>
            </a:r>
            <a:r>
              <a:rPr lang="zh-CN" altLang="en-US" sz="2000"/>
              <a:t>介绍</a:t>
            </a:r>
            <a:endParaRPr lang="zh-CN" altLang="en-US" sz="2000"/>
          </a:p>
        </p:txBody>
      </p:sp>
      <p:pic>
        <p:nvPicPr>
          <p:cNvPr id="28" name="图片 27" descr="1169376-20200113155551431-1705910259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668000" y="5905500"/>
            <a:ext cx="4998085" cy="3269615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41624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-524524" y="-175524"/>
            <a:ext cx="20998807" cy="10741067"/>
            <a:chOff x="0" y="0"/>
            <a:chExt cx="27998409" cy="14321423"/>
          </a:xfrm>
        </p:grpSpPr>
        <p:sp>
          <p:nvSpPr>
            <p:cNvPr id="3" name="Freeform 3"/>
            <p:cNvSpPr/>
            <p:nvPr/>
          </p:nvSpPr>
          <p:spPr>
            <a:xfrm>
              <a:off x="14357316" y="0"/>
              <a:ext cx="13641093" cy="14321423"/>
            </a:xfrm>
            <a:custGeom>
              <a:avLst/>
              <a:gdLst/>
              <a:ahLst/>
              <a:cxnLst/>
              <a:rect l="l" t="t" r="r" b="b"/>
              <a:pathLst>
                <a:path w="13641093" h="14321423">
                  <a:moveTo>
                    <a:pt x="0" y="0"/>
                  </a:moveTo>
                  <a:lnTo>
                    <a:pt x="13641093" y="0"/>
                  </a:lnTo>
                  <a:lnTo>
                    <a:pt x="13641093" y="14321423"/>
                  </a:lnTo>
                  <a:lnTo>
                    <a:pt x="0" y="1432142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">
                <a:alphaModFix amt="9999"/>
                <a:extLst>
                  <a:ext uri="{96DAC541-7B7A-43D3-8B79-37D633B846F1}">
                    <asvg:svgBlip xmlns:asvg="http://schemas.microsoft.com/office/drawing/2016/SVG/main" r:embed="rId2"/>
                  </a:ext>
                </a:extLst>
              </a:blip>
              <a:stretch>
                <a:fillRect r="-5250"/>
              </a:stretch>
            </a:blipFill>
          </p:spPr>
        </p:sp>
        <p:sp>
          <p:nvSpPr>
            <p:cNvPr id="4" name="Freeform 4"/>
            <p:cNvSpPr/>
            <p:nvPr/>
          </p:nvSpPr>
          <p:spPr>
            <a:xfrm>
              <a:off x="0" y="0"/>
              <a:ext cx="14357316" cy="14321423"/>
            </a:xfrm>
            <a:custGeom>
              <a:avLst/>
              <a:gdLst/>
              <a:ahLst/>
              <a:cxnLst/>
              <a:rect l="l" t="t" r="r" b="b"/>
              <a:pathLst>
                <a:path w="14357316" h="14321423">
                  <a:moveTo>
                    <a:pt x="0" y="0"/>
                  </a:moveTo>
                  <a:lnTo>
                    <a:pt x="14357316" y="0"/>
                  </a:lnTo>
                  <a:lnTo>
                    <a:pt x="14357316" y="14321423"/>
                  </a:lnTo>
                  <a:lnTo>
                    <a:pt x="0" y="1432142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">
                <a:alphaModFix amt="9999"/>
                <a:extLst>
                  <a:ext uri="{96DAC541-7B7A-43D3-8B79-37D633B846F1}">
                    <asvg:svgBlip xmlns:asvg="http://schemas.microsoft.com/office/drawing/2016/SVG/main" r:embed="rId2"/>
                  </a:ext>
                </a:extLst>
              </a:blip>
              <a:stretch>
                <a:fillRect/>
              </a:stretch>
            </a:blipFill>
            <a:ln cap="sq">
              <a:noFill/>
              <a:prstDash val="solid"/>
              <a:miter/>
            </a:ln>
          </p:spPr>
        </p:sp>
      </p:grpSp>
      <p:grpSp>
        <p:nvGrpSpPr>
          <p:cNvPr id="5" name="Group 5"/>
          <p:cNvGrpSpPr/>
          <p:nvPr/>
        </p:nvGrpSpPr>
        <p:grpSpPr>
          <a:xfrm>
            <a:off x="757944" y="1028700"/>
            <a:ext cx="17092120" cy="8680123"/>
            <a:chOff x="0" y="0"/>
            <a:chExt cx="4501628" cy="2286123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4501628" cy="2286123"/>
            </a:xfrm>
            <a:custGeom>
              <a:avLst/>
              <a:gdLst/>
              <a:ahLst/>
              <a:cxnLst/>
              <a:rect l="l" t="t" r="r" b="b"/>
              <a:pathLst>
                <a:path w="4501628" h="2286123">
                  <a:moveTo>
                    <a:pt x="0" y="0"/>
                  </a:moveTo>
                  <a:lnTo>
                    <a:pt x="4501628" y="0"/>
                  </a:lnTo>
                  <a:lnTo>
                    <a:pt x="4501628" y="2286123"/>
                  </a:lnTo>
                  <a:lnTo>
                    <a:pt x="0" y="2286123"/>
                  </a:lnTo>
                  <a:close/>
                </a:path>
              </a:pathLst>
            </a:custGeom>
            <a:solidFill>
              <a:srgbClr val="D1D5BA"/>
            </a:solidFill>
          </p:spPr>
        </p:sp>
        <p:sp>
          <p:nvSpPr>
            <p:cNvPr id="7" name="TextBox 7"/>
            <p:cNvSpPr txBox="1"/>
            <p:nvPr/>
          </p:nvSpPr>
          <p:spPr>
            <a:xfrm>
              <a:off x="0" y="-28575"/>
              <a:ext cx="4501628" cy="231469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60"/>
                </a:lnSpc>
                <a:spcBef>
                  <a:spcPct val="0"/>
                </a:spcBef>
              </a:pPr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437936" y="618151"/>
            <a:ext cx="17092120" cy="8746514"/>
            <a:chOff x="0" y="0"/>
            <a:chExt cx="4501628" cy="2303609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4501628" cy="2303609"/>
            </a:xfrm>
            <a:custGeom>
              <a:avLst/>
              <a:gdLst/>
              <a:ahLst/>
              <a:cxnLst/>
              <a:rect l="l" t="t" r="r" b="b"/>
              <a:pathLst>
                <a:path w="4501628" h="2303609">
                  <a:moveTo>
                    <a:pt x="0" y="0"/>
                  </a:moveTo>
                  <a:lnTo>
                    <a:pt x="4501628" y="0"/>
                  </a:lnTo>
                  <a:lnTo>
                    <a:pt x="4501628" y="2303609"/>
                  </a:lnTo>
                  <a:lnTo>
                    <a:pt x="0" y="2303609"/>
                  </a:lnTo>
                  <a:close/>
                </a:path>
              </a:pathLst>
            </a:custGeom>
            <a:solidFill>
              <a:srgbClr val="F5FAF4"/>
            </a:solidFill>
          </p:spPr>
        </p:sp>
        <p:sp>
          <p:nvSpPr>
            <p:cNvPr id="10" name="TextBox 10"/>
            <p:cNvSpPr txBox="1"/>
            <p:nvPr/>
          </p:nvSpPr>
          <p:spPr>
            <a:xfrm>
              <a:off x="0" y="-28575"/>
              <a:ext cx="4501628" cy="233218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60"/>
                </a:lnSpc>
                <a:spcBef>
                  <a:spcPct val="0"/>
                </a:spcBef>
              </a:pPr>
            </a:p>
          </p:txBody>
        </p:sp>
      </p:grpSp>
      <p:grpSp>
        <p:nvGrpSpPr>
          <p:cNvPr id="11" name="Group 11"/>
          <p:cNvGrpSpPr/>
          <p:nvPr/>
        </p:nvGrpSpPr>
        <p:grpSpPr>
          <a:xfrm>
            <a:off x="7586072" y="1565082"/>
            <a:ext cx="3115855" cy="217179"/>
            <a:chOff x="0" y="0"/>
            <a:chExt cx="820637" cy="57199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820637" cy="57199"/>
            </a:xfrm>
            <a:custGeom>
              <a:avLst/>
              <a:gdLst/>
              <a:ahLst/>
              <a:cxnLst/>
              <a:rect l="l" t="t" r="r" b="b"/>
              <a:pathLst>
                <a:path w="820637" h="57199">
                  <a:moveTo>
                    <a:pt x="28600" y="0"/>
                  </a:moveTo>
                  <a:lnTo>
                    <a:pt x="792037" y="0"/>
                  </a:lnTo>
                  <a:cubicBezTo>
                    <a:pt x="807832" y="0"/>
                    <a:pt x="820637" y="12805"/>
                    <a:pt x="820637" y="28600"/>
                  </a:cubicBezTo>
                  <a:lnTo>
                    <a:pt x="820637" y="28600"/>
                  </a:lnTo>
                  <a:cubicBezTo>
                    <a:pt x="820637" y="44395"/>
                    <a:pt x="807832" y="57199"/>
                    <a:pt x="792037" y="57199"/>
                  </a:cubicBezTo>
                  <a:lnTo>
                    <a:pt x="28600" y="57199"/>
                  </a:lnTo>
                  <a:cubicBezTo>
                    <a:pt x="12805" y="57199"/>
                    <a:pt x="0" y="44395"/>
                    <a:pt x="0" y="28600"/>
                  </a:cubicBezTo>
                  <a:lnTo>
                    <a:pt x="0" y="28600"/>
                  </a:lnTo>
                  <a:cubicBezTo>
                    <a:pt x="0" y="12805"/>
                    <a:pt x="12805" y="0"/>
                    <a:pt x="28600" y="0"/>
                  </a:cubicBezTo>
                  <a:close/>
                </a:path>
              </a:pathLst>
            </a:custGeom>
            <a:solidFill>
              <a:srgbClr val="D1D5BA"/>
            </a:solidFill>
          </p:spPr>
        </p:sp>
        <p:sp>
          <p:nvSpPr>
            <p:cNvPr id="13" name="TextBox 13"/>
            <p:cNvSpPr txBox="1"/>
            <p:nvPr/>
          </p:nvSpPr>
          <p:spPr>
            <a:xfrm>
              <a:off x="0" y="-47625"/>
              <a:ext cx="820637" cy="10482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895"/>
                </a:lnSpc>
              </a:pPr>
            </a:p>
          </p:txBody>
        </p:sp>
      </p:grpSp>
      <p:sp>
        <p:nvSpPr>
          <p:cNvPr id="14" name="TextBox 14"/>
          <p:cNvSpPr txBox="1"/>
          <p:nvPr/>
        </p:nvSpPr>
        <p:spPr>
          <a:xfrm>
            <a:off x="6388100" y="944880"/>
            <a:ext cx="5819140" cy="80772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 algn="ctr">
              <a:lnSpc>
                <a:spcPts val="6300"/>
              </a:lnSpc>
              <a:spcBef>
                <a:spcPct val="0"/>
              </a:spcBef>
            </a:pPr>
            <a:r>
              <a:rPr lang="zh-CN" altLang="en-US" sz="4200" spc="420">
                <a:solidFill>
                  <a:srgbClr val="343333"/>
                </a:solidFill>
                <a:ea typeface="华文中宋" panose="02010600040101010101" charset="-122"/>
              </a:rPr>
              <a:t>基于</a:t>
            </a:r>
            <a:r>
              <a:rPr lang="en-US" altLang="zh-CN" sz="4200" spc="420">
                <a:solidFill>
                  <a:srgbClr val="343333"/>
                </a:solidFill>
                <a:ea typeface="华文中宋" panose="02010600040101010101" charset="-122"/>
              </a:rPr>
              <a:t>LWE</a:t>
            </a:r>
            <a:r>
              <a:rPr lang="zh-CN" altLang="en-US" sz="4200" spc="420">
                <a:solidFill>
                  <a:srgbClr val="343333"/>
                </a:solidFill>
                <a:ea typeface="华文中宋" panose="02010600040101010101" charset="-122"/>
              </a:rPr>
              <a:t>的同态</a:t>
            </a:r>
            <a:r>
              <a:rPr lang="zh-CN" altLang="en-US" sz="4200" spc="420">
                <a:solidFill>
                  <a:srgbClr val="343333"/>
                </a:solidFill>
                <a:ea typeface="华文中宋" panose="02010600040101010101" charset="-122"/>
              </a:rPr>
              <a:t>加密</a:t>
            </a:r>
            <a:endParaRPr lang="zh-CN" altLang="en-US" sz="4200" spc="420">
              <a:solidFill>
                <a:srgbClr val="343333"/>
              </a:solidFill>
              <a:ea typeface="华文中宋" panose="02010600040101010101" charset="-122"/>
            </a:endParaRPr>
          </a:p>
        </p:txBody>
      </p:sp>
      <p:grpSp>
        <p:nvGrpSpPr>
          <p:cNvPr id="21" name="Group 21"/>
          <p:cNvGrpSpPr/>
          <p:nvPr>
            <p:custDataLst>
              <p:tags r:id="rId3"/>
            </p:custDataLst>
          </p:nvPr>
        </p:nvGrpSpPr>
        <p:grpSpPr>
          <a:xfrm>
            <a:off x="3047643" y="2218688"/>
            <a:ext cx="3034275" cy="511809"/>
            <a:chOff x="0" y="-16160"/>
            <a:chExt cx="4045700" cy="682413"/>
          </a:xfrm>
        </p:grpSpPr>
        <p:grpSp>
          <p:nvGrpSpPr>
            <p:cNvPr id="22" name="Group 22"/>
            <p:cNvGrpSpPr/>
            <p:nvPr/>
          </p:nvGrpSpPr>
          <p:grpSpPr>
            <a:xfrm>
              <a:off x="0" y="0"/>
              <a:ext cx="4045700" cy="666253"/>
              <a:chOff x="0" y="0"/>
              <a:chExt cx="1039241" cy="171144"/>
            </a:xfrm>
          </p:grpSpPr>
          <p:sp>
            <p:nvSpPr>
              <p:cNvPr id="23" name="Freeform 23"/>
              <p:cNvSpPr/>
              <p:nvPr>
                <p:custDataLst>
                  <p:tags r:id="rId4"/>
                </p:custDataLst>
              </p:nvPr>
            </p:nvSpPr>
            <p:spPr>
              <a:xfrm>
                <a:off x="0" y="0"/>
                <a:ext cx="1039241" cy="171144"/>
              </a:xfrm>
              <a:custGeom>
                <a:avLst/>
                <a:gdLst/>
                <a:ahLst/>
                <a:cxnLst/>
                <a:rect l="l" t="t" r="r" b="b"/>
                <a:pathLst>
                  <a:path w="1039241" h="171144">
                    <a:moveTo>
                      <a:pt x="85572" y="0"/>
                    </a:moveTo>
                    <a:lnTo>
                      <a:pt x="953669" y="0"/>
                    </a:lnTo>
                    <a:cubicBezTo>
                      <a:pt x="1000929" y="0"/>
                      <a:pt x="1039241" y="38312"/>
                      <a:pt x="1039241" y="85572"/>
                    </a:cubicBezTo>
                    <a:lnTo>
                      <a:pt x="1039241" y="85572"/>
                    </a:lnTo>
                    <a:cubicBezTo>
                      <a:pt x="1039241" y="132832"/>
                      <a:pt x="1000929" y="171144"/>
                      <a:pt x="953669" y="171144"/>
                    </a:cubicBezTo>
                    <a:lnTo>
                      <a:pt x="85572" y="171144"/>
                    </a:lnTo>
                    <a:cubicBezTo>
                      <a:pt x="38312" y="171144"/>
                      <a:pt x="0" y="132832"/>
                      <a:pt x="0" y="85572"/>
                    </a:cubicBezTo>
                    <a:lnTo>
                      <a:pt x="0" y="85572"/>
                    </a:lnTo>
                    <a:cubicBezTo>
                      <a:pt x="0" y="38312"/>
                      <a:pt x="38312" y="0"/>
                      <a:pt x="85572" y="0"/>
                    </a:cubicBezTo>
                    <a:close/>
                  </a:path>
                </a:pathLst>
              </a:custGeom>
              <a:solidFill>
                <a:srgbClr val="41624D"/>
              </a:solidFill>
              <a:ln w="9525" cap="rnd">
                <a:solidFill>
                  <a:srgbClr val="41624D"/>
                </a:solidFill>
                <a:prstDash val="solid"/>
                <a:round/>
              </a:ln>
            </p:spPr>
          </p:sp>
          <p:sp>
            <p:nvSpPr>
              <p:cNvPr id="24" name="TextBox 24"/>
              <p:cNvSpPr txBox="1"/>
              <p:nvPr/>
            </p:nvSpPr>
            <p:spPr>
              <a:xfrm>
                <a:off x="0" y="-47625"/>
                <a:ext cx="1039241" cy="218769"/>
              </a:xfrm>
              <a:prstGeom prst="rect">
                <a:avLst/>
              </a:prstGeom>
            </p:spPr>
            <p:txBody>
              <a:bodyPr lIns="34493" tIns="34493" rIns="34493" bIns="34493" rtlCol="0" anchor="ctr"/>
              <a:lstStyle/>
              <a:p>
                <a:pPr marL="0" lvl="0" indent="0" algn="ctr">
                  <a:lnSpc>
                    <a:spcPts val="2895"/>
                  </a:lnSpc>
                  <a:spcBef>
                    <a:spcPct val="0"/>
                  </a:spcBef>
                </a:pPr>
              </a:p>
            </p:txBody>
          </p:sp>
        </p:grpSp>
        <p:sp>
          <p:nvSpPr>
            <p:cNvPr id="25" name="TextBox 25"/>
            <p:cNvSpPr txBox="1"/>
            <p:nvPr>
              <p:custDataLst>
                <p:tags r:id="rId5"/>
              </p:custDataLst>
            </p:nvPr>
          </p:nvSpPr>
          <p:spPr>
            <a:xfrm>
              <a:off x="292086" y="-16160"/>
              <a:ext cx="3461527" cy="669714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ctr">
                <a:lnSpc>
                  <a:spcPts val="3920"/>
                </a:lnSpc>
                <a:spcBef>
                  <a:spcPct val="0"/>
                </a:spcBef>
              </a:pPr>
              <a:r>
                <a:rPr lang="en-US" sz="2800" spc="279">
                  <a:solidFill>
                    <a:srgbClr val="FFFFFF"/>
                  </a:solidFill>
                  <a:ea typeface="方正大黑体_GBK" panose="02010600010101010101" charset="-122"/>
                </a:rPr>
                <a:t>LWE</a:t>
              </a:r>
              <a:r>
                <a:rPr lang="zh-CN" altLang="en-US" sz="2800" spc="279">
                  <a:solidFill>
                    <a:srgbClr val="FFFFFF"/>
                  </a:solidFill>
                  <a:ea typeface="方正大黑体_GBK" panose="02010600010101010101" charset="-122"/>
                </a:rPr>
                <a:t>加密</a:t>
              </a:r>
              <a:r>
                <a:rPr lang="zh-CN" altLang="en-US" sz="2800" spc="279">
                  <a:solidFill>
                    <a:srgbClr val="FFFFFF"/>
                  </a:solidFill>
                  <a:ea typeface="方正大黑体_GBK" panose="02010600010101010101" charset="-122"/>
                </a:rPr>
                <a:t>方案</a:t>
              </a:r>
              <a:endParaRPr lang="zh-CN" altLang="en-US" sz="2800" spc="279">
                <a:solidFill>
                  <a:srgbClr val="FFFFFF"/>
                </a:solidFill>
                <a:ea typeface="方正大黑体_GBK" panose="02010600010101010101" charset="-122"/>
              </a:endParaRPr>
            </a:p>
          </p:txBody>
        </p:sp>
      </p:grpSp>
      <p:grpSp>
        <p:nvGrpSpPr>
          <p:cNvPr id="26" name="Group 26"/>
          <p:cNvGrpSpPr/>
          <p:nvPr>
            <p:custDataLst>
              <p:tags r:id="rId6"/>
            </p:custDataLst>
          </p:nvPr>
        </p:nvGrpSpPr>
        <p:grpSpPr>
          <a:xfrm>
            <a:off x="11744050" y="2247898"/>
            <a:ext cx="3034275" cy="511809"/>
            <a:chOff x="0" y="-16160"/>
            <a:chExt cx="4045700" cy="682413"/>
          </a:xfrm>
        </p:grpSpPr>
        <p:grpSp>
          <p:nvGrpSpPr>
            <p:cNvPr id="27" name="Group 27"/>
            <p:cNvGrpSpPr/>
            <p:nvPr/>
          </p:nvGrpSpPr>
          <p:grpSpPr>
            <a:xfrm>
              <a:off x="0" y="0"/>
              <a:ext cx="4045700" cy="666253"/>
              <a:chOff x="0" y="0"/>
              <a:chExt cx="1039241" cy="171144"/>
            </a:xfrm>
          </p:grpSpPr>
          <p:sp>
            <p:nvSpPr>
              <p:cNvPr id="28" name="Freeform 28"/>
              <p:cNvSpPr/>
              <p:nvPr>
                <p:custDataLst>
                  <p:tags r:id="rId7"/>
                </p:custDataLst>
              </p:nvPr>
            </p:nvSpPr>
            <p:spPr>
              <a:xfrm>
                <a:off x="0" y="0"/>
                <a:ext cx="1039241" cy="171144"/>
              </a:xfrm>
              <a:custGeom>
                <a:avLst/>
                <a:gdLst/>
                <a:ahLst/>
                <a:cxnLst/>
                <a:rect l="l" t="t" r="r" b="b"/>
                <a:pathLst>
                  <a:path w="1039241" h="171144">
                    <a:moveTo>
                      <a:pt x="85572" y="0"/>
                    </a:moveTo>
                    <a:lnTo>
                      <a:pt x="953669" y="0"/>
                    </a:lnTo>
                    <a:cubicBezTo>
                      <a:pt x="1000929" y="0"/>
                      <a:pt x="1039241" y="38312"/>
                      <a:pt x="1039241" y="85572"/>
                    </a:cubicBezTo>
                    <a:lnTo>
                      <a:pt x="1039241" y="85572"/>
                    </a:lnTo>
                    <a:cubicBezTo>
                      <a:pt x="1039241" y="132832"/>
                      <a:pt x="1000929" y="171144"/>
                      <a:pt x="953669" y="171144"/>
                    </a:cubicBezTo>
                    <a:lnTo>
                      <a:pt x="85572" y="171144"/>
                    </a:lnTo>
                    <a:cubicBezTo>
                      <a:pt x="38312" y="171144"/>
                      <a:pt x="0" y="132832"/>
                      <a:pt x="0" y="85572"/>
                    </a:cubicBezTo>
                    <a:lnTo>
                      <a:pt x="0" y="85572"/>
                    </a:lnTo>
                    <a:cubicBezTo>
                      <a:pt x="0" y="38312"/>
                      <a:pt x="38312" y="0"/>
                      <a:pt x="85572" y="0"/>
                    </a:cubicBezTo>
                    <a:close/>
                  </a:path>
                </a:pathLst>
              </a:custGeom>
              <a:solidFill>
                <a:srgbClr val="41624D"/>
              </a:solidFill>
              <a:ln w="9525" cap="rnd">
                <a:solidFill>
                  <a:srgbClr val="41624D"/>
                </a:solidFill>
                <a:prstDash val="solid"/>
                <a:round/>
              </a:ln>
            </p:spPr>
          </p:sp>
          <p:sp>
            <p:nvSpPr>
              <p:cNvPr id="29" name="TextBox 29"/>
              <p:cNvSpPr txBox="1"/>
              <p:nvPr/>
            </p:nvSpPr>
            <p:spPr>
              <a:xfrm>
                <a:off x="0" y="-47625"/>
                <a:ext cx="1039241" cy="218769"/>
              </a:xfrm>
              <a:prstGeom prst="rect">
                <a:avLst/>
              </a:prstGeom>
            </p:spPr>
            <p:txBody>
              <a:bodyPr lIns="34493" tIns="34493" rIns="34493" bIns="34493" rtlCol="0" anchor="ctr"/>
              <a:lstStyle/>
              <a:p>
                <a:pPr marL="0" lvl="0" indent="0" algn="ctr">
                  <a:lnSpc>
                    <a:spcPts val="2895"/>
                  </a:lnSpc>
                  <a:spcBef>
                    <a:spcPct val="0"/>
                  </a:spcBef>
                </a:pPr>
              </a:p>
            </p:txBody>
          </p:sp>
        </p:grpSp>
        <p:sp>
          <p:nvSpPr>
            <p:cNvPr id="30" name="TextBox 30"/>
            <p:cNvSpPr txBox="1"/>
            <p:nvPr>
              <p:custDataLst>
                <p:tags r:id="rId8"/>
              </p:custDataLst>
            </p:nvPr>
          </p:nvSpPr>
          <p:spPr>
            <a:xfrm>
              <a:off x="292086" y="-16160"/>
              <a:ext cx="3461527" cy="669714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ctr">
                <a:lnSpc>
                  <a:spcPts val="3920"/>
                </a:lnSpc>
                <a:spcBef>
                  <a:spcPct val="0"/>
                </a:spcBef>
              </a:pPr>
              <a:r>
                <a:rPr lang="zh-CN" altLang="en-US" sz="2800" spc="279">
                  <a:solidFill>
                    <a:srgbClr val="FFFFFF"/>
                  </a:solidFill>
                  <a:ea typeface="方正大黑体_GBK" panose="02010600010101010101" charset="-122"/>
                </a:rPr>
                <a:t>噪声</a:t>
              </a:r>
              <a:r>
                <a:rPr lang="zh-CN" altLang="en-US" sz="2800" spc="279">
                  <a:solidFill>
                    <a:srgbClr val="FFFFFF"/>
                  </a:solidFill>
                  <a:ea typeface="方正大黑体_GBK" panose="02010600010101010101" charset="-122"/>
                </a:rPr>
                <a:t>约束</a:t>
              </a:r>
              <a:endParaRPr lang="zh-CN" altLang="en-US" sz="2800" spc="279">
                <a:solidFill>
                  <a:srgbClr val="FFFFFF"/>
                </a:solidFill>
                <a:ea typeface="方正大黑体_GBK" panose="02010600010101010101" charset="-122"/>
              </a:endParaRPr>
            </a:p>
          </p:txBody>
        </p:sp>
      </p:grpSp>
      <p:grpSp>
        <p:nvGrpSpPr>
          <p:cNvPr id="31" name="Group 31"/>
          <p:cNvGrpSpPr/>
          <p:nvPr>
            <p:custDataLst>
              <p:tags r:id="rId9"/>
            </p:custDataLst>
          </p:nvPr>
        </p:nvGrpSpPr>
        <p:grpSpPr>
          <a:xfrm>
            <a:off x="7626870" y="5574318"/>
            <a:ext cx="3034275" cy="1109275"/>
            <a:chOff x="0" y="-812783"/>
            <a:chExt cx="4045700" cy="1479036"/>
          </a:xfrm>
        </p:grpSpPr>
        <p:grpSp>
          <p:nvGrpSpPr>
            <p:cNvPr id="32" name="Group 32"/>
            <p:cNvGrpSpPr/>
            <p:nvPr/>
          </p:nvGrpSpPr>
          <p:grpSpPr>
            <a:xfrm>
              <a:off x="0" y="-812783"/>
              <a:ext cx="4045700" cy="1479036"/>
              <a:chOff x="0" y="-208784"/>
              <a:chExt cx="1039241" cy="379928"/>
            </a:xfrm>
          </p:grpSpPr>
          <p:sp>
            <p:nvSpPr>
              <p:cNvPr id="33" name="Freeform 33"/>
              <p:cNvSpPr/>
              <p:nvPr>
                <p:custDataLst>
                  <p:tags r:id="rId10"/>
                </p:custDataLst>
              </p:nvPr>
            </p:nvSpPr>
            <p:spPr>
              <a:xfrm>
                <a:off x="0" y="0"/>
                <a:ext cx="1039241" cy="171144"/>
              </a:xfrm>
              <a:custGeom>
                <a:avLst/>
                <a:gdLst/>
                <a:ahLst/>
                <a:cxnLst/>
                <a:rect l="l" t="t" r="r" b="b"/>
                <a:pathLst>
                  <a:path w="1039241" h="171144">
                    <a:moveTo>
                      <a:pt x="85572" y="0"/>
                    </a:moveTo>
                    <a:lnTo>
                      <a:pt x="953669" y="0"/>
                    </a:lnTo>
                    <a:cubicBezTo>
                      <a:pt x="1000929" y="0"/>
                      <a:pt x="1039241" y="38312"/>
                      <a:pt x="1039241" y="85572"/>
                    </a:cubicBezTo>
                    <a:lnTo>
                      <a:pt x="1039241" y="85572"/>
                    </a:lnTo>
                    <a:cubicBezTo>
                      <a:pt x="1039241" y="132832"/>
                      <a:pt x="1000929" y="171144"/>
                      <a:pt x="953669" y="171144"/>
                    </a:cubicBezTo>
                    <a:lnTo>
                      <a:pt x="85572" y="171144"/>
                    </a:lnTo>
                    <a:cubicBezTo>
                      <a:pt x="38312" y="171144"/>
                      <a:pt x="0" y="132832"/>
                      <a:pt x="0" y="85572"/>
                    </a:cubicBezTo>
                    <a:lnTo>
                      <a:pt x="0" y="85572"/>
                    </a:lnTo>
                    <a:cubicBezTo>
                      <a:pt x="0" y="38312"/>
                      <a:pt x="38312" y="0"/>
                      <a:pt x="85572" y="0"/>
                    </a:cubicBezTo>
                    <a:close/>
                  </a:path>
                </a:pathLst>
              </a:custGeom>
              <a:solidFill>
                <a:srgbClr val="41624D"/>
              </a:solidFill>
              <a:ln w="9525" cap="rnd">
                <a:solidFill>
                  <a:srgbClr val="41624D"/>
                </a:solidFill>
                <a:prstDash val="solid"/>
                <a:round/>
              </a:ln>
            </p:spPr>
          </p:sp>
          <p:sp>
            <p:nvSpPr>
              <p:cNvPr id="34" name="TextBox 34"/>
              <p:cNvSpPr txBox="1"/>
              <p:nvPr/>
            </p:nvSpPr>
            <p:spPr>
              <a:xfrm>
                <a:off x="0" y="-208784"/>
                <a:ext cx="1039241" cy="218769"/>
              </a:xfrm>
              <a:prstGeom prst="rect">
                <a:avLst/>
              </a:prstGeom>
            </p:spPr>
            <p:txBody>
              <a:bodyPr lIns="34493" tIns="34493" rIns="34493" bIns="34493" rtlCol="0" anchor="ctr"/>
              <a:lstStyle/>
              <a:p>
                <a:pPr marL="0" lvl="0" indent="0" algn="ctr">
                  <a:lnSpc>
                    <a:spcPts val="2895"/>
                  </a:lnSpc>
                  <a:spcBef>
                    <a:spcPct val="0"/>
                  </a:spcBef>
                </a:pPr>
              </a:p>
            </p:txBody>
          </p:sp>
        </p:grpSp>
        <p:sp>
          <p:nvSpPr>
            <p:cNvPr id="35" name="TextBox 35"/>
            <p:cNvSpPr txBox="1"/>
            <p:nvPr>
              <p:custDataLst>
                <p:tags r:id="rId11"/>
              </p:custDataLst>
            </p:nvPr>
          </p:nvSpPr>
          <p:spPr>
            <a:xfrm>
              <a:off x="292086" y="-16160"/>
              <a:ext cx="3461527" cy="669714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ctr">
                <a:lnSpc>
                  <a:spcPts val="3920"/>
                </a:lnSpc>
                <a:spcBef>
                  <a:spcPct val="0"/>
                </a:spcBef>
              </a:pPr>
              <a:r>
                <a:rPr lang="zh-CN" altLang="en-US" sz="2800" spc="279">
                  <a:solidFill>
                    <a:srgbClr val="FFFFFF"/>
                  </a:solidFill>
                  <a:ea typeface="方正大黑体_GBK" panose="02010600010101010101" charset="-122"/>
                </a:rPr>
                <a:t>自</a:t>
              </a:r>
              <a:r>
                <a:rPr lang="zh-CN" altLang="en-US" sz="2800" spc="279">
                  <a:solidFill>
                    <a:srgbClr val="FFFFFF"/>
                  </a:solidFill>
                  <a:ea typeface="方正大黑体_GBK" panose="02010600010101010101" charset="-122"/>
                </a:rPr>
                <a:t>举</a:t>
              </a:r>
              <a:endParaRPr lang="zh-CN" altLang="en-US" sz="2800" spc="279">
                <a:solidFill>
                  <a:srgbClr val="FFFFFF"/>
                </a:solidFill>
                <a:ea typeface="方正大黑体_GBK" panose="02010600010101010101" charset="-122"/>
              </a:endParaRPr>
            </a:p>
          </p:txBody>
        </p:sp>
      </p:grpSp>
      <p:graphicFrame>
        <p:nvGraphicFramePr>
          <p:cNvPr id="15" name="对象 14">
            <a:hlinkClick r:id="" action="ppaction://ole?verb="/>
          </p:cNvPr>
          <p:cNvGraphicFramePr>
            <a:graphicFrameLocks noChangeAspect="1"/>
          </p:cNvGraphicFramePr>
          <p:nvPr/>
        </p:nvGraphicFramePr>
        <p:xfrm>
          <a:off x="9086850" y="5035550"/>
          <a:ext cx="114300" cy="215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25" name="" r:id="rId12" imgW="114300" imgH="215900" progId="Equation.KSEE3">
                  <p:embed/>
                </p:oleObj>
              </mc:Choice>
              <mc:Fallback>
                <p:oleObj name="" r:id="rId12" imgW="114300" imgH="215900" progId="Equation.KSEE3">
                  <p:embed/>
                  <p:pic>
                    <p:nvPicPr>
                      <p:cNvPr id="0" name="图片 1024"/>
                      <p:cNvPicPr/>
                      <p:nvPr/>
                    </p:nvPicPr>
                    <p:blipFill>
                      <a:blip r:embed="rId13"/>
                      <a:stretch>
                        <a:fillRect/>
                      </a:stretch>
                    </p:blipFill>
                    <p:spPr>
                      <a:xfrm>
                        <a:off x="9086850" y="5035550"/>
                        <a:ext cx="114300" cy="2159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8" name="对象 37">
            <a:hlinkClick r:id="" action="ppaction://ole?verb="/>
          </p:cNvPr>
          <p:cNvGraphicFramePr>
            <a:graphicFrameLocks noChangeAspect="1"/>
          </p:cNvGraphicFramePr>
          <p:nvPr/>
        </p:nvGraphicFramePr>
        <p:xfrm>
          <a:off x="9086850" y="5035550"/>
          <a:ext cx="114300" cy="215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27" name="" r:id="rId14" imgW="114300" imgH="215900" progId="Equation.KSEE3">
                  <p:embed/>
                </p:oleObj>
              </mc:Choice>
              <mc:Fallback>
                <p:oleObj name="" r:id="rId14" imgW="114300" imgH="215900" progId="Equation.KSEE3">
                  <p:embed/>
                  <p:pic>
                    <p:nvPicPr>
                      <p:cNvPr id="0" name="图片 1026"/>
                      <p:cNvPicPr/>
                      <p:nvPr/>
                    </p:nvPicPr>
                    <p:blipFill>
                      <a:blip r:embed="rId13"/>
                      <a:stretch>
                        <a:fillRect/>
                      </a:stretch>
                    </p:blipFill>
                    <p:spPr>
                      <a:xfrm>
                        <a:off x="9086850" y="5035550"/>
                        <a:ext cx="114300" cy="2159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45" name="图片 44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2270760" y="2921000"/>
            <a:ext cx="4839335" cy="3710305"/>
          </a:xfrm>
          <a:prstGeom prst="rect">
            <a:avLst/>
          </a:prstGeom>
        </p:spPr>
      </p:pic>
      <p:pic>
        <p:nvPicPr>
          <p:cNvPr id="46" name="图片 45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9982200" y="3162300"/>
            <a:ext cx="6962775" cy="2505075"/>
          </a:xfrm>
          <a:prstGeom prst="rect">
            <a:avLst/>
          </a:prstGeom>
        </p:spPr>
      </p:pic>
      <p:pic>
        <p:nvPicPr>
          <p:cNvPr id="47" name="图片 46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5638800" y="6896100"/>
            <a:ext cx="7343775" cy="2228850"/>
          </a:xfrm>
          <a:prstGeom prst="rect">
            <a:avLst/>
          </a:prstGeom>
        </p:spPr>
      </p:pic>
      <p:sp>
        <p:nvSpPr>
          <p:cNvPr id="48" name="右箭头 47"/>
          <p:cNvSpPr/>
          <p:nvPr/>
        </p:nvSpPr>
        <p:spPr>
          <a:xfrm rot="7680000">
            <a:off x="13068300" y="6313805"/>
            <a:ext cx="1676400" cy="914400"/>
          </a:xfrm>
          <a:prstGeom prst="rightArrow">
            <a:avLst/>
          </a:prstGeom>
          <a:solidFill>
            <a:schemeClr val="accent3">
              <a:lumMod val="50000"/>
            </a:schemeClr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49" name="右箭头 48"/>
          <p:cNvSpPr/>
          <p:nvPr/>
        </p:nvSpPr>
        <p:spPr>
          <a:xfrm>
            <a:off x="7899400" y="4051300"/>
            <a:ext cx="1676400" cy="914400"/>
          </a:xfrm>
          <a:prstGeom prst="rightArrow">
            <a:avLst/>
          </a:prstGeom>
          <a:solidFill>
            <a:schemeClr val="accent3">
              <a:lumMod val="50000"/>
            </a:schemeClr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D1D5B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078580" y="1138069"/>
            <a:ext cx="15916463" cy="8010861"/>
            <a:chOff x="0" y="0"/>
            <a:chExt cx="4191990" cy="2109856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4191990" cy="2109856"/>
            </a:xfrm>
            <a:custGeom>
              <a:avLst/>
              <a:gdLst/>
              <a:ahLst/>
              <a:cxnLst/>
              <a:rect l="l" t="t" r="r" b="b"/>
              <a:pathLst>
                <a:path w="4191990" h="2109856">
                  <a:moveTo>
                    <a:pt x="0" y="0"/>
                  </a:moveTo>
                  <a:lnTo>
                    <a:pt x="4191990" y="0"/>
                  </a:lnTo>
                  <a:lnTo>
                    <a:pt x="4191990" y="2109856"/>
                  </a:lnTo>
                  <a:lnTo>
                    <a:pt x="0" y="2109856"/>
                  </a:lnTo>
                  <a:close/>
                </a:path>
              </a:pathLst>
            </a:custGeom>
            <a:solidFill>
              <a:srgbClr val="F5FAF4"/>
            </a:solidFill>
          </p:spPr>
        </p:sp>
        <p:sp>
          <p:nvSpPr>
            <p:cNvPr id="4" name="TextBox 4"/>
            <p:cNvSpPr txBox="1"/>
            <p:nvPr/>
          </p:nvSpPr>
          <p:spPr>
            <a:xfrm>
              <a:off x="0" y="-28575"/>
              <a:ext cx="4191990" cy="213843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60"/>
                </a:lnSpc>
                <a:spcBef>
                  <a:spcPct val="0"/>
                </a:spcBef>
              </a:pPr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1078580" y="1142801"/>
            <a:ext cx="16028936" cy="7994432"/>
            <a:chOff x="0" y="0"/>
            <a:chExt cx="21371915" cy="10659242"/>
          </a:xfrm>
        </p:grpSpPr>
        <p:sp>
          <p:nvSpPr>
            <p:cNvPr id="6" name="Freeform 6"/>
            <p:cNvSpPr/>
            <p:nvPr/>
          </p:nvSpPr>
          <p:spPr>
            <a:xfrm>
              <a:off x="10685957" y="0"/>
              <a:ext cx="10685957" cy="10659242"/>
            </a:xfrm>
            <a:custGeom>
              <a:avLst/>
              <a:gdLst/>
              <a:ahLst/>
              <a:cxnLst/>
              <a:rect l="l" t="t" r="r" b="b"/>
              <a:pathLst>
                <a:path w="10685957" h="10659242">
                  <a:moveTo>
                    <a:pt x="0" y="0"/>
                  </a:moveTo>
                  <a:lnTo>
                    <a:pt x="10685958" y="0"/>
                  </a:lnTo>
                  <a:lnTo>
                    <a:pt x="10685958" y="10659242"/>
                  </a:lnTo>
                  <a:lnTo>
                    <a:pt x="0" y="1065924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/>
              <a:stretch>
                <a:fillRect/>
              </a:stretch>
            </a:blipFill>
          </p:spPr>
        </p:sp>
        <p:sp>
          <p:nvSpPr>
            <p:cNvPr id="7" name="Freeform 7"/>
            <p:cNvSpPr/>
            <p:nvPr/>
          </p:nvSpPr>
          <p:spPr>
            <a:xfrm>
              <a:off x="0" y="0"/>
              <a:ext cx="10685957" cy="10659242"/>
            </a:xfrm>
            <a:custGeom>
              <a:avLst/>
              <a:gdLst/>
              <a:ahLst/>
              <a:cxnLst/>
              <a:rect l="l" t="t" r="r" b="b"/>
              <a:pathLst>
                <a:path w="10685957" h="10659242">
                  <a:moveTo>
                    <a:pt x="0" y="0"/>
                  </a:moveTo>
                  <a:lnTo>
                    <a:pt x="10685957" y="0"/>
                  </a:lnTo>
                  <a:lnTo>
                    <a:pt x="10685957" y="10659242"/>
                  </a:lnTo>
                  <a:lnTo>
                    <a:pt x="0" y="1065924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/>
              <a:stretch>
                <a:fillRect/>
              </a:stretch>
            </a:blipFill>
            <a:ln cap="sq">
              <a:noFill/>
              <a:prstDash val="solid"/>
              <a:miter/>
            </a:ln>
          </p:spPr>
        </p:sp>
      </p:grpSp>
      <p:sp>
        <p:nvSpPr>
          <p:cNvPr id="8" name="TextBox 8"/>
          <p:cNvSpPr txBox="1"/>
          <p:nvPr/>
        </p:nvSpPr>
        <p:spPr>
          <a:xfrm>
            <a:off x="6633359" y="5547546"/>
            <a:ext cx="5538222" cy="14808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11550"/>
              </a:lnSpc>
              <a:spcBef>
                <a:spcPct val="0"/>
              </a:spcBef>
            </a:pPr>
            <a:r>
              <a:rPr lang="zh-CN" altLang="en-US" sz="7700" spc="769">
                <a:solidFill>
                  <a:srgbClr val="41624D"/>
                </a:solidFill>
                <a:ea typeface="华文中宋" panose="02010600040101010101" charset="-122"/>
              </a:rPr>
              <a:t>协议介绍</a:t>
            </a:r>
            <a:endParaRPr lang="zh-CN" altLang="en-US" sz="7700" spc="769">
              <a:solidFill>
                <a:srgbClr val="41624D"/>
              </a:solidFill>
              <a:ea typeface="华文中宋" panose="02010600040101010101" charset="-122"/>
            </a:endParaRPr>
          </a:p>
        </p:txBody>
      </p:sp>
      <p:sp>
        <p:nvSpPr>
          <p:cNvPr id="9" name="TextBox 9"/>
          <p:cNvSpPr txBox="1"/>
          <p:nvPr/>
        </p:nvSpPr>
        <p:spPr>
          <a:xfrm>
            <a:off x="5166849" y="6996212"/>
            <a:ext cx="7954302" cy="64579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5040"/>
              </a:lnSpc>
              <a:spcBef>
                <a:spcPct val="0"/>
              </a:spcBef>
            </a:pPr>
            <a:r>
              <a:rPr lang="en-US" altLang="zh-CN" sz="3600" spc="928">
                <a:solidFill>
                  <a:srgbClr val="343333"/>
                </a:solidFill>
                <a:latin typeface="Chakra Petch" panose="00000500000000000000"/>
              </a:rPr>
              <a:t>Protocol Description</a:t>
            </a:r>
            <a:endParaRPr lang="en-US" altLang="zh-CN" sz="3600" spc="928">
              <a:solidFill>
                <a:srgbClr val="343333"/>
              </a:solidFill>
              <a:latin typeface="Chakra Petch" panose="00000500000000000000"/>
            </a:endParaRPr>
          </a:p>
        </p:txBody>
      </p:sp>
      <p:sp>
        <p:nvSpPr>
          <p:cNvPr id="10" name="TextBox 10"/>
          <p:cNvSpPr txBox="1"/>
          <p:nvPr/>
        </p:nvSpPr>
        <p:spPr>
          <a:xfrm>
            <a:off x="6835140" y="2179955"/>
            <a:ext cx="4549775" cy="412940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 algn="ctr">
              <a:lnSpc>
                <a:spcPts val="32200"/>
              </a:lnSpc>
              <a:spcBef>
                <a:spcPct val="0"/>
              </a:spcBef>
            </a:pPr>
            <a:r>
              <a:rPr lang="en-US" sz="23000" u="none" strike="noStrike" spc="2437">
                <a:solidFill>
                  <a:srgbClr val="41624D"/>
                </a:solidFill>
                <a:latin typeface="Chakra Petch Bold" panose="00000800000000000000"/>
              </a:rPr>
              <a:t>03</a:t>
            </a:r>
            <a:endParaRPr lang="en-US" sz="23000" u="none" strike="noStrike" spc="2437">
              <a:solidFill>
                <a:srgbClr val="41624D"/>
              </a:solidFill>
              <a:latin typeface="Chakra Petch Bold" panose="00000800000000000000"/>
            </a:endParaRPr>
          </a:p>
        </p:txBody>
      </p:sp>
      <p:grpSp>
        <p:nvGrpSpPr>
          <p:cNvPr id="11" name="Group 11"/>
          <p:cNvGrpSpPr/>
          <p:nvPr/>
        </p:nvGrpSpPr>
        <p:grpSpPr>
          <a:xfrm>
            <a:off x="4533185" y="4229821"/>
            <a:ext cx="2308536" cy="259929"/>
            <a:chOff x="0" y="0"/>
            <a:chExt cx="608009" cy="68459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608009" cy="68459"/>
            </a:xfrm>
            <a:custGeom>
              <a:avLst/>
              <a:gdLst/>
              <a:ahLst/>
              <a:cxnLst/>
              <a:rect l="l" t="t" r="r" b="b"/>
              <a:pathLst>
                <a:path w="608009" h="68459">
                  <a:moveTo>
                    <a:pt x="34229" y="0"/>
                  </a:moveTo>
                  <a:lnTo>
                    <a:pt x="573780" y="0"/>
                  </a:lnTo>
                  <a:cubicBezTo>
                    <a:pt x="592684" y="0"/>
                    <a:pt x="608009" y="15325"/>
                    <a:pt x="608009" y="34229"/>
                  </a:cubicBezTo>
                  <a:lnTo>
                    <a:pt x="608009" y="34229"/>
                  </a:lnTo>
                  <a:cubicBezTo>
                    <a:pt x="608009" y="43307"/>
                    <a:pt x="604403" y="52014"/>
                    <a:pt x="597984" y="58433"/>
                  </a:cubicBezTo>
                  <a:cubicBezTo>
                    <a:pt x="591565" y="64852"/>
                    <a:pt x="582858" y="68459"/>
                    <a:pt x="573780" y="68459"/>
                  </a:cubicBezTo>
                  <a:lnTo>
                    <a:pt x="34229" y="68459"/>
                  </a:lnTo>
                  <a:cubicBezTo>
                    <a:pt x="15325" y="68459"/>
                    <a:pt x="0" y="53134"/>
                    <a:pt x="0" y="34229"/>
                  </a:cubicBezTo>
                  <a:lnTo>
                    <a:pt x="0" y="34229"/>
                  </a:lnTo>
                  <a:cubicBezTo>
                    <a:pt x="0" y="15325"/>
                    <a:pt x="15325" y="0"/>
                    <a:pt x="34229" y="0"/>
                  </a:cubicBezTo>
                  <a:close/>
                </a:path>
              </a:pathLst>
            </a:custGeom>
            <a:solidFill>
              <a:srgbClr val="41624D"/>
            </a:solidFill>
          </p:spPr>
        </p:sp>
        <p:sp>
          <p:nvSpPr>
            <p:cNvPr id="13" name="TextBox 13"/>
            <p:cNvSpPr txBox="1"/>
            <p:nvPr/>
          </p:nvSpPr>
          <p:spPr>
            <a:xfrm>
              <a:off x="0" y="-47625"/>
              <a:ext cx="608009" cy="11608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895"/>
                </a:lnSpc>
              </a:pPr>
            </a:p>
          </p:txBody>
        </p:sp>
      </p:grpSp>
      <p:grpSp>
        <p:nvGrpSpPr>
          <p:cNvPr id="14" name="Group 14"/>
          <p:cNvGrpSpPr/>
          <p:nvPr/>
        </p:nvGrpSpPr>
        <p:grpSpPr>
          <a:xfrm>
            <a:off x="11446280" y="4229821"/>
            <a:ext cx="2308536" cy="259929"/>
            <a:chOff x="0" y="0"/>
            <a:chExt cx="608009" cy="68459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608009" cy="68459"/>
            </a:xfrm>
            <a:custGeom>
              <a:avLst/>
              <a:gdLst/>
              <a:ahLst/>
              <a:cxnLst/>
              <a:rect l="l" t="t" r="r" b="b"/>
              <a:pathLst>
                <a:path w="608009" h="68459">
                  <a:moveTo>
                    <a:pt x="34229" y="0"/>
                  </a:moveTo>
                  <a:lnTo>
                    <a:pt x="573780" y="0"/>
                  </a:lnTo>
                  <a:cubicBezTo>
                    <a:pt x="592684" y="0"/>
                    <a:pt x="608009" y="15325"/>
                    <a:pt x="608009" y="34229"/>
                  </a:cubicBezTo>
                  <a:lnTo>
                    <a:pt x="608009" y="34229"/>
                  </a:lnTo>
                  <a:cubicBezTo>
                    <a:pt x="608009" y="43307"/>
                    <a:pt x="604403" y="52014"/>
                    <a:pt x="597984" y="58433"/>
                  </a:cubicBezTo>
                  <a:cubicBezTo>
                    <a:pt x="591565" y="64852"/>
                    <a:pt x="582858" y="68459"/>
                    <a:pt x="573780" y="68459"/>
                  </a:cubicBezTo>
                  <a:lnTo>
                    <a:pt x="34229" y="68459"/>
                  </a:lnTo>
                  <a:cubicBezTo>
                    <a:pt x="15325" y="68459"/>
                    <a:pt x="0" y="53134"/>
                    <a:pt x="0" y="34229"/>
                  </a:cubicBezTo>
                  <a:lnTo>
                    <a:pt x="0" y="34229"/>
                  </a:lnTo>
                  <a:cubicBezTo>
                    <a:pt x="0" y="15325"/>
                    <a:pt x="15325" y="0"/>
                    <a:pt x="34229" y="0"/>
                  </a:cubicBezTo>
                  <a:close/>
                </a:path>
              </a:pathLst>
            </a:custGeom>
            <a:solidFill>
              <a:srgbClr val="41624D"/>
            </a:solidFill>
          </p:spPr>
        </p:sp>
        <p:sp>
          <p:nvSpPr>
            <p:cNvPr id="16" name="TextBox 16"/>
            <p:cNvSpPr txBox="1"/>
            <p:nvPr/>
          </p:nvSpPr>
          <p:spPr>
            <a:xfrm>
              <a:off x="0" y="-47625"/>
              <a:ext cx="608009" cy="11608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895"/>
                </a:lnSpc>
              </a:pPr>
            </a:p>
          </p:txBody>
        </p:sp>
      </p:grpSp>
      <p:grpSp>
        <p:nvGrpSpPr>
          <p:cNvPr id="17" name="Group 17"/>
          <p:cNvGrpSpPr/>
          <p:nvPr/>
        </p:nvGrpSpPr>
        <p:grpSpPr>
          <a:xfrm>
            <a:off x="-9525" y="-212708"/>
            <a:ext cx="1423091" cy="10984331"/>
            <a:chOff x="0" y="0"/>
            <a:chExt cx="374806" cy="2892992"/>
          </a:xfrm>
        </p:grpSpPr>
        <p:sp>
          <p:nvSpPr>
            <p:cNvPr id="18" name="Freeform 18"/>
            <p:cNvSpPr/>
            <p:nvPr/>
          </p:nvSpPr>
          <p:spPr>
            <a:xfrm>
              <a:off x="0" y="0"/>
              <a:ext cx="374806" cy="2892992"/>
            </a:xfrm>
            <a:custGeom>
              <a:avLst/>
              <a:gdLst/>
              <a:ahLst/>
              <a:cxnLst/>
              <a:rect l="l" t="t" r="r" b="b"/>
              <a:pathLst>
                <a:path w="374806" h="2892992">
                  <a:moveTo>
                    <a:pt x="0" y="0"/>
                  </a:moveTo>
                  <a:lnTo>
                    <a:pt x="374806" y="0"/>
                  </a:lnTo>
                  <a:lnTo>
                    <a:pt x="374806" y="2892992"/>
                  </a:lnTo>
                  <a:lnTo>
                    <a:pt x="0" y="2892992"/>
                  </a:lnTo>
                  <a:close/>
                </a:path>
              </a:pathLst>
            </a:custGeom>
            <a:solidFill>
              <a:srgbClr val="41624D"/>
            </a:solidFill>
          </p:spPr>
        </p:sp>
        <p:sp>
          <p:nvSpPr>
            <p:cNvPr id="19" name="TextBox 19"/>
            <p:cNvSpPr txBox="1"/>
            <p:nvPr/>
          </p:nvSpPr>
          <p:spPr>
            <a:xfrm>
              <a:off x="0" y="-28575"/>
              <a:ext cx="374806" cy="292156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60"/>
                </a:lnSpc>
                <a:spcBef>
                  <a:spcPct val="0"/>
                </a:spcBef>
              </a:pPr>
            </a:p>
          </p:txBody>
        </p:sp>
      </p:grpSp>
      <p:grpSp>
        <p:nvGrpSpPr>
          <p:cNvPr id="20" name="Group 20"/>
          <p:cNvGrpSpPr/>
          <p:nvPr/>
        </p:nvGrpSpPr>
        <p:grpSpPr>
          <a:xfrm>
            <a:off x="16864909" y="-212708"/>
            <a:ext cx="1423091" cy="10984331"/>
            <a:chOff x="0" y="0"/>
            <a:chExt cx="374806" cy="2892992"/>
          </a:xfrm>
        </p:grpSpPr>
        <p:sp>
          <p:nvSpPr>
            <p:cNvPr id="21" name="Freeform 21"/>
            <p:cNvSpPr/>
            <p:nvPr/>
          </p:nvSpPr>
          <p:spPr>
            <a:xfrm>
              <a:off x="0" y="0"/>
              <a:ext cx="374806" cy="2892992"/>
            </a:xfrm>
            <a:custGeom>
              <a:avLst/>
              <a:gdLst/>
              <a:ahLst/>
              <a:cxnLst/>
              <a:rect l="l" t="t" r="r" b="b"/>
              <a:pathLst>
                <a:path w="374806" h="2892992">
                  <a:moveTo>
                    <a:pt x="0" y="0"/>
                  </a:moveTo>
                  <a:lnTo>
                    <a:pt x="374806" y="0"/>
                  </a:lnTo>
                  <a:lnTo>
                    <a:pt x="374806" y="2892992"/>
                  </a:lnTo>
                  <a:lnTo>
                    <a:pt x="0" y="2892992"/>
                  </a:lnTo>
                  <a:close/>
                </a:path>
              </a:pathLst>
            </a:custGeom>
            <a:solidFill>
              <a:srgbClr val="41624D"/>
            </a:solidFill>
            <a:ln cap="sq">
              <a:noFill/>
              <a:prstDash val="solid"/>
              <a:miter/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0" y="-28575"/>
              <a:ext cx="374806" cy="292156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660"/>
                </a:lnSpc>
                <a:spcBef>
                  <a:spcPct val="0"/>
                </a:spcBef>
              </a:pPr>
            </a:p>
          </p:txBody>
        </p:sp>
      </p:grpSp>
      <p:grpSp>
        <p:nvGrpSpPr>
          <p:cNvPr id="26" name="Group 26"/>
          <p:cNvGrpSpPr/>
          <p:nvPr/>
        </p:nvGrpSpPr>
        <p:grpSpPr>
          <a:xfrm>
            <a:off x="17380176" y="4983658"/>
            <a:ext cx="335407" cy="319685"/>
            <a:chOff x="0" y="0"/>
            <a:chExt cx="812800" cy="774700"/>
          </a:xfrm>
        </p:grpSpPr>
        <p:sp>
          <p:nvSpPr>
            <p:cNvPr id="27" name="Freeform 27"/>
            <p:cNvSpPr/>
            <p:nvPr/>
          </p:nvSpPr>
          <p:spPr>
            <a:xfrm>
              <a:off x="0" y="0"/>
              <a:ext cx="812800" cy="774700"/>
            </a:xfrm>
            <a:custGeom>
              <a:avLst/>
              <a:gdLst/>
              <a:ahLst/>
              <a:cxnLst/>
              <a:rect l="l" t="t" r="r" b="b"/>
              <a:pathLst>
                <a:path w="812800" h="774700">
                  <a:moveTo>
                    <a:pt x="406400" y="0"/>
                  </a:moveTo>
                  <a:lnTo>
                    <a:pt x="502338" y="295909"/>
                  </a:lnTo>
                  <a:lnTo>
                    <a:pt x="812800" y="295909"/>
                  </a:lnTo>
                  <a:lnTo>
                    <a:pt x="561631" y="478791"/>
                  </a:lnTo>
                  <a:lnTo>
                    <a:pt x="657569" y="774700"/>
                  </a:lnTo>
                  <a:lnTo>
                    <a:pt x="406400" y="591819"/>
                  </a:lnTo>
                  <a:lnTo>
                    <a:pt x="155231" y="774700"/>
                  </a:lnTo>
                  <a:lnTo>
                    <a:pt x="251169" y="478791"/>
                  </a:lnTo>
                  <a:lnTo>
                    <a:pt x="0" y="295909"/>
                  </a:lnTo>
                  <a:lnTo>
                    <a:pt x="310462" y="295909"/>
                  </a:lnTo>
                  <a:lnTo>
                    <a:pt x="406400" y="0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id="28" name="TextBox 28"/>
            <p:cNvSpPr txBox="1"/>
            <p:nvPr/>
          </p:nvSpPr>
          <p:spPr>
            <a:xfrm>
              <a:off x="228600" y="219075"/>
              <a:ext cx="355600" cy="3905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895"/>
                </a:lnSpc>
              </a:pPr>
            </a:p>
          </p:txBody>
        </p:sp>
      </p:grpSp>
      <p:sp>
        <p:nvSpPr>
          <p:cNvPr id="33" name="Freeform 31"/>
          <p:cNvSpPr/>
          <p:nvPr/>
        </p:nvSpPr>
        <p:spPr>
          <a:xfrm>
            <a:off x="17165015" y="8632398"/>
            <a:ext cx="822879" cy="822879"/>
          </a:xfrm>
          <a:custGeom>
            <a:avLst/>
            <a:gdLst/>
            <a:ahLst/>
            <a:cxnLst/>
            <a:rect l="l" t="t" r="r" b="b"/>
            <a:pathLst>
              <a:path w="822879" h="822879">
                <a:moveTo>
                  <a:pt x="0" y="0"/>
                </a:moveTo>
                <a:lnTo>
                  <a:pt x="822879" y="0"/>
                </a:lnTo>
                <a:lnTo>
                  <a:pt x="822879" y="822879"/>
                </a:lnTo>
                <a:lnTo>
                  <a:pt x="0" y="822879"/>
                </a:lnTo>
                <a:lnTo>
                  <a:pt x="0" y="0"/>
                </a:lnTo>
                <a:close/>
              </a:path>
            </a:pathLst>
          </a:custGeom>
          <a:blipFill>
            <a:blip r:embed="rId1"/>
            <a:stretch>
              <a:fillRect/>
            </a:stretch>
          </a:blipFill>
        </p:spPr>
      </p:sp>
      <p:sp>
        <p:nvSpPr>
          <p:cNvPr id="35" name="Freeform 30"/>
          <p:cNvSpPr/>
          <p:nvPr/>
        </p:nvSpPr>
        <p:spPr>
          <a:xfrm rot="5400000">
            <a:off x="-3984375" y="4593346"/>
            <a:ext cx="9411340" cy="1014660"/>
          </a:xfrm>
          <a:custGeom>
            <a:avLst/>
            <a:gdLst/>
            <a:ahLst/>
            <a:cxnLst/>
            <a:rect l="l" t="t" r="r" b="b"/>
            <a:pathLst>
              <a:path w="9411340" h="1014660">
                <a:moveTo>
                  <a:pt x="0" y="0"/>
                </a:moveTo>
                <a:lnTo>
                  <a:pt x="9411340" y="0"/>
                </a:lnTo>
                <a:lnTo>
                  <a:pt x="9411340" y="1014660"/>
                </a:lnTo>
                <a:lnTo>
                  <a:pt x="0" y="101466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41624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-524524" y="-175524"/>
            <a:ext cx="20998807" cy="10741067"/>
            <a:chOff x="0" y="0"/>
            <a:chExt cx="27998409" cy="14321423"/>
          </a:xfrm>
        </p:grpSpPr>
        <p:sp>
          <p:nvSpPr>
            <p:cNvPr id="3" name="Freeform 3"/>
            <p:cNvSpPr/>
            <p:nvPr/>
          </p:nvSpPr>
          <p:spPr>
            <a:xfrm>
              <a:off x="14357316" y="0"/>
              <a:ext cx="13641093" cy="14321423"/>
            </a:xfrm>
            <a:custGeom>
              <a:avLst/>
              <a:gdLst/>
              <a:ahLst/>
              <a:cxnLst/>
              <a:rect l="l" t="t" r="r" b="b"/>
              <a:pathLst>
                <a:path w="13641093" h="14321423">
                  <a:moveTo>
                    <a:pt x="0" y="0"/>
                  </a:moveTo>
                  <a:lnTo>
                    <a:pt x="13641093" y="0"/>
                  </a:lnTo>
                  <a:lnTo>
                    <a:pt x="13641093" y="14321423"/>
                  </a:lnTo>
                  <a:lnTo>
                    <a:pt x="0" y="1432142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">
                <a:alphaModFix amt="9999"/>
                <a:extLst>
                  <a:ext uri="{96DAC541-7B7A-43D3-8B79-37D633B846F1}">
                    <asvg:svgBlip xmlns:asvg="http://schemas.microsoft.com/office/drawing/2016/SVG/main" r:embed="rId2"/>
                  </a:ext>
                </a:extLst>
              </a:blip>
              <a:stretch>
                <a:fillRect r="-5250"/>
              </a:stretch>
            </a:blipFill>
          </p:spPr>
        </p:sp>
        <p:sp>
          <p:nvSpPr>
            <p:cNvPr id="4" name="Freeform 4"/>
            <p:cNvSpPr/>
            <p:nvPr/>
          </p:nvSpPr>
          <p:spPr>
            <a:xfrm>
              <a:off x="0" y="0"/>
              <a:ext cx="14357316" cy="14321423"/>
            </a:xfrm>
            <a:custGeom>
              <a:avLst/>
              <a:gdLst/>
              <a:ahLst/>
              <a:cxnLst/>
              <a:rect l="l" t="t" r="r" b="b"/>
              <a:pathLst>
                <a:path w="14357316" h="14321423">
                  <a:moveTo>
                    <a:pt x="0" y="0"/>
                  </a:moveTo>
                  <a:lnTo>
                    <a:pt x="14357316" y="0"/>
                  </a:lnTo>
                  <a:lnTo>
                    <a:pt x="14357316" y="14321423"/>
                  </a:lnTo>
                  <a:lnTo>
                    <a:pt x="0" y="1432142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">
                <a:alphaModFix amt="9999"/>
                <a:extLst>
                  <a:ext uri="{96DAC541-7B7A-43D3-8B79-37D633B846F1}">
                    <asvg:svgBlip xmlns:asvg="http://schemas.microsoft.com/office/drawing/2016/SVG/main" r:embed="rId2"/>
                  </a:ext>
                </a:extLst>
              </a:blip>
              <a:stretch>
                <a:fillRect/>
              </a:stretch>
            </a:blipFill>
            <a:ln cap="sq">
              <a:noFill/>
              <a:prstDash val="solid"/>
              <a:miter/>
            </a:ln>
          </p:spPr>
        </p:sp>
      </p:grpSp>
      <p:grpSp>
        <p:nvGrpSpPr>
          <p:cNvPr id="5" name="Group 5"/>
          <p:cNvGrpSpPr/>
          <p:nvPr/>
        </p:nvGrpSpPr>
        <p:grpSpPr>
          <a:xfrm>
            <a:off x="757944" y="1028700"/>
            <a:ext cx="17092120" cy="8680123"/>
            <a:chOff x="0" y="0"/>
            <a:chExt cx="4501628" cy="2286123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4501628" cy="2286123"/>
            </a:xfrm>
            <a:custGeom>
              <a:avLst/>
              <a:gdLst/>
              <a:ahLst/>
              <a:cxnLst/>
              <a:rect l="l" t="t" r="r" b="b"/>
              <a:pathLst>
                <a:path w="4501628" h="2286123">
                  <a:moveTo>
                    <a:pt x="0" y="0"/>
                  </a:moveTo>
                  <a:lnTo>
                    <a:pt x="4501628" y="0"/>
                  </a:lnTo>
                  <a:lnTo>
                    <a:pt x="4501628" y="2286123"/>
                  </a:lnTo>
                  <a:lnTo>
                    <a:pt x="0" y="2286123"/>
                  </a:lnTo>
                  <a:close/>
                </a:path>
              </a:pathLst>
            </a:custGeom>
            <a:solidFill>
              <a:srgbClr val="D1D5BA"/>
            </a:solidFill>
          </p:spPr>
        </p:sp>
        <p:sp>
          <p:nvSpPr>
            <p:cNvPr id="7" name="TextBox 7"/>
            <p:cNvSpPr txBox="1"/>
            <p:nvPr/>
          </p:nvSpPr>
          <p:spPr>
            <a:xfrm>
              <a:off x="0" y="-28575"/>
              <a:ext cx="4501628" cy="231469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60"/>
                </a:lnSpc>
                <a:spcBef>
                  <a:spcPct val="0"/>
                </a:spcBef>
              </a:pPr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437936" y="618151"/>
            <a:ext cx="17092120" cy="8746514"/>
            <a:chOff x="0" y="0"/>
            <a:chExt cx="4501628" cy="2303609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4501628" cy="2303609"/>
            </a:xfrm>
            <a:custGeom>
              <a:avLst/>
              <a:gdLst/>
              <a:ahLst/>
              <a:cxnLst/>
              <a:rect l="l" t="t" r="r" b="b"/>
              <a:pathLst>
                <a:path w="4501628" h="2303609">
                  <a:moveTo>
                    <a:pt x="0" y="0"/>
                  </a:moveTo>
                  <a:lnTo>
                    <a:pt x="4501628" y="0"/>
                  </a:lnTo>
                  <a:lnTo>
                    <a:pt x="4501628" y="2303609"/>
                  </a:lnTo>
                  <a:lnTo>
                    <a:pt x="0" y="2303609"/>
                  </a:lnTo>
                  <a:close/>
                </a:path>
              </a:pathLst>
            </a:custGeom>
            <a:solidFill>
              <a:srgbClr val="F5FAF4"/>
            </a:solidFill>
          </p:spPr>
        </p:sp>
        <p:sp>
          <p:nvSpPr>
            <p:cNvPr id="10" name="TextBox 10"/>
            <p:cNvSpPr txBox="1"/>
            <p:nvPr/>
          </p:nvSpPr>
          <p:spPr>
            <a:xfrm>
              <a:off x="0" y="-28575"/>
              <a:ext cx="4501628" cy="233218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60"/>
                </a:lnSpc>
                <a:spcBef>
                  <a:spcPct val="0"/>
                </a:spcBef>
              </a:pPr>
            </a:p>
          </p:txBody>
        </p:sp>
      </p:grpSp>
      <p:grpSp>
        <p:nvGrpSpPr>
          <p:cNvPr id="11" name="Group 11"/>
          <p:cNvGrpSpPr/>
          <p:nvPr/>
        </p:nvGrpSpPr>
        <p:grpSpPr>
          <a:xfrm>
            <a:off x="7586072" y="1565082"/>
            <a:ext cx="3115855" cy="217179"/>
            <a:chOff x="0" y="0"/>
            <a:chExt cx="820637" cy="57199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820637" cy="57199"/>
            </a:xfrm>
            <a:custGeom>
              <a:avLst/>
              <a:gdLst/>
              <a:ahLst/>
              <a:cxnLst/>
              <a:rect l="l" t="t" r="r" b="b"/>
              <a:pathLst>
                <a:path w="820637" h="57199">
                  <a:moveTo>
                    <a:pt x="28600" y="0"/>
                  </a:moveTo>
                  <a:lnTo>
                    <a:pt x="792037" y="0"/>
                  </a:lnTo>
                  <a:cubicBezTo>
                    <a:pt x="807832" y="0"/>
                    <a:pt x="820637" y="12805"/>
                    <a:pt x="820637" y="28600"/>
                  </a:cubicBezTo>
                  <a:lnTo>
                    <a:pt x="820637" y="28600"/>
                  </a:lnTo>
                  <a:cubicBezTo>
                    <a:pt x="820637" y="44395"/>
                    <a:pt x="807832" y="57199"/>
                    <a:pt x="792037" y="57199"/>
                  </a:cubicBezTo>
                  <a:lnTo>
                    <a:pt x="28600" y="57199"/>
                  </a:lnTo>
                  <a:cubicBezTo>
                    <a:pt x="12805" y="57199"/>
                    <a:pt x="0" y="44395"/>
                    <a:pt x="0" y="28600"/>
                  </a:cubicBezTo>
                  <a:lnTo>
                    <a:pt x="0" y="28600"/>
                  </a:lnTo>
                  <a:cubicBezTo>
                    <a:pt x="0" y="12805"/>
                    <a:pt x="12805" y="0"/>
                    <a:pt x="28600" y="0"/>
                  </a:cubicBezTo>
                  <a:close/>
                </a:path>
              </a:pathLst>
            </a:custGeom>
            <a:solidFill>
              <a:srgbClr val="D1D5BA"/>
            </a:solidFill>
          </p:spPr>
        </p:sp>
        <p:sp>
          <p:nvSpPr>
            <p:cNvPr id="13" name="TextBox 13"/>
            <p:cNvSpPr txBox="1"/>
            <p:nvPr/>
          </p:nvSpPr>
          <p:spPr>
            <a:xfrm>
              <a:off x="0" y="-47625"/>
              <a:ext cx="820637" cy="10482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895"/>
                </a:lnSpc>
              </a:pPr>
            </a:p>
          </p:txBody>
        </p:sp>
      </p:grpSp>
      <p:sp>
        <p:nvSpPr>
          <p:cNvPr id="14" name="TextBox 14"/>
          <p:cNvSpPr txBox="1"/>
          <p:nvPr/>
        </p:nvSpPr>
        <p:spPr>
          <a:xfrm>
            <a:off x="7586072" y="945175"/>
            <a:ext cx="3115855" cy="8077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6300"/>
              </a:lnSpc>
              <a:spcBef>
                <a:spcPct val="0"/>
              </a:spcBef>
            </a:pPr>
            <a:r>
              <a:rPr lang="zh-CN" altLang="en-US" sz="4200" spc="420">
                <a:solidFill>
                  <a:srgbClr val="343333"/>
                </a:solidFill>
                <a:ea typeface="华文中宋" panose="02010600040101010101" charset="-122"/>
              </a:rPr>
              <a:t>密码学</a:t>
            </a:r>
            <a:r>
              <a:rPr lang="zh-CN" altLang="en-US" sz="4200" spc="420">
                <a:solidFill>
                  <a:srgbClr val="343333"/>
                </a:solidFill>
                <a:ea typeface="华文中宋" panose="02010600040101010101" charset="-122"/>
              </a:rPr>
              <a:t>构件</a:t>
            </a:r>
            <a:endParaRPr lang="zh-CN" altLang="en-US" sz="4200" spc="420">
              <a:solidFill>
                <a:srgbClr val="343333"/>
              </a:solidFill>
              <a:ea typeface="华文中宋" panose="02010600040101010101" charset="-122"/>
            </a:endParaRPr>
          </a:p>
        </p:txBody>
      </p:sp>
      <p:grpSp>
        <p:nvGrpSpPr>
          <p:cNvPr id="18" name="Group 18"/>
          <p:cNvGrpSpPr/>
          <p:nvPr>
            <p:custDataLst>
              <p:tags r:id="rId3"/>
            </p:custDataLst>
          </p:nvPr>
        </p:nvGrpSpPr>
        <p:grpSpPr>
          <a:xfrm>
            <a:off x="685800" y="2597785"/>
            <a:ext cx="3943985" cy="5547995"/>
            <a:chOff x="0" y="0"/>
            <a:chExt cx="1038807" cy="966456"/>
          </a:xfrm>
        </p:grpSpPr>
        <p:sp>
          <p:nvSpPr>
            <p:cNvPr id="19" name="Freeform 19"/>
            <p:cNvSpPr/>
            <p:nvPr>
              <p:custDataLst>
                <p:tags r:id="rId4"/>
              </p:custDataLst>
            </p:nvPr>
          </p:nvSpPr>
          <p:spPr>
            <a:xfrm>
              <a:off x="0" y="0"/>
              <a:ext cx="1038807" cy="966456"/>
            </a:xfrm>
            <a:custGeom>
              <a:avLst/>
              <a:gdLst/>
              <a:ahLst/>
              <a:cxnLst/>
              <a:rect l="l" t="t" r="r" b="b"/>
              <a:pathLst>
                <a:path w="1038807" h="966456">
                  <a:moveTo>
                    <a:pt x="39257" y="0"/>
                  </a:moveTo>
                  <a:lnTo>
                    <a:pt x="999550" y="0"/>
                  </a:lnTo>
                  <a:cubicBezTo>
                    <a:pt x="1021231" y="0"/>
                    <a:pt x="1038807" y="17576"/>
                    <a:pt x="1038807" y="39257"/>
                  </a:cubicBezTo>
                  <a:lnTo>
                    <a:pt x="1038807" y="927199"/>
                  </a:lnTo>
                  <a:cubicBezTo>
                    <a:pt x="1038807" y="948880"/>
                    <a:pt x="1021231" y="966456"/>
                    <a:pt x="999550" y="966456"/>
                  </a:cubicBezTo>
                  <a:lnTo>
                    <a:pt x="39257" y="966456"/>
                  </a:lnTo>
                  <a:cubicBezTo>
                    <a:pt x="17576" y="966456"/>
                    <a:pt x="0" y="948880"/>
                    <a:pt x="0" y="927199"/>
                  </a:cubicBezTo>
                  <a:lnTo>
                    <a:pt x="0" y="39257"/>
                  </a:lnTo>
                  <a:cubicBezTo>
                    <a:pt x="0" y="17576"/>
                    <a:pt x="17576" y="0"/>
                    <a:pt x="39257" y="0"/>
                  </a:cubicBezTo>
                  <a:close/>
                </a:path>
              </a:pathLst>
            </a:custGeom>
            <a:solidFill>
              <a:srgbClr val="41624D">
                <a:alpha val="9804"/>
              </a:srgbClr>
            </a:solidFill>
            <a:ln cap="sq">
              <a:noFill/>
              <a:prstDash val="solid"/>
              <a:miter/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0" y="-47625"/>
              <a:ext cx="1038807" cy="101408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660"/>
                </a:lnSpc>
                <a:spcBef>
                  <a:spcPct val="0"/>
                </a:spcBef>
              </a:pPr>
            </a:p>
          </p:txBody>
        </p:sp>
      </p:grpSp>
      <p:grpSp>
        <p:nvGrpSpPr>
          <p:cNvPr id="24" name="Group 24"/>
          <p:cNvGrpSpPr/>
          <p:nvPr>
            <p:custDataLst>
              <p:tags r:id="rId5"/>
            </p:custDataLst>
          </p:nvPr>
        </p:nvGrpSpPr>
        <p:grpSpPr>
          <a:xfrm>
            <a:off x="4878705" y="2597785"/>
            <a:ext cx="3943985" cy="5547995"/>
            <a:chOff x="0" y="0"/>
            <a:chExt cx="1038807" cy="966456"/>
          </a:xfrm>
        </p:grpSpPr>
        <p:sp>
          <p:nvSpPr>
            <p:cNvPr id="25" name="Freeform 25"/>
            <p:cNvSpPr/>
            <p:nvPr>
              <p:custDataLst>
                <p:tags r:id="rId6"/>
              </p:custDataLst>
            </p:nvPr>
          </p:nvSpPr>
          <p:spPr>
            <a:xfrm>
              <a:off x="0" y="0"/>
              <a:ext cx="1038807" cy="966456"/>
            </a:xfrm>
            <a:custGeom>
              <a:avLst/>
              <a:gdLst/>
              <a:ahLst/>
              <a:cxnLst/>
              <a:rect l="l" t="t" r="r" b="b"/>
              <a:pathLst>
                <a:path w="1038807" h="966456">
                  <a:moveTo>
                    <a:pt x="39257" y="0"/>
                  </a:moveTo>
                  <a:lnTo>
                    <a:pt x="999550" y="0"/>
                  </a:lnTo>
                  <a:cubicBezTo>
                    <a:pt x="1021231" y="0"/>
                    <a:pt x="1038807" y="17576"/>
                    <a:pt x="1038807" y="39257"/>
                  </a:cubicBezTo>
                  <a:lnTo>
                    <a:pt x="1038807" y="927199"/>
                  </a:lnTo>
                  <a:cubicBezTo>
                    <a:pt x="1038807" y="948880"/>
                    <a:pt x="1021231" y="966456"/>
                    <a:pt x="999550" y="966456"/>
                  </a:cubicBezTo>
                  <a:lnTo>
                    <a:pt x="39257" y="966456"/>
                  </a:lnTo>
                  <a:cubicBezTo>
                    <a:pt x="17576" y="966456"/>
                    <a:pt x="0" y="948880"/>
                    <a:pt x="0" y="927199"/>
                  </a:cubicBezTo>
                  <a:lnTo>
                    <a:pt x="0" y="39257"/>
                  </a:lnTo>
                  <a:cubicBezTo>
                    <a:pt x="0" y="17576"/>
                    <a:pt x="17576" y="0"/>
                    <a:pt x="39257" y="0"/>
                  </a:cubicBezTo>
                  <a:close/>
                </a:path>
              </a:pathLst>
            </a:custGeom>
            <a:solidFill>
              <a:srgbClr val="41624D">
                <a:alpha val="9804"/>
              </a:srgbClr>
            </a:solidFill>
            <a:ln cap="sq">
              <a:noFill/>
              <a:prstDash val="solid"/>
              <a:miter/>
            </a:ln>
          </p:spPr>
        </p:sp>
        <p:sp>
          <p:nvSpPr>
            <p:cNvPr id="26" name="TextBox 26"/>
            <p:cNvSpPr txBox="1"/>
            <p:nvPr/>
          </p:nvSpPr>
          <p:spPr>
            <a:xfrm>
              <a:off x="0" y="-47625"/>
              <a:ext cx="1038807" cy="101408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660"/>
                </a:lnSpc>
                <a:spcBef>
                  <a:spcPct val="0"/>
                </a:spcBef>
              </a:pPr>
            </a:p>
          </p:txBody>
        </p:sp>
      </p:grpSp>
      <p:grpSp>
        <p:nvGrpSpPr>
          <p:cNvPr id="30" name="Group 30"/>
          <p:cNvGrpSpPr/>
          <p:nvPr>
            <p:custDataLst>
              <p:tags r:id="rId7"/>
            </p:custDataLst>
          </p:nvPr>
        </p:nvGrpSpPr>
        <p:grpSpPr>
          <a:xfrm>
            <a:off x="9071610" y="2597785"/>
            <a:ext cx="3943985" cy="5547995"/>
            <a:chOff x="0" y="0"/>
            <a:chExt cx="1038807" cy="966456"/>
          </a:xfrm>
        </p:grpSpPr>
        <p:sp>
          <p:nvSpPr>
            <p:cNvPr id="31" name="Freeform 31"/>
            <p:cNvSpPr/>
            <p:nvPr>
              <p:custDataLst>
                <p:tags r:id="rId8"/>
              </p:custDataLst>
            </p:nvPr>
          </p:nvSpPr>
          <p:spPr>
            <a:xfrm>
              <a:off x="0" y="0"/>
              <a:ext cx="1038807" cy="966456"/>
            </a:xfrm>
            <a:custGeom>
              <a:avLst/>
              <a:gdLst/>
              <a:ahLst/>
              <a:cxnLst/>
              <a:rect l="l" t="t" r="r" b="b"/>
              <a:pathLst>
                <a:path w="1038807" h="966456">
                  <a:moveTo>
                    <a:pt x="39257" y="0"/>
                  </a:moveTo>
                  <a:lnTo>
                    <a:pt x="999550" y="0"/>
                  </a:lnTo>
                  <a:cubicBezTo>
                    <a:pt x="1021231" y="0"/>
                    <a:pt x="1038807" y="17576"/>
                    <a:pt x="1038807" y="39257"/>
                  </a:cubicBezTo>
                  <a:lnTo>
                    <a:pt x="1038807" y="927199"/>
                  </a:lnTo>
                  <a:cubicBezTo>
                    <a:pt x="1038807" y="948880"/>
                    <a:pt x="1021231" y="966456"/>
                    <a:pt x="999550" y="966456"/>
                  </a:cubicBezTo>
                  <a:lnTo>
                    <a:pt x="39257" y="966456"/>
                  </a:lnTo>
                  <a:cubicBezTo>
                    <a:pt x="17576" y="966456"/>
                    <a:pt x="0" y="948880"/>
                    <a:pt x="0" y="927199"/>
                  </a:cubicBezTo>
                  <a:lnTo>
                    <a:pt x="0" y="39257"/>
                  </a:lnTo>
                  <a:cubicBezTo>
                    <a:pt x="0" y="17576"/>
                    <a:pt x="17576" y="0"/>
                    <a:pt x="39257" y="0"/>
                  </a:cubicBezTo>
                  <a:close/>
                </a:path>
              </a:pathLst>
            </a:custGeom>
            <a:solidFill>
              <a:srgbClr val="41624D">
                <a:alpha val="9804"/>
              </a:srgbClr>
            </a:solidFill>
            <a:ln cap="sq">
              <a:noFill/>
              <a:prstDash val="solid"/>
              <a:miter/>
            </a:ln>
          </p:spPr>
        </p:sp>
        <p:sp>
          <p:nvSpPr>
            <p:cNvPr id="32" name="TextBox 32"/>
            <p:cNvSpPr txBox="1"/>
            <p:nvPr/>
          </p:nvSpPr>
          <p:spPr>
            <a:xfrm>
              <a:off x="0" y="-47625"/>
              <a:ext cx="1038807" cy="101408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660"/>
                </a:lnSpc>
                <a:spcBef>
                  <a:spcPct val="0"/>
                </a:spcBef>
              </a:pPr>
            </a:p>
          </p:txBody>
        </p:sp>
      </p:grpSp>
      <p:sp>
        <p:nvSpPr>
          <p:cNvPr id="36" name="TextBox 36"/>
          <p:cNvSpPr txBox="1"/>
          <p:nvPr>
            <p:custDataLst>
              <p:tags r:id="rId9"/>
            </p:custDataLst>
          </p:nvPr>
        </p:nvSpPr>
        <p:spPr>
          <a:xfrm>
            <a:off x="1143101" y="4000585"/>
            <a:ext cx="2730117" cy="34620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342900" lvl="0" indent="-342900" algn="l">
              <a:lnSpc>
                <a:spcPts val="3000"/>
              </a:lnSpc>
              <a:spcBef>
                <a:spcPct val="0"/>
              </a:spcBef>
              <a:buFont typeface="Wingdings" panose="05000000000000000000" charset="0"/>
              <a:buChar char="l"/>
            </a:pPr>
            <a:r>
              <a:rPr lang="zh-CN" altLang="en-US" sz="2000" b="1">
                <a:solidFill>
                  <a:srgbClr val="343333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用途</a:t>
            </a:r>
            <a:r>
              <a:rPr lang="zh-CN" altLang="en-US" sz="2000">
                <a:solidFill>
                  <a:srgbClr val="343333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：选民对加密选票签名，公告板验证签名</a:t>
            </a:r>
            <a:r>
              <a:rPr lang="en-US" altLang="zh-CN" sz="2000">
                <a:solidFill>
                  <a:srgbClr val="343333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 </a:t>
            </a:r>
            <a:r>
              <a:rPr lang="en-US" altLang="en-US" sz="2000">
                <a:solidFill>
                  <a:srgbClr val="343333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→</a:t>
            </a:r>
            <a:r>
              <a:rPr lang="en-US" altLang="zh-CN" sz="2000">
                <a:solidFill>
                  <a:srgbClr val="343333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 </a:t>
            </a:r>
            <a:r>
              <a:rPr lang="zh-CN" altLang="en-US" sz="2000">
                <a:solidFill>
                  <a:srgbClr val="343333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绑定身份，防止伪造</a:t>
            </a:r>
            <a:endParaRPr lang="zh-CN" altLang="en-US" sz="2000">
              <a:solidFill>
                <a:srgbClr val="343333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  <a:p>
            <a:pPr marL="342900" lvl="0" indent="-342900" algn="l">
              <a:lnSpc>
                <a:spcPts val="3000"/>
              </a:lnSpc>
              <a:spcBef>
                <a:spcPct val="0"/>
              </a:spcBef>
              <a:buFont typeface="Wingdings" panose="05000000000000000000" charset="0"/>
              <a:buChar char="l"/>
            </a:pPr>
            <a:r>
              <a:rPr lang="zh-CN" altLang="en-US" sz="2000" b="1">
                <a:solidFill>
                  <a:srgbClr val="343333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原理</a:t>
            </a:r>
            <a:r>
              <a:rPr lang="zh-CN" altLang="en-US" sz="2000">
                <a:solidFill>
                  <a:srgbClr val="343333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：基于格中短向量问题（</a:t>
            </a:r>
            <a:r>
              <a:rPr lang="en-US" altLang="zh-CN" sz="2000">
                <a:solidFill>
                  <a:srgbClr val="343333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SVP</a:t>
            </a:r>
            <a:r>
              <a:rPr lang="zh-CN" altLang="en-US" sz="2000">
                <a:solidFill>
                  <a:srgbClr val="343333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）的困难性</a:t>
            </a:r>
            <a:endParaRPr lang="zh-CN" altLang="en-US" sz="2000">
              <a:solidFill>
                <a:srgbClr val="343333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  <a:p>
            <a:pPr marL="342900" lvl="0" indent="-342900" algn="l">
              <a:lnSpc>
                <a:spcPts val="3000"/>
              </a:lnSpc>
              <a:spcBef>
                <a:spcPct val="0"/>
              </a:spcBef>
              <a:buFont typeface="Wingdings" panose="05000000000000000000" charset="0"/>
              <a:buChar char="l"/>
            </a:pPr>
            <a:r>
              <a:rPr lang="zh-CN" altLang="en-US" sz="2000" b="1">
                <a:solidFill>
                  <a:srgbClr val="343333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安全性质</a:t>
            </a:r>
            <a:r>
              <a:rPr lang="zh-CN" altLang="en-US" sz="2000">
                <a:solidFill>
                  <a:srgbClr val="343333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：存在不可伪造性，抗量子攻击</a:t>
            </a:r>
            <a:endParaRPr lang="zh-CN" altLang="en-US" sz="2000">
              <a:solidFill>
                <a:srgbClr val="343333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grpSp>
        <p:nvGrpSpPr>
          <p:cNvPr id="39" name="Group 39"/>
          <p:cNvGrpSpPr/>
          <p:nvPr>
            <p:custDataLst>
              <p:tags r:id="rId10"/>
            </p:custDataLst>
          </p:nvPr>
        </p:nvGrpSpPr>
        <p:grpSpPr>
          <a:xfrm>
            <a:off x="1059602" y="3114214"/>
            <a:ext cx="3034275" cy="511809"/>
            <a:chOff x="0" y="-16160"/>
            <a:chExt cx="4045700" cy="682413"/>
          </a:xfrm>
        </p:grpSpPr>
        <p:grpSp>
          <p:nvGrpSpPr>
            <p:cNvPr id="40" name="Group 40"/>
            <p:cNvGrpSpPr/>
            <p:nvPr/>
          </p:nvGrpSpPr>
          <p:grpSpPr>
            <a:xfrm>
              <a:off x="0" y="0"/>
              <a:ext cx="4045700" cy="666253"/>
              <a:chOff x="0" y="0"/>
              <a:chExt cx="1039241" cy="171144"/>
            </a:xfrm>
          </p:grpSpPr>
          <p:sp>
            <p:nvSpPr>
              <p:cNvPr id="41" name="Freeform 41"/>
              <p:cNvSpPr/>
              <p:nvPr>
                <p:custDataLst>
                  <p:tags r:id="rId11"/>
                </p:custDataLst>
              </p:nvPr>
            </p:nvSpPr>
            <p:spPr>
              <a:xfrm>
                <a:off x="0" y="0"/>
                <a:ext cx="1039241" cy="171144"/>
              </a:xfrm>
              <a:custGeom>
                <a:avLst/>
                <a:gdLst/>
                <a:ahLst/>
                <a:cxnLst/>
                <a:rect l="l" t="t" r="r" b="b"/>
                <a:pathLst>
                  <a:path w="1039241" h="171144">
                    <a:moveTo>
                      <a:pt x="85572" y="0"/>
                    </a:moveTo>
                    <a:lnTo>
                      <a:pt x="953669" y="0"/>
                    </a:lnTo>
                    <a:cubicBezTo>
                      <a:pt x="1000929" y="0"/>
                      <a:pt x="1039241" y="38312"/>
                      <a:pt x="1039241" y="85572"/>
                    </a:cubicBezTo>
                    <a:lnTo>
                      <a:pt x="1039241" y="85572"/>
                    </a:lnTo>
                    <a:cubicBezTo>
                      <a:pt x="1039241" y="132832"/>
                      <a:pt x="1000929" y="171144"/>
                      <a:pt x="953669" y="171144"/>
                    </a:cubicBezTo>
                    <a:lnTo>
                      <a:pt x="85572" y="171144"/>
                    </a:lnTo>
                    <a:cubicBezTo>
                      <a:pt x="38312" y="171144"/>
                      <a:pt x="0" y="132832"/>
                      <a:pt x="0" y="85572"/>
                    </a:cubicBezTo>
                    <a:lnTo>
                      <a:pt x="0" y="85572"/>
                    </a:lnTo>
                    <a:cubicBezTo>
                      <a:pt x="0" y="38312"/>
                      <a:pt x="38312" y="0"/>
                      <a:pt x="85572" y="0"/>
                    </a:cubicBezTo>
                    <a:close/>
                  </a:path>
                </a:pathLst>
              </a:custGeom>
              <a:solidFill>
                <a:srgbClr val="41624D"/>
              </a:solidFill>
              <a:ln w="9525" cap="rnd">
                <a:solidFill>
                  <a:srgbClr val="41624D"/>
                </a:solidFill>
                <a:prstDash val="solid"/>
                <a:round/>
              </a:ln>
            </p:spPr>
          </p:sp>
          <p:sp>
            <p:nvSpPr>
              <p:cNvPr id="42" name="TextBox 42"/>
              <p:cNvSpPr txBox="1"/>
              <p:nvPr/>
            </p:nvSpPr>
            <p:spPr>
              <a:xfrm>
                <a:off x="0" y="-47625"/>
                <a:ext cx="1039241" cy="218769"/>
              </a:xfrm>
              <a:prstGeom prst="rect">
                <a:avLst/>
              </a:prstGeom>
            </p:spPr>
            <p:txBody>
              <a:bodyPr lIns="34493" tIns="34493" rIns="34493" bIns="34493" rtlCol="0" anchor="ctr"/>
              <a:lstStyle/>
              <a:p>
                <a:pPr marL="0" lvl="0" indent="0" algn="ctr">
                  <a:lnSpc>
                    <a:spcPts val="2895"/>
                  </a:lnSpc>
                  <a:spcBef>
                    <a:spcPct val="0"/>
                  </a:spcBef>
                </a:pPr>
              </a:p>
            </p:txBody>
          </p:sp>
        </p:grpSp>
        <p:sp>
          <p:nvSpPr>
            <p:cNvPr id="43" name="TextBox 43"/>
            <p:cNvSpPr txBox="1"/>
            <p:nvPr>
              <p:custDataLst>
                <p:tags r:id="rId12"/>
              </p:custDataLst>
            </p:nvPr>
          </p:nvSpPr>
          <p:spPr>
            <a:xfrm>
              <a:off x="289351" y="-16160"/>
              <a:ext cx="3461527" cy="669714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ctr">
                <a:lnSpc>
                  <a:spcPts val="3920"/>
                </a:lnSpc>
                <a:spcBef>
                  <a:spcPct val="0"/>
                </a:spcBef>
              </a:pPr>
              <a:r>
                <a:rPr lang="zh-CN" altLang="en-US" sz="2800" spc="279">
                  <a:solidFill>
                    <a:srgbClr val="FFFFFF"/>
                  </a:solidFill>
                  <a:ea typeface="方正大黑体_GBK" panose="02010600010101010101" charset="-122"/>
                </a:rPr>
                <a:t>不可伪造</a:t>
              </a:r>
              <a:r>
                <a:rPr lang="zh-CN" altLang="en-US" sz="2800" spc="279">
                  <a:solidFill>
                    <a:srgbClr val="FFFFFF"/>
                  </a:solidFill>
                  <a:ea typeface="方正大黑体_GBK" panose="02010600010101010101" charset="-122"/>
                </a:rPr>
                <a:t>签名</a:t>
              </a:r>
              <a:endParaRPr lang="zh-CN" altLang="en-US" sz="2800" spc="279">
                <a:solidFill>
                  <a:srgbClr val="FFFFFF"/>
                </a:solidFill>
                <a:ea typeface="方正大黑体_GBK" panose="02010600010101010101" charset="-122"/>
              </a:endParaRPr>
            </a:p>
          </p:txBody>
        </p:sp>
      </p:grpSp>
      <p:grpSp>
        <p:nvGrpSpPr>
          <p:cNvPr id="44" name="Group 44"/>
          <p:cNvGrpSpPr/>
          <p:nvPr>
            <p:custDataLst>
              <p:tags r:id="rId13"/>
            </p:custDataLst>
          </p:nvPr>
        </p:nvGrpSpPr>
        <p:grpSpPr>
          <a:xfrm>
            <a:off x="5252451" y="3114214"/>
            <a:ext cx="3034275" cy="511809"/>
            <a:chOff x="0" y="-16160"/>
            <a:chExt cx="4045700" cy="682413"/>
          </a:xfrm>
        </p:grpSpPr>
        <p:grpSp>
          <p:nvGrpSpPr>
            <p:cNvPr id="45" name="Group 45"/>
            <p:cNvGrpSpPr/>
            <p:nvPr/>
          </p:nvGrpSpPr>
          <p:grpSpPr>
            <a:xfrm>
              <a:off x="0" y="0"/>
              <a:ext cx="4045700" cy="666253"/>
              <a:chOff x="0" y="0"/>
              <a:chExt cx="1039241" cy="171144"/>
            </a:xfrm>
          </p:grpSpPr>
          <p:sp>
            <p:nvSpPr>
              <p:cNvPr id="46" name="Freeform 46"/>
              <p:cNvSpPr/>
              <p:nvPr>
                <p:custDataLst>
                  <p:tags r:id="rId14"/>
                </p:custDataLst>
              </p:nvPr>
            </p:nvSpPr>
            <p:spPr>
              <a:xfrm>
                <a:off x="0" y="0"/>
                <a:ext cx="1039241" cy="171144"/>
              </a:xfrm>
              <a:custGeom>
                <a:avLst/>
                <a:gdLst/>
                <a:ahLst/>
                <a:cxnLst/>
                <a:rect l="l" t="t" r="r" b="b"/>
                <a:pathLst>
                  <a:path w="1039241" h="171144">
                    <a:moveTo>
                      <a:pt x="85572" y="0"/>
                    </a:moveTo>
                    <a:lnTo>
                      <a:pt x="953669" y="0"/>
                    </a:lnTo>
                    <a:cubicBezTo>
                      <a:pt x="1000929" y="0"/>
                      <a:pt x="1039241" y="38312"/>
                      <a:pt x="1039241" y="85572"/>
                    </a:cubicBezTo>
                    <a:lnTo>
                      <a:pt x="1039241" y="85572"/>
                    </a:lnTo>
                    <a:cubicBezTo>
                      <a:pt x="1039241" y="132832"/>
                      <a:pt x="1000929" y="171144"/>
                      <a:pt x="953669" y="171144"/>
                    </a:cubicBezTo>
                    <a:lnTo>
                      <a:pt x="85572" y="171144"/>
                    </a:lnTo>
                    <a:cubicBezTo>
                      <a:pt x="38312" y="171144"/>
                      <a:pt x="0" y="132832"/>
                      <a:pt x="0" y="85572"/>
                    </a:cubicBezTo>
                    <a:lnTo>
                      <a:pt x="0" y="85572"/>
                    </a:lnTo>
                    <a:cubicBezTo>
                      <a:pt x="0" y="38312"/>
                      <a:pt x="38312" y="0"/>
                      <a:pt x="85572" y="0"/>
                    </a:cubicBezTo>
                    <a:close/>
                  </a:path>
                </a:pathLst>
              </a:custGeom>
              <a:solidFill>
                <a:srgbClr val="41624D"/>
              </a:solidFill>
              <a:ln w="9525" cap="rnd">
                <a:solidFill>
                  <a:srgbClr val="41624D"/>
                </a:solidFill>
                <a:prstDash val="solid"/>
                <a:round/>
              </a:ln>
            </p:spPr>
          </p:sp>
          <p:sp>
            <p:nvSpPr>
              <p:cNvPr id="47" name="TextBox 47"/>
              <p:cNvSpPr txBox="1"/>
              <p:nvPr/>
            </p:nvSpPr>
            <p:spPr>
              <a:xfrm>
                <a:off x="0" y="-47625"/>
                <a:ext cx="1039241" cy="218769"/>
              </a:xfrm>
              <a:prstGeom prst="rect">
                <a:avLst/>
              </a:prstGeom>
            </p:spPr>
            <p:txBody>
              <a:bodyPr lIns="34493" tIns="34493" rIns="34493" bIns="34493" rtlCol="0" anchor="ctr"/>
              <a:lstStyle/>
              <a:p>
                <a:pPr marL="0" lvl="0" indent="0" algn="ctr">
                  <a:lnSpc>
                    <a:spcPts val="2895"/>
                  </a:lnSpc>
                  <a:spcBef>
                    <a:spcPct val="0"/>
                  </a:spcBef>
                </a:pPr>
              </a:p>
            </p:txBody>
          </p:sp>
        </p:grpSp>
        <p:sp>
          <p:nvSpPr>
            <p:cNvPr id="48" name="TextBox 48"/>
            <p:cNvSpPr txBox="1"/>
            <p:nvPr>
              <p:custDataLst>
                <p:tags r:id="rId15"/>
              </p:custDataLst>
            </p:nvPr>
          </p:nvSpPr>
          <p:spPr>
            <a:xfrm>
              <a:off x="292086" y="-16160"/>
              <a:ext cx="3461527" cy="669714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ctr">
                <a:lnSpc>
                  <a:spcPts val="3920"/>
                </a:lnSpc>
                <a:spcBef>
                  <a:spcPct val="0"/>
                </a:spcBef>
              </a:pPr>
              <a:r>
                <a:rPr lang="zh-CN" altLang="en-US" sz="2800" spc="279">
                  <a:solidFill>
                    <a:srgbClr val="FFFFFF"/>
                  </a:solidFill>
                  <a:ea typeface="方正大黑体_GBK" panose="02010600010101010101" charset="-122"/>
                </a:rPr>
                <a:t>非可变形</a:t>
              </a:r>
              <a:r>
                <a:rPr lang="zh-CN" altLang="en-US" sz="2800" spc="279">
                  <a:solidFill>
                    <a:srgbClr val="FFFFFF"/>
                  </a:solidFill>
                  <a:ea typeface="方正大黑体_GBK" panose="02010600010101010101" charset="-122"/>
                </a:rPr>
                <a:t>加密</a:t>
              </a:r>
              <a:endParaRPr lang="zh-CN" altLang="en-US" sz="2800" spc="279">
                <a:solidFill>
                  <a:srgbClr val="FFFFFF"/>
                </a:solidFill>
                <a:ea typeface="方正大黑体_GBK" panose="02010600010101010101" charset="-122"/>
              </a:endParaRPr>
            </a:p>
          </p:txBody>
        </p:sp>
      </p:grpSp>
      <p:grpSp>
        <p:nvGrpSpPr>
          <p:cNvPr id="49" name="Group 49"/>
          <p:cNvGrpSpPr/>
          <p:nvPr>
            <p:custDataLst>
              <p:tags r:id="rId16"/>
            </p:custDataLst>
          </p:nvPr>
        </p:nvGrpSpPr>
        <p:grpSpPr>
          <a:xfrm>
            <a:off x="9608153" y="3114214"/>
            <a:ext cx="3034275" cy="511809"/>
            <a:chOff x="0" y="-16160"/>
            <a:chExt cx="4045700" cy="682413"/>
          </a:xfrm>
        </p:grpSpPr>
        <p:grpSp>
          <p:nvGrpSpPr>
            <p:cNvPr id="50" name="Group 50"/>
            <p:cNvGrpSpPr/>
            <p:nvPr/>
          </p:nvGrpSpPr>
          <p:grpSpPr>
            <a:xfrm>
              <a:off x="0" y="0"/>
              <a:ext cx="4045700" cy="666253"/>
              <a:chOff x="0" y="0"/>
              <a:chExt cx="1039241" cy="171144"/>
            </a:xfrm>
          </p:grpSpPr>
          <p:sp>
            <p:nvSpPr>
              <p:cNvPr id="51" name="Freeform 51"/>
              <p:cNvSpPr/>
              <p:nvPr>
                <p:custDataLst>
                  <p:tags r:id="rId17"/>
                </p:custDataLst>
              </p:nvPr>
            </p:nvSpPr>
            <p:spPr>
              <a:xfrm>
                <a:off x="0" y="0"/>
                <a:ext cx="1039241" cy="171144"/>
              </a:xfrm>
              <a:custGeom>
                <a:avLst/>
                <a:gdLst/>
                <a:ahLst/>
                <a:cxnLst/>
                <a:rect l="l" t="t" r="r" b="b"/>
                <a:pathLst>
                  <a:path w="1039241" h="171144">
                    <a:moveTo>
                      <a:pt x="85572" y="0"/>
                    </a:moveTo>
                    <a:lnTo>
                      <a:pt x="953669" y="0"/>
                    </a:lnTo>
                    <a:cubicBezTo>
                      <a:pt x="1000929" y="0"/>
                      <a:pt x="1039241" y="38312"/>
                      <a:pt x="1039241" y="85572"/>
                    </a:cubicBezTo>
                    <a:lnTo>
                      <a:pt x="1039241" y="85572"/>
                    </a:lnTo>
                    <a:cubicBezTo>
                      <a:pt x="1039241" y="132832"/>
                      <a:pt x="1000929" y="171144"/>
                      <a:pt x="953669" y="171144"/>
                    </a:cubicBezTo>
                    <a:lnTo>
                      <a:pt x="85572" y="171144"/>
                    </a:lnTo>
                    <a:cubicBezTo>
                      <a:pt x="38312" y="171144"/>
                      <a:pt x="0" y="132832"/>
                      <a:pt x="0" y="85572"/>
                    </a:cubicBezTo>
                    <a:lnTo>
                      <a:pt x="0" y="85572"/>
                    </a:lnTo>
                    <a:cubicBezTo>
                      <a:pt x="0" y="38312"/>
                      <a:pt x="38312" y="0"/>
                      <a:pt x="85572" y="0"/>
                    </a:cubicBezTo>
                    <a:close/>
                  </a:path>
                </a:pathLst>
              </a:custGeom>
              <a:solidFill>
                <a:srgbClr val="41624D"/>
              </a:solidFill>
              <a:ln w="9525" cap="rnd">
                <a:solidFill>
                  <a:srgbClr val="41624D"/>
                </a:solidFill>
                <a:prstDash val="solid"/>
                <a:round/>
              </a:ln>
            </p:spPr>
          </p:sp>
          <p:sp>
            <p:nvSpPr>
              <p:cNvPr id="52" name="TextBox 52"/>
              <p:cNvSpPr txBox="1"/>
              <p:nvPr/>
            </p:nvSpPr>
            <p:spPr>
              <a:xfrm>
                <a:off x="0" y="-47625"/>
                <a:ext cx="1039241" cy="218769"/>
              </a:xfrm>
              <a:prstGeom prst="rect">
                <a:avLst/>
              </a:prstGeom>
            </p:spPr>
            <p:txBody>
              <a:bodyPr lIns="34493" tIns="34493" rIns="34493" bIns="34493" rtlCol="0" anchor="ctr"/>
              <a:lstStyle/>
              <a:p>
                <a:pPr marL="0" lvl="0" indent="0" algn="ctr">
                  <a:lnSpc>
                    <a:spcPts val="2895"/>
                  </a:lnSpc>
                  <a:spcBef>
                    <a:spcPct val="0"/>
                  </a:spcBef>
                </a:pPr>
              </a:p>
            </p:txBody>
          </p:sp>
        </p:grpSp>
        <p:sp>
          <p:nvSpPr>
            <p:cNvPr id="53" name="TextBox 53"/>
            <p:cNvSpPr txBox="1"/>
            <p:nvPr>
              <p:custDataLst>
                <p:tags r:id="rId18"/>
              </p:custDataLst>
            </p:nvPr>
          </p:nvSpPr>
          <p:spPr>
            <a:xfrm>
              <a:off x="289351" y="-16160"/>
              <a:ext cx="3461527" cy="669714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ctr">
                <a:lnSpc>
                  <a:spcPts val="3920"/>
                </a:lnSpc>
                <a:spcBef>
                  <a:spcPct val="0"/>
                </a:spcBef>
              </a:pPr>
              <a:r>
                <a:rPr lang="zh-CN" altLang="en-US" sz="2800" spc="279">
                  <a:solidFill>
                    <a:srgbClr val="FFFFFF"/>
                  </a:solidFill>
                  <a:ea typeface="方正大黑体_GBK" panose="02010600010101010101" charset="-122"/>
                </a:rPr>
                <a:t>格陷门</a:t>
              </a:r>
              <a:endParaRPr lang="zh-CN" altLang="en-US" sz="2800" spc="279">
                <a:solidFill>
                  <a:srgbClr val="FFFFFF"/>
                </a:solidFill>
                <a:ea typeface="方正大黑体_GBK" panose="02010600010101010101" charset="-122"/>
              </a:endParaRPr>
            </a:p>
          </p:txBody>
        </p:sp>
      </p:grpSp>
      <p:grpSp>
        <p:nvGrpSpPr>
          <p:cNvPr id="61" name="Group 39"/>
          <p:cNvGrpSpPr/>
          <p:nvPr>
            <p:custDataLst>
              <p:tags r:id="rId19"/>
            </p:custDataLst>
          </p:nvPr>
        </p:nvGrpSpPr>
        <p:grpSpPr>
          <a:xfrm>
            <a:off x="13638317" y="3190414"/>
            <a:ext cx="3034275" cy="511809"/>
            <a:chOff x="0" y="-16160"/>
            <a:chExt cx="4045700" cy="682413"/>
          </a:xfrm>
        </p:grpSpPr>
        <p:grpSp>
          <p:nvGrpSpPr>
            <p:cNvPr id="62" name="Group 40"/>
            <p:cNvGrpSpPr/>
            <p:nvPr/>
          </p:nvGrpSpPr>
          <p:grpSpPr>
            <a:xfrm>
              <a:off x="0" y="0"/>
              <a:ext cx="4045700" cy="666253"/>
              <a:chOff x="0" y="0"/>
              <a:chExt cx="1039241" cy="171144"/>
            </a:xfrm>
          </p:grpSpPr>
          <p:sp>
            <p:nvSpPr>
              <p:cNvPr id="63" name="Freeform 41"/>
              <p:cNvSpPr/>
              <p:nvPr>
                <p:custDataLst>
                  <p:tags r:id="rId20"/>
                </p:custDataLst>
              </p:nvPr>
            </p:nvSpPr>
            <p:spPr>
              <a:xfrm>
                <a:off x="0" y="0"/>
                <a:ext cx="1039241" cy="171144"/>
              </a:xfrm>
              <a:custGeom>
                <a:avLst/>
                <a:gdLst/>
                <a:ahLst/>
                <a:cxnLst/>
                <a:rect l="l" t="t" r="r" b="b"/>
                <a:pathLst>
                  <a:path w="1039241" h="171144">
                    <a:moveTo>
                      <a:pt x="85572" y="0"/>
                    </a:moveTo>
                    <a:lnTo>
                      <a:pt x="953669" y="0"/>
                    </a:lnTo>
                    <a:cubicBezTo>
                      <a:pt x="1000929" y="0"/>
                      <a:pt x="1039241" y="38312"/>
                      <a:pt x="1039241" y="85572"/>
                    </a:cubicBezTo>
                    <a:lnTo>
                      <a:pt x="1039241" y="85572"/>
                    </a:lnTo>
                    <a:cubicBezTo>
                      <a:pt x="1039241" y="132832"/>
                      <a:pt x="1000929" y="171144"/>
                      <a:pt x="953669" y="171144"/>
                    </a:cubicBezTo>
                    <a:lnTo>
                      <a:pt x="85572" y="171144"/>
                    </a:lnTo>
                    <a:cubicBezTo>
                      <a:pt x="38312" y="171144"/>
                      <a:pt x="0" y="132832"/>
                      <a:pt x="0" y="85572"/>
                    </a:cubicBezTo>
                    <a:lnTo>
                      <a:pt x="0" y="85572"/>
                    </a:lnTo>
                    <a:cubicBezTo>
                      <a:pt x="0" y="38312"/>
                      <a:pt x="38312" y="0"/>
                      <a:pt x="85572" y="0"/>
                    </a:cubicBezTo>
                    <a:close/>
                  </a:path>
                </a:pathLst>
              </a:custGeom>
              <a:solidFill>
                <a:srgbClr val="41624D"/>
              </a:solidFill>
              <a:ln w="9525" cap="rnd">
                <a:solidFill>
                  <a:srgbClr val="41624D"/>
                </a:solidFill>
                <a:prstDash val="solid"/>
                <a:round/>
              </a:ln>
            </p:spPr>
          </p:sp>
          <p:sp>
            <p:nvSpPr>
              <p:cNvPr id="64" name="TextBox 42"/>
              <p:cNvSpPr txBox="1"/>
              <p:nvPr/>
            </p:nvSpPr>
            <p:spPr>
              <a:xfrm>
                <a:off x="0" y="-47625"/>
                <a:ext cx="1039241" cy="218769"/>
              </a:xfrm>
              <a:prstGeom prst="rect">
                <a:avLst/>
              </a:prstGeom>
            </p:spPr>
            <p:txBody>
              <a:bodyPr lIns="34493" tIns="34493" rIns="34493" bIns="34493" rtlCol="0" anchor="ctr"/>
              <a:lstStyle/>
              <a:p>
                <a:pPr marL="0" lvl="0" indent="0" algn="ctr">
                  <a:lnSpc>
                    <a:spcPts val="2895"/>
                  </a:lnSpc>
                  <a:spcBef>
                    <a:spcPct val="0"/>
                  </a:spcBef>
                </a:pPr>
              </a:p>
            </p:txBody>
          </p:sp>
        </p:grpSp>
        <p:sp>
          <p:nvSpPr>
            <p:cNvPr id="65" name="TextBox 43"/>
            <p:cNvSpPr txBox="1"/>
            <p:nvPr>
              <p:custDataLst>
                <p:tags r:id="rId21"/>
              </p:custDataLst>
            </p:nvPr>
          </p:nvSpPr>
          <p:spPr>
            <a:xfrm>
              <a:off x="289351" y="-16160"/>
              <a:ext cx="3461527" cy="669714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ctr">
                <a:lnSpc>
                  <a:spcPts val="3920"/>
                </a:lnSpc>
                <a:spcBef>
                  <a:spcPct val="0"/>
                </a:spcBef>
              </a:pPr>
              <a:r>
                <a:rPr lang="zh-CN" altLang="en-US" sz="2800" spc="279">
                  <a:solidFill>
                    <a:srgbClr val="FFFFFF"/>
                  </a:solidFill>
                  <a:ea typeface="方正大黑体_GBK" panose="02010600010101010101" charset="-122"/>
                </a:rPr>
                <a:t>不可伪造</a:t>
              </a:r>
              <a:r>
                <a:rPr lang="zh-CN" altLang="en-US" sz="2800" spc="279">
                  <a:solidFill>
                    <a:srgbClr val="FFFFFF"/>
                  </a:solidFill>
                  <a:ea typeface="方正大黑体_GBK" panose="02010600010101010101" charset="-122"/>
                </a:rPr>
                <a:t>签名</a:t>
              </a:r>
              <a:endParaRPr lang="zh-CN" altLang="en-US" sz="2800" spc="279">
                <a:solidFill>
                  <a:srgbClr val="FFFFFF"/>
                </a:solidFill>
                <a:ea typeface="方正大黑体_GBK" panose="02010600010101010101" charset="-122"/>
              </a:endParaRPr>
            </a:p>
          </p:txBody>
        </p:sp>
      </p:grpSp>
      <p:sp>
        <p:nvSpPr>
          <p:cNvPr id="67" name="Freeform 19"/>
          <p:cNvSpPr/>
          <p:nvPr>
            <p:custDataLst>
              <p:tags r:id="rId22"/>
            </p:custDataLst>
          </p:nvPr>
        </p:nvSpPr>
        <p:spPr>
          <a:xfrm>
            <a:off x="13264515" y="2628900"/>
            <a:ext cx="3943985" cy="5547995"/>
          </a:xfrm>
          <a:custGeom>
            <a:avLst/>
            <a:gdLst/>
            <a:ahLst/>
            <a:cxnLst/>
            <a:rect l="l" t="t" r="r" b="b"/>
            <a:pathLst>
              <a:path w="1038807" h="966456">
                <a:moveTo>
                  <a:pt x="39257" y="0"/>
                </a:moveTo>
                <a:lnTo>
                  <a:pt x="999550" y="0"/>
                </a:lnTo>
                <a:cubicBezTo>
                  <a:pt x="1021231" y="0"/>
                  <a:pt x="1038807" y="17576"/>
                  <a:pt x="1038807" y="39257"/>
                </a:cubicBezTo>
                <a:lnTo>
                  <a:pt x="1038807" y="927199"/>
                </a:lnTo>
                <a:cubicBezTo>
                  <a:pt x="1038807" y="948880"/>
                  <a:pt x="1021231" y="966456"/>
                  <a:pt x="999550" y="966456"/>
                </a:cubicBezTo>
                <a:lnTo>
                  <a:pt x="39257" y="966456"/>
                </a:lnTo>
                <a:cubicBezTo>
                  <a:pt x="17576" y="966456"/>
                  <a:pt x="0" y="948880"/>
                  <a:pt x="0" y="927199"/>
                </a:cubicBezTo>
                <a:lnTo>
                  <a:pt x="0" y="39257"/>
                </a:lnTo>
                <a:cubicBezTo>
                  <a:pt x="0" y="17576"/>
                  <a:pt x="17576" y="0"/>
                  <a:pt x="39257" y="0"/>
                </a:cubicBezTo>
                <a:close/>
              </a:path>
            </a:pathLst>
          </a:custGeom>
          <a:solidFill>
            <a:srgbClr val="41624D">
              <a:alpha val="9804"/>
            </a:srgbClr>
          </a:solidFill>
          <a:ln cap="sq">
            <a:noFill/>
            <a:prstDash val="solid"/>
            <a:miter/>
          </a:ln>
        </p:spPr>
      </p:sp>
      <p:grpSp>
        <p:nvGrpSpPr>
          <p:cNvPr id="69" name="Group 39"/>
          <p:cNvGrpSpPr/>
          <p:nvPr>
            <p:custDataLst>
              <p:tags r:id="rId23"/>
            </p:custDataLst>
          </p:nvPr>
        </p:nvGrpSpPr>
        <p:grpSpPr>
          <a:xfrm>
            <a:off x="13632602" y="3114214"/>
            <a:ext cx="3034275" cy="511809"/>
            <a:chOff x="0" y="-16160"/>
            <a:chExt cx="4045700" cy="682413"/>
          </a:xfrm>
        </p:grpSpPr>
        <p:grpSp>
          <p:nvGrpSpPr>
            <p:cNvPr id="70" name="Group 40"/>
            <p:cNvGrpSpPr/>
            <p:nvPr/>
          </p:nvGrpSpPr>
          <p:grpSpPr>
            <a:xfrm>
              <a:off x="0" y="0"/>
              <a:ext cx="4045700" cy="666253"/>
              <a:chOff x="0" y="0"/>
              <a:chExt cx="1039241" cy="171144"/>
            </a:xfrm>
          </p:grpSpPr>
          <p:sp>
            <p:nvSpPr>
              <p:cNvPr id="71" name="Freeform 41"/>
              <p:cNvSpPr/>
              <p:nvPr>
                <p:custDataLst>
                  <p:tags r:id="rId24"/>
                </p:custDataLst>
              </p:nvPr>
            </p:nvSpPr>
            <p:spPr>
              <a:xfrm>
                <a:off x="0" y="0"/>
                <a:ext cx="1039241" cy="171144"/>
              </a:xfrm>
              <a:custGeom>
                <a:avLst/>
                <a:gdLst/>
                <a:ahLst/>
                <a:cxnLst/>
                <a:rect l="l" t="t" r="r" b="b"/>
                <a:pathLst>
                  <a:path w="1039241" h="171144">
                    <a:moveTo>
                      <a:pt x="85572" y="0"/>
                    </a:moveTo>
                    <a:lnTo>
                      <a:pt x="953669" y="0"/>
                    </a:lnTo>
                    <a:cubicBezTo>
                      <a:pt x="1000929" y="0"/>
                      <a:pt x="1039241" y="38312"/>
                      <a:pt x="1039241" y="85572"/>
                    </a:cubicBezTo>
                    <a:lnTo>
                      <a:pt x="1039241" y="85572"/>
                    </a:lnTo>
                    <a:cubicBezTo>
                      <a:pt x="1039241" y="132832"/>
                      <a:pt x="1000929" y="171144"/>
                      <a:pt x="953669" y="171144"/>
                    </a:cubicBezTo>
                    <a:lnTo>
                      <a:pt x="85572" y="171144"/>
                    </a:lnTo>
                    <a:cubicBezTo>
                      <a:pt x="38312" y="171144"/>
                      <a:pt x="0" y="132832"/>
                      <a:pt x="0" y="85572"/>
                    </a:cubicBezTo>
                    <a:lnTo>
                      <a:pt x="0" y="85572"/>
                    </a:lnTo>
                    <a:cubicBezTo>
                      <a:pt x="0" y="38312"/>
                      <a:pt x="38312" y="0"/>
                      <a:pt x="85572" y="0"/>
                    </a:cubicBezTo>
                    <a:close/>
                  </a:path>
                </a:pathLst>
              </a:custGeom>
              <a:solidFill>
                <a:srgbClr val="41624D"/>
              </a:solidFill>
              <a:ln w="9525" cap="rnd">
                <a:solidFill>
                  <a:srgbClr val="41624D"/>
                </a:solidFill>
                <a:prstDash val="solid"/>
                <a:round/>
              </a:ln>
            </p:spPr>
          </p:sp>
          <p:sp>
            <p:nvSpPr>
              <p:cNvPr id="72" name="TextBox 42"/>
              <p:cNvSpPr txBox="1"/>
              <p:nvPr/>
            </p:nvSpPr>
            <p:spPr>
              <a:xfrm>
                <a:off x="0" y="-47625"/>
                <a:ext cx="1039241" cy="218769"/>
              </a:xfrm>
              <a:prstGeom prst="rect">
                <a:avLst/>
              </a:prstGeom>
            </p:spPr>
            <p:txBody>
              <a:bodyPr lIns="34493" tIns="34493" rIns="34493" bIns="34493" rtlCol="0" anchor="ctr"/>
              <a:lstStyle/>
              <a:p>
                <a:pPr marL="0" lvl="0" indent="0" algn="ctr">
                  <a:lnSpc>
                    <a:spcPts val="2895"/>
                  </a:lnSpc>
                  <a:spcBef>
                    <a:spcPct val="0"/>
                  </a:spcBef>
                </a:pPr>
              </a:p>
            </p:txBody>
          </p:sp>
        </p:grpSp>
        <p:sp>
          <p:nvSpPr>
            <p:cNvPr id="73" name="TextBox 43"/>
            <p:cNvSpPr txBox="1"/>
            <p:nvPr>
              <p:custDataLst>
                <p:tags r:id="rId25"/>
              </p:custDataLst>
            </p:nvPr>
          </p:nvSpPr>
          <p:spPr>
            <a:xfrm>
              <a:off x="289351" y="-16160"/>
              <a:ext cx="3461527" cy="669714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ctr">
                <a:lnSpc>
                  <a:spcPts val="3920"/>
                </a:lnSpc>
                <a:spcBef>
                  <a:spcPct val="0"/>
                </a:spcBef>
              </a:pPr>
              <a:r>
                <a:rPr lang="zh-CN" altLang="en-US" sz="2800" spc="279">
                  <a:solidFill>
                    <a:srgbClr val="FFFFFF"/>
                  </a:solidFill>
                  <a:ea typeface="方正大黑体_GBK" panose="02010600010101010101" charset="-122"/>
                </a:rPr>
                <a:t>同态</a:t>
              </a:r>
              <a:r>
                <a:rPr lang="zh-CN" altLang="en-US" sz="2800" spc="279">
                  <a:solidFill>
                    <a:srgbClr val="FFFFFF"/>
                  </a:solidFill>
                  <a:ea typeface="方正大黑体_GBK" panose="02010600010101010101" charset="-122"/>
                </a:rPr>
                <a:t>加密</a:t>
              </a:r>
              <a:endParaRPr lang="zh-CN" altLang="en-US" sz="2800" spc="279">
                <a:solidFill>
                  <a:srgbClr val="FFFFFF"/>
                </a:solidFill>
                <a:ea typeface="方正大黑体_GBK" panose="02010600010101010101" charset="-122"/>
              </a:endParaRPr>
            </a:p>
          </p:txBody>
        </p:sp>
      </p:grpSp>
      <p:sp>
        <p:nvSpPr>
          <p:cNvPr id="74" name="TextBox 36"/>
          <p:cNvSpPr txBox="1"/>
          <p:nvPr>
            <p:custDataLst>
              <p:tags r:id="rId26"/>
            </p:custDataLst>
          </p:nvPr>
        </p:nvSpPr>
        <p:spPr>
          <a:xfrm>
            <a:off x="5410301" y="4000585"/>
            <a:ext cx="2730117" cy="307784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342900" lvl="0" indent="-342900" algn="l">
              <a:lnSpc>
                <a:spcPts val="3000"/>
              </a:lnSpc>
              <a:spcBef>
                <a:spcPct val="0"/>
              </a:spcBef>
              <a:buFont typeface="Wingdings" panose="05000000000000000000" charset="0"/>
              <a:buChar char="l"/>
            </a:pPr>
            <a:r>
              <a:rPr lang="zh-CN" altLang="en-US" sz="2000" b="1">
                <a:solidFill>
                  <a:srgbClr val="343333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用途</a:t>
            </a:r>
            <a:r>
              <a:rPr lang="zh-CN" altLang="en-US" sz="2000">
                <a:solidFill>
                  <a:srgbClr val="343333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：公告板用其公钥加密辅助信息，防止选票被重放或复制</a:t>
            </a:r>
            <a:endParaRPr lang="zh-CN" altLang="en-US" sz="2000" b="1">
              <a:solidFill>
                <a:srgbClr val="343333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  <a:p>
            <a:pPr marL="342900" lvl="0" indent="-342900" algn="l">
              <a:lnSpc>
                <a:spcPts val="3000"/>
              </a:lnSpc>
              <a:spcBef>
                <a:spcPct val="0"/>
              </a:spcBef>
              <a:buFont typeface="Wingdings" panose="05000000000000000000" charset="0"/>
              <a:buChar char="l"/>
            </a:pPr>
            <a:r>
              <a:rPr lang="zh-CN" altLang="en-US" sz="2000" b="1">
                <a:solidFill>
                  <a:srgbClr val="343333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原理</a:t>
            </a:r>
            <a:r>
              <a:rPr lang="zh-CN" altLang="en-US" sz="2000">
                <a:solidFill>
                  <a:srgbClr val="343333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：密文被篡改后，解密时可检测出异常</a:t>
            </a:r>
            <a:endParaRPr lang="zh-CN" altLang="en-US" sz="2000" b="1">
              <a:solidFill>
                <a:srgbClr val="343333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  <a:p>
            <a:pPr marL="342900" lvl="0" indent="-342900" algn="l">
              <a:lnSpc>
                <a:spcPts val="3000"/>
              </a:lnSpc>
              <a:spcBef>
                <a:spcPct val="0"/>
              </a:spcBef>
              <a:buFont typeface="Wingdings" panose="05000000000000000000" charset="0"/>
              <a:buChar char="l"/>
            </a:pPr>
            <a:r>
              <a:rPr lang="zh-CN" altLang="en-US" sz="2000" b="1">
                <a:solidFill>
                  <a:srgbClr val="343333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安全性质</a:t>
            </a:r>
            <a:r>
              <a:rPr lang="zh-CN" altLang="en-US" sz="2000">
                <a:solidFill>
                  <a:srgbClr val="343333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：密文完整性、抗选择性密文攻击、非可变形</a:t>
            </a:r>
            <a:endParaRPr lang="zh-CN" altLang="en-US" sz="2000">
              <a:solidFill>
                <a:srgbClr val="343333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75" name="TextBox 36"/>
          <p:cNvSpPr txBox="1"/>
          <p:nvPr>
            <p:custDataLst>
              <p:tags r:id="rId27"/>
            </p:custDataLst>
          </p:nvPr>
        </p:nvSpPr>
        <p:spPr>
          <a:xfrm>
            <a:off x="9607651" y="3945340"/>
            <a:ext cx="2730117" cy="423164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342900" lvl="0" indent="-342900" algn="l">
              <a:lnSpc>
                <a:spcPts val="3000"/>
              </a:lnSpc>
              <a:spcBef>
                <a:spcPct val="0"/>
              </a:spcBef>
              <a:buFont typeface="Wingdings" panose="05000000000000000000" charset="0"/>
              <a:buChar char="l"/>
            </a:pPr>
            <a:r>
              <a:rPr lang="zh-CN" altLang="en-US" sz="2000" b="1">
                <a:solidFill>
                  <a:srgbClr val="343333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用途</a:t>
            </a:r>
            <a:r>
              <a:rPr lang="zh-CN" altLang="en-US" sz="2000">
                <a:solidFill>
                  <a:srgbClr val="343333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：受托人生成密文陷门，任何人可验证解密结果的正确性</a:t>
            </a:r>
            <a:endParaRPr lang="zh-CN" altLang="en-US" sz="2000" b="1">
              <a:solidFill>
                <a:srgbClr val="343333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  <a:p>
            <a:pPr marL="342900" lvl="0" indent="-342900" algn="l">
              <a:lnSpc>
                <a:spcPts val="3000"/>
              </a:lnSpc>
              <a:spcBef>
                <a:spcPct val="0"/>
              </a:spcBef>
              <a:buFont typeface="Wingdings" panose="05000000000000000000" charset="0"/>
              <a:buChar char="l"/>
            </a:pPr>
            <a:r>
              <a:rPr lang="zh-CN" altLang="en-US" sz="2000" b="1">
                <a:solidFill>
                  <a:srgbClr val="343333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原理</a:t>
            </a:r>
            <a:r>
              <a:rPr lang="zh-CN" altLang="en-US" sz="2000">
                <a:solidFill>
                  <a:srgbClr val="343333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：掌握陷门可高效从</a:t>
            </a:r>
            <a:r>
              <a:rPr lang="en-US" altLang="zh-CN" sz="2000">
                <a:solidFill>
                  <a:srgbClr val="343333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 LWE </a:t>
            </a:r>
            <a:r>
              <a:rPr lang="zh-CN" altLang="en-US" sz="2000">
                <a:solidFill>
                  <a:srgbClr val="343333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样本中提取消息，无陷门者无法伪造</a:t>
            </a:r>
            <a:endParaRPr lang="zh-CN" altLang="en-US" sz="2000" b="1">
              <a:solidFill>
                <a:srgbClr val="343333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  <a:p>
            <a:pPr marL="342900" lvl="0" indent="-342900" algn="l">
              <a:lnSpc>
                <a:spcPts val="3000"/>
              </a:lnSpc>
              <a:spcBef>
                <a:spcPct val="0"/>
              </a:spcBef>
              <a:buFont typeface="Wingdings" panose="05000000000000000000" charset="0"/>
              <a:buChar char="l"/>
            </a:pPr>
            <a:r>
              <a:rPr lang="zh-CN" altLang="en-US" sz="2000" b="1">
                <a:solidFill>
                  <a:srgbClr val="343333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安全性质</a:t>
            </a:r>
            <a:r>
              <a:rPr lang="zh-CN" altLang="en-US" sz="2000">
                <a:solidFill>
                  <a:srgbClr val="343333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：公开可验证性、抗量子、生成密文陷门时不泄露主陷门</a:t>
            </a:r>
            <a:endParaRPr lang="zh-CN" altLang="en-US" sz="2000">
              <a:solidFill>
                <a:srgbClr val="343333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76" name="TextBox 36"/>
          <p:cNvSpPr txBox="1"/>
          <p:nvPr>
            <p:custDataLst>
              <p:tags r:id="rId28"/>
            </p:custDataLst>
          </p:nvPr>
        </p:nvSpPr>
        <p:spPr>
          <a:xfrm>
            <a:off x="13855801" y="4000585"/>
            <a:ext cx="2730117" cy="269303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342900" lvl="0" indent="-342900" algn="l">
              <a:lnSpc>
                <a:spcPts val="3000"/>
              </a:lnSpc>
              <a:spcBef>
                <a:spcPct val="0"/>
              </a:spcBef>
              <a:buFont typeface="Wingdings" panose="05000000000000000000" charset="0"/>
              <a:buChar char="l"/>
            </a:pPr>
            <a:r>
              <a:rPr lang="zh-CN" altLang="en-US" sz="2000" b="1">
                <a:solidFill>
                  <a:srgbClr val="343333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用途</a:t>
            </a:r>
            <a:r>
              <a:rPr lang="zh-CN" altLang="en-US" sz="2000">
                <a:solidFill>
                  <a:srgbClr val="343333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：选民加密选票（</a:t>
            </a:r>
            <a:r>
              <a:rPr lang="en-US" altLang="zh-CN" sz="2000">
                <a:solidFill>
                  <a:srgbClr val="343333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0/1 </a:t>
            </a:r>
            <a:r>
              <a:rPr lang="zh-CN" altLang="en-US" sz="2000">
                <a:solidFill>
                  <a:srgbClr val="343333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比特），公告板在密文上累加，实现密文计票</a:t>
            </a:r>
            <a:endParaRPr lang="zh-CN" altLang="en-US" sz="2000" b="1">
              <a:solidFill>
                <a:srgbClr val="343333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  <a:p>
            <a:pPr marL="342900" lvl="0" indent="-342900" algn="l">
              <a:lnSpc>
                <a:spcPts val="3000"/>
              </a:lnSpc>
              <a:spcBef>
                <a:spcPct val="0"/>
              </a:spcBef>
              <a:buFont typeface="Wingdings" panose="05000000000000000000" charset="0"/>
              <a:buChar char="l"/>
            </a:pPr>
            <a:r>
              <a:rPr lang="zh-CN" altLang="en-US" sz="2000" b="1">
                <a:solidFill>
                  <a:srgbClr val="343333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安全性质</a:t>
            </a:r>
            <a:r>
              <a:rPr lang="zh-CN" altLang="en-US" sz="2000">
                <a:solidFill>
                  <a:srgbClr val="343333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：明文保密性、抗量子攻击</a:t>
            </a:r>
            <a:endParaRPr lang="zh-CN" altLang="en-US" sz="2000">
              <a:solidFill>
                <a:srgbClr val="343333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  <a:p>
            <a:pPr marL="342900" lvl="0" indent="-342900" algn="l">
              <a:lnSpc>
                <a:spcPts val="3000"/>
              </a:lnSpc>
              <a:spcBef>
                <a:spcPct val="0"/>
              </a:spcBef>
              <a:buFont typeface="Wingdings" panose="05000000000000000000" charset="0"/>
              <a:buChar char="l"/>
            </a:pPr>
            <a:r>
              <a:rPr lang="zh-CN" altLang="en-US" sz="2000">
                <a:solidFill>
                  <a:srgbClr val="343333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支持同态</a:t>
            </a:r>
            <a:r>
              <a:rPr lang="zh-CN" altLang="en-US" sz="2000">
                <a:solidFill>
                  <a:srgbClr val="343333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加法</a:t>
            </a:r>
            <a:endParaRPr lang="zh-CN" altLang="en-US" sz="2000">
              <a:solidFill>
                <a:srgbClr val="343333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41624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-524524" y="-175524"/>
            <a:ext cx="20998807" cy="10741067"/>
            <a:chOff x="0" y="0"/>
            <a:chExt cx="27998409" cy="14321423"/>
          </a:xfrm>
        </p:grpSpPr>
        <p:sp>
          <p:nvSpPr>
            <p:cNvPr id="3" name="Freeform 3"/>
            <p:cNvSpPr/>
            <p:nvPr/>
          </p:nvSpPr>
          <p:spPr>
            <a:xfrm>
              <a:off x="14357316" y="0"/>
              <a:ext cx="13641093" cy="14321423"/>
            </a:xfrm>
            <a:custGeom>
              <a:avLst/>
              <a:gdLst/>
              <a:ahLst/>
              <a:cxnLst/>
              <a:rect l="l" t="t" r="r" b="b"/>
              <a:pathLst>
                <a:path w="13641093" h="14321423">
                  <a:moveTo>
                    <a:pt x="0" y="0"/>
                  </a:moveTo>
                  <a:lnTo>
                    <a:pt x="13641093" y="0"/>
                  </a:lnTo>
                  <a:lnTo>
                    <a:pt x="13641093" y="14321423"/>
                  </a:lnTo>
                  <a:lnTo>
                    <a:pt x="0" y="1432142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">
                <a:alphaModFix amt="9999"/>
                <a:extLst>
                  <a:ext uri="{96DAC541-7B7A-43D3-8B79-37D633B846F1}">
                    <asvg:svgBlip xmlns:asvg="http://schemas.microsoft.com/office/drawing/2016/SVG/main" r:embed="rId2"/>
                  </a:ext>
                </a:extLst>
              </a:blip>
              <a:stretch>
                <a:fillRect r="-5250"/>
              </a:stretch>
            </a:blipFill>
          </p:spPr>
        </p:sp>
        <p:sp>
          <p:nvSpPr>
            <p:cNvPr id="4" name="Freeform 4"/>
            <p:cNvSpPr/>
            <p:nvPr/>
          </p:nvSpPr>
          <p:spPr>
            <a:xfrm>
              <a:off x="0" y="0"/>
              <a:ext cx="14357316" cy="14321423"/>
            </a:xfrm>
            <a:custGeom>
              <a:avLst/>
              <a:gdLst/>
              <a:ahLst/>
              <a:cxnLst/>
              <a:rect l="l" t="t" r="r" b="b"/>
              <a:pathLst>
                <a:path w="14357316" h="14321423">
                  <a:moveTo>
                    <a:pt x="0" y="0"/>
                  </a:moveTo>
                  <a:lnTo>
                    <a:pt x="14357316" y="0"/>
                  </a:lnTo>
                  <a:lnTo>
                    <a:pt x="14357316" y="14321423"/>
                  </a:lnTo>
                  <a:lnTo>
                    <a:pt x="0" y="1432142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">
                <a:alphaModFix amt="9999"/>
                <a:extLst>
                  <a:ext uri="{96DAC541-7B7A-43D3-8B79-37D633B846F1}">
                    <asvg:svgBlip xmlns:asvg="http://schemas.microsoft.com/office/drawing/2016/SVG/main" r:embed="rId2"/>
                  </a:ext>
                </a:extLst>
              </a:blip>
              <a:stretch>
                <a:fillRect/>
              </a:stretch>
            </a:blipFill>
            <a:ln cap="sq">
              <a:noFill/>
              <a:prstDash val="solid"/>
              <a:miter/>
            </a:ln>
          </p:spPr>
        </p:sp>
      </p:grpSp>
      <p:grpSp>
        <p:nvGrpSpPr>
          <p:cNvPr id="5" name="Group 5"/>
          <p:cNvGrpSpPr/>
          <p:nvPr/>
        </p:nvGrpSpPr>
        <p:grpSpPr>
          <a:xfrm>
            <a:off x="757944" y="1028700"/>
            <a:ext cx="17092120" cy="8680123"/>
            <a:chOff x="0" y="0"/>
            <a:chExt cx="4501628" cy="2286123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4501628" cy="2286123"/>
            </a:xfrm>
            <a:custGeom>
              <a:avLst/>
              <a:gdLst/>
              <a:ahLst/>
              <a:cxnLst/>
              <a:rect l="l" t="t" r="r" b="b"/>
              <a:pathLst>
                <a:path w="4501628" h="2286123">
                  <a:moveTo>
                    <a:pt x="0" y="0"/>
                  </a:moveTo>
                  <a:lnTo>
                    <a:pt x="4501628" y="0"/>
                  </a:lnTo>
                  <a:lnTo>
                    <a:pt x="4501628" y="2286123"/>
                  </a:lnTo>
                  <a:lnTo>
                    <a:pt x="0" y="2286123"/>
                  </a:lnTo>
                  <a:close/>
                </a:path>
              </a:pathLst>
            </a:custGeom>
            <a:solidFill>
              <a:srgbClr val="D1D5BA"/>
            </a:solidFill>
          </p:spPr>
        </p:sp>
        <p:sp>
          <p:nvSpPr>
            <p:cNvPr id="7" name="TextBox 7"/>
            <p:cNvSpPr txBox="1"/>
            <p:nvPr/>
          </p:nvSpPr>
          <p:spPr>
            <a:xfrm>
              <a:off x="0" y="-28575"/>
              <a:ext cx="4501628" cy="231469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60"/>
                </a:lnSpc>
                <a:spcBef>
                  <a:spcPct val="0"/>
                </a:spcBef>
              </a:pPr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437936" y="618151"/>
            <a:ext cx="17092120" cy="8746514"/>
            <a:chOff x="0" y="0"/>
            <a:chExt cx="4501628" cy="2303609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4501628" cy="2303609"/>
            </a:xfrm>
            <a:custGeom>
              <a:avLst/>
              <a:gdLst/>
              <a:ahLst/>
              <a:cxnLst/>
              <a:rect l="l" t="t" r="r" b="b"/>
              <a:pathLst>
                <a:path w="4501628" h="2303609">
                  <a:moveTo>
                    <a:pt x="0" y="0"/>
                  </a:moveTo>
                  <a:lnTo>
                    <a:pt x="4501628" y="0"/>
                  </a:lnTo>
                  <a:lnTo>
                    <a:pt x="4501628" y="2303609"/>
                  </a:lnTo>
                  <a:lnTo>
                    <a:pt x="0" y="2303609"/>
                  </a:lnTo>
                  <a:close/>
                </a:path>
              </a:pathLst>
            </a:custGeom>
            <a:solidFill>
              <a:srgbClr val="F5FAF4"/>
            </a:solidFill>
          </p:spPr>
        </p:sp>
        <p:sp>
          <p:nvSpPr>
            <p:cNvPr id="10" name="TextBox 10"/>
            <p:cNvSpPr txBox="1"/>
            <p:nvPr/>
          </p:nvSpPr>
          <p:spPr>
            <a:xfrm>
              <a:off x="0" y="-28575"/>
              <a:ext cx="4501628" cy="233218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60"/>
                </a:lnSpc>
                <a:spcBef>
                  <a:spcPct val="0"/>
                </a:spcBef>
              </a:pPr>
            </a:p>
          </p:txBody>
        </p:sp>
      </p:grpSp>
      <p:grpSp>
        <p:nvGrpSpPr>
          <p:cNvPr id="11" name="Group 11"/>
          <p:cNvGrpSpPr/>
          <p:nvPr/>
        </p:nvGrpSpPr>
        <p:grpSpPr>
          <a:xfrm>
            <a:off x="7586072" y="1565082"/>
            <a:ext cx="3115855" cy="217179"/>
            <a:chOff x="0" y="0"/>
            <a:chExt cx="820637" cy="57199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820637" cy="57199"/>
            </a:xfrm>
            <a:custGeom>
              <a:avLst/>
              <a:gdLst/>
              <a:ahLst/>
              <a:cxnLst/>
              <a:rect l="l" t="t" r="r" b="b"/>
              <a:pathLst>
                <a:path w="820637" h="57199">
                  <a:moveTo>
                    <a:pt x="28600" y="0"/>
                  </a:moveTo>
                  <a:lnTo>
                    <a:pt x="792037" y="0"/>
                  </a:lnTo>
                  <a:cubicBezTo>
                    <a:pt x="807832" y="0"/>
                    <a:pt x="820637" y="12805"/>
                    <a:pt x="820637" y="28600"/>
                  </a:cubicBezTo>
                  <a:lnTo>
                    <a:pt x="820637" y="28600"/>
                  </a:lnTo>
                  <a:cubicBezTo>
                    <a:pt x="820637" y="44395"/>
                    <a:pt x="807832" y="57199"/>
                    <a:pt x="792037" y="57199"/>
                  </a:cubicBezTo>
                  <a:lnTo>
                    <a:pt x="28600" y="57199"/>
                  </a:lnTo>
                  <a:cubicBezTo>
                    <a:pt x="12805" y="57199"/>
                    <a:pt x="0" y="44395"/>
                    <a:pt x="0" y="28600"/>
                  </a:cubicBezTo>
                  <a:lnTo>
                    <a:pt x="0" y="28600"/>
                  </a:lnTo>
                  <a:cubicBezTo>
                    <a:pt x="0" y="12805"/>
                    <a:pt x="12805" y="0"/>
                    <a:pt x="28600" y="0"/>
                  </a:cubicBezTo>
                  <a:close/>
                </a:path>
              </a:pathLst>
            </a:custGeom>
            <a:solidFill>
              <a:srgbClr val="D1D5BA"/>
            </a:solidFill>
          </p:spPr>
        </p:sp>
        <p:sp>
          <p:nvSpPr>
            <p:cNvPr id="13" name="TextBox 13"/>
            <p:cNvSpPr txBox="1"/>
            <p:nvPr/>
          </p:nvSpPr>
          <p:spPr>
            <a:xfrm>
              <a:off x="0" y="-47625"/>
              <a:ext cx="820637" cy="10482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895"/>
                </a:lnSpc>
              </a:pPr>
            </a:p>
          </p:txBody>
        </p:sp>
      </p:grpSp>
      <p:sp>
        <p:nvSpPr>
          <p:cNvPr id="14" name="TextBox 14"/>
          <p:cNvSpPr txBox="1"/>
          <p:nvPr/>
        </p:nvSpPr>
        <p:spPr>
          <a:xfrm>
            <a:off x="7586072" y="945175"/>
            <a:ext cx="3115855" cy="8077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6300"/>
              </a:lnSpc>
              <a:spcBef>
                <a:spcPct val="0"/>
              </a:spcBef>
            </a:pPr>
            <a:r>
              <a:rPr lang="zh-CN" altLang="en-US" sz="4200" spc="420">
                <a:solidFill>
                  <a:srgbClr val="343333"/>
                </a:solidFill>
                <a:ea typeface="华文中宋" panose="02010600040101010101" charset="-122"/>
              </a:rPr>
              <a:t>协议</a:t>
            </a:r>
            <a:r>
              <a:rPr lang="zh-CN" altLang="en-US" sz="4200" spc="420">
                <a:solidFill>
                  <a:srgbClr val="343333"/>
                </a:solidFill>
                <a:ea typeface="华文中宋" panose="02010600040101010101" charset="-122"/>
              </a:rPr>
              <a:t>参与方</a:t>
            </a:r>
            <a:endParaRPr lang="zh-CN" altLang="en-US" sz="4200" spc="420">
              <a:solidFill>
                <a:srgbClr val="343333"/>
              </a:solidFill>
              <a:ea typeface="华文中宋" panose="02010600040101010101" charset="-122"/>
            </a:endParaRPr>
          </a:p>
        </p:txBody>
      </p:sp>
      <p:grpSp>
        <p:nvGrpSpPr>
          <p:cNvPr id="18" name="Group 18"/>
          <p:cNvGrpSpPr/>
          <p:nvPr>
            <p:custDataLst>
              <p:tags r:id="rId3"/>
            </p:custDataLst>
          </p:nvPr>
        </p:nvGrpSpPr>
        <p:grpSpPr>
          <a:xfrm>
            <a:off x="685800" y="2597785"/>
            <a:ext cx="3943985" cy="5547995"/>
            <a:chOff x="0" y="0"/>
            <a:chExt cx="1038807" cy="966456"/>
          </a:xfrm>
        </p:grpSpPr>
        <p:sp>
          <p:nvSpPr>
            <p:cNvPr id="19" name="Freeform 19"/>
            <p:cNvSpPr/>
            <p:nvPr>
              <p:custDataLst>
                <p:tags r:id="rId4"/>
              </p:custDataLst>
            </p:nvPr>
          </p:nvSpPr>
          <p:spPr>
            <a:xfrm>
              <a:off x="0" y="0"/>
              <a:ext cx="1038807" cy="966456"/>
            </a:xfrm>
            <a:custGeom>
              <a:avLst/>
              <a:gdLst/>
              <a:ahLst/>
              <a:cxnLst/>
              <a:rect l="l" t="t" r="r" b="b"/>
              <a:pathLst>
                <a:path w="1038807" h="966456">
                  <a:moveTo>
                    <a:pt x="39257" y="0"/>
                  </a:moveTo>
                  <a:lnTo>
                    <a:pt x="999550" y="0"/>
                  </a:lnTo>
                  <a:cubicBezTo>
                    <a:pt x="1021231" y="0"/>
                    <a:pt x="1038807" y="17576"/>
                    <a:pt x="1038807" y="39257"/>
                  </a:cubicBezTo>
                  <a:lnTo>
                    <a:pt x="1038807" y="927199"/>
                  </a:lnTo>
                  <a:cubicBezTo>
                    <a:pt x="1038807" y="948880"/>
                    <a:pt x="1021231" y="966456"/>
                    <a:pt x="999550" y="966456"/>
                  </a:cubicBezTo>
                  <a:lnTo>
                    <a:pt x="39257" y="966456"/>
                  </a:lnTo>
                  <a:cubicBezTo>
                    <a:pt x="17576" y="966456"/>
                    <a:pt x="0" y="948880"/>
                    <a:pt x="0" y="927199"/>
                  </a:cubicBezTo>
                  <a:lnTo>
                    <a:pt x="0" y="39257"/>
                  </a:lnTo>
                  <a:cubicBezTo>
                    <a:pt x="0" y="17576"/>
                    <a:pt x="17576" y="0"/>
                    <a:pt x="39257" y="0"/>
                  </a:cubicBezTo>
                  <a:close/>
                </a:path>
              </a:pathLst>
            </a:custGeom>
            <a:solidFill>
              <a:srgbClr val="41624D">
                <a:alpha val="9804"/>
              </a:srgbClr>
            </a:solidFill>
            <a:ln cap="sq">
              <a:noFill/>
              <a:prstDash val="solid"/>
              <a:miter/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0" y="-47625"/>
              <a:ext cx="1038807" cy="101408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660"/>
                </a:lnSpc>
                <a:spcBef>
                  <a:spcPct val="0"/>
                </a:spcBef>
              </a:pPr>
            </a:p>
          </p:txBody>
        </p:sp>
      </p:grpSp>
      <p:grpSp>
        <p:nvGrpSpPr>
          <p:cNvPr id="24" name="Group 24"/>
          <p:cNvGrpSpPr/>
          <p:nvPr>
            <p:custDataLst>
              <p:tags r:id="rId5"/>
            </p:custDataLst>
          </p:nvPr>
        </p:nvGrpSpPr>
        <p:grpSpPr>
          <a:xfrm>
            <a:off x="4878705" y="2597785"/>
            <a:ext cx="3943985" cy="5547995"/>
            <a:chOff x="0" y="0"/>
            <a:chExt cx="1038807" cy="966456"/>
          </a:xfrm>
        </p:grpSpPr>
        <p:sp>
          <p:nvSpPr>
            <p:cNvPr id="25" name="Freeform 25"/>
            <p:cNvSpPr/>
            <p:nvPr>
              <p:custDataLst>
                <p:tags r:id="rId6"/>
              </p:custDataLst>
            </p:nvPr>
          </p:nvSpPr>
          <p:spPr>
            <a:xfrm>
              <a:off x="0" y="0"/>
              <a:ext cx="1038807" cy="966456"/>
            </a:xfrm>
            <a:custGeom>
              <a:avLst/>
              <a:gdLst/>
              <a:ahLst/>
              <a:cxnLst/>
              <a:rect l="l" t="t" r="r" b="b"/>
              <a:pathLst>
                <a:path w="1038807" h="966456">
                  <a:moveTo>
                    <a:pt x="39257" y="0"/>
                  </a:moveTo>
                  <a:lnTo>
                    <a:pt x="999550" y="0"/>
                  </a:lnTo>
                  <a:cubicBezTo>
                    <a:pt x="1021231" y="0"/>
                    <a:pt x="1038807" y="17576"/>
                    <a:pt x="1038807" y="39257"/>
                  </a:cubicBezTo>
                  <a:lnTo>
                    <a:pt x="1038807" y="927199"/>
                  </a:lnTo>
                  <a:cubicBezTo>
                    <a:pt x="1038807" y="948880"/>
                    <a:pt x="1021231" y="966456"/>
                    <a:pt x="999550" y="966456"/>
                  </a:cubicBezTo>
                  <a:lnTo>
                    <a:pt x="39257" y="966456"/>
                  </a:lnTo>
                  <a:cubicBezTo>
                    <a:pt x="17576" y="966456"/>
                    <a:pt x="0" y="948880"/>
                    <a:pt x="0" y="927199"/>
                  </a:cubicBezTo>
                  <a:lnTo>
                    <a:pt x="0" y="39257"/>
                  </a:lnTo>
                  <a:cubicBezTo>
                    <a:pt x="0" y="17576"/>
                    <a:pt x="17576" y="0"/>
                    <a:pt x="39257" y="0"/>
                  </a:cubicBezTo>
                  <a:close/>
                </a:path>
              </a:pathLst>
            </a:custGeom>
            <a:solidFill>
              <a:srgbClr val="41624D">
                <a:alpha val="9804"/>
              </a:srgbClr>
            </a:solidFill>
            <a:ln cap="sq">
              <a:noFill/>
              <a:prstDash val="solid"/>
              <a:miter/>
            </a:ln>
          </p:spPr>
        </p:sp>
        <p:sp>
          <p:nvSpPr>
            <p:cNvPr id="26" name="TextBox 26"/>
            <p:cNvSpPr txBox="1"/>
            <p:nvPr/>
          </p:nvSpPr>
          <p:spPr>
            <a:xfrm>
              <a:off x="0" y="-47625"/>
              <a:ext cx="1038807" cy="101408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660"/>
                </a:lnSpc>
                <a:spcBef>
                  <a:spcPct val="0"/>
                </a:spcBef>
              </a:pPr>
            </a:p>
          </p:txBody>
        </p:sp>
      </p:grpSp>
      <p:grpSp>
        <p:nvGrpSpPr>
          <p:cNvPr id="30" name="Group 30"/>
          <p:cNvGrpSpPr/>
          <p:nvPr>
            <p:custDataLst>
              <p:tags r:id="rId7"/>
            </p:custDataLst>
          </p:nvPr>
        </p:nvGrpSpPr>
        <p:grpSpPr>
          <a:xfrm>
            <a:off x="9071610" y="2597785"/>
            <a:ext cx="3943985" cy="5547995"/>
            <a:chOff x="0" y="0"/>
            <a:chExt cx="1038807" cy="966456"/>
          </a:xfrm>
        </p:grpSpPr>
        <p:sp>
          <p:nvSpPr>
            <p:cNvPr id="31" name="Freeform 31"/>
            <p:cNvSpPr/>
            <p:nvPr>
              <p:custDataLst>
                <p:tags r:id="rId8"/>
              </p:custDataLst>
            </p:nvPr>
          </p:nvSpPr>
          <p:spPr>
            <a:xfrm>
              <a:off x="0" y="0"/>
              <a:ext cx="1038807" cy="966456"/>
            </a:xfrm>
            <a:custGeom>
              <a:avLst/>
              <a:gdLst/>
              <a:ahLst/>
              <a:cxnLst/>
              <a:rect l="l" t="t" r="r" b="b"/>
              <a:pathLst>
                <a:path w="1038807" h="966456">
                  <a:moveTo>
                    <a:pt x="39257" y="0"/>
                  </a:moveTo>
                  <a:lnTo>
                    <a:pt x="999550" y="0"/>
                  </a:lnTo>
                  <a:cubicBezTo>
                    <a:pt x="1021231" y="0"/>
                    <a:pt x="1038807" y="17576"/>
                    <a:pt x="1038807" y="39257"/>
                  </a:cubicBezTo>
                  <a:lnTo>
                    <a:pt x="1038807" y="927199"/>
                  </a:lnTo>
                  <a:cubicBezTo>
                    <a:pt x="1038807" y="948880"/>
                    <a:pt x="1021231" y="966456"/>
                    <a:pt x="999550" y="966456"/>
                  </a:cubicBezTo>
                  <a:lnTo>
                    <a:pt x="39257" y="966456"/>
                  </a:lnTo>
                  <a:cubicBezTo>
                    <a:pt x="17576" y="966456"/>
                    <a:pt x="0" y="948880"/>
                    <a:pt x="0" y="927199"/>
                  </a:cubicBezTo>
                  <a:lnTo>
                    <a:pt x="0" y="39257"/>
                  </a:lnTo>
                  <a:cubicBezTo>
                    <a:pt x="0" y="17576"/>
                    <a:pt x="17576" y="0"/>
                    <a:pt x="39257" y="0"/>
                  </a:cubicBezTo>
                  <a:close/>
                </a:path>
              </a:pathLst>
            </a:custGeom>
            <a:solidFill>
              <a:srgbClr val="41624D">
                <a:alpha val="9804"/>
              </a:srgbClr>
            </a:solidFill>
            <a:ln cap="sq">
              <a:noFill/>
              <a:prstDash val="solid"/>
              <a:miter/>
            </a:ln>
          </p:spPr>
        </p:sp>
        <p:sp>
          <p:nvSpPr>
            <p:cNvPr id="32" name="TextBox 32"/>
            <p:cNvSpPr txBox="1"/>
            <p:nvPr/>
          </p:nvSpPr>
          <p:spPr>
            <a:xfrm>
              <a:off x="0" y="-47625"/>
              <a:ext cx="1038807" cy="101408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660"/>
                </a:lnSpc>
                <a:spcBef>
                  <a:spcPct val="0"/>
                </a:spcBef>
              </a:pPr>
            </a:p>
          </p:txBody>
        </p:sp>
      </p:grpSp>
      <p:sp>
        <p:nvSpPr>
          <p:cNvPr id="36" name="TextBox 36"/>
          <p:cNvSpPr txBox="1"/>
          <p:nvPr>
            <p:custDataLst>
              <p:tags r:id="rId9"/>
            </p:custDataLst>
          </p:nvPr>
        </p:nvSpPr>
        <p:spPr>
          <a:xfrm>
            <a:off x="1143101" y="4000585"/>
            <a:ext cx="2730117" cy="307784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342900" lvl="0" indent="-342900" algn="l">
              <a:lnSpc>
                <a:spcPts val="3000"/>
              </a:lnSpc>
              <a:spcBef>
                <a:spcPct val="0"/>
              </a:spcBef>
              <a:buFont typeface="Wingdings" panose="05000000000000000000" charset="0"/>
              <a:buChar char="l"/>
            </a:pPr>
            <a:r>
              <a:rPr lang="zh-CN" altLang="en-US" sz="2000" b="1">
                <a:solidFill>
                  <a:srgbClr val="343333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职责</a:t>
            </a:r>
            <a:r>
              <a:rPr lang="zh-CN" altLang="en-US" sz="2000">
                <a:solidFill>
                  <a:srgbClr val="343333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：核验选民身份，为合法选民生成签名密钥对，并维护公开的选民名单</a:t>
            </a:r>
            <a:endParaRPr lang="" altLang="en-US" sz="2000">
              <a:solidFill>
                <a:srgbClr val="343333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  <a:p>
            <a:pPr marL="342900" lvl="0" indent="-342900" algn="l">
              <a:lnSpc>
                <a:spcPts val="3000"/>
              </a:lnSpc>
              <a:spcBef>
                <a:spcPct val="0"/>
              </a:spcBef>
              <a:buFont typeface="Wingdings" panose="05000000000000000000" charset="0"/>
              <a:buChar char="l"/>
            </a:pPr>
            <a:r>
              <a:rPr lang="zh-CN" altLang="en-US" sz="2000" b="1">
                <a:solidFill>
                  <a:srgbClr val="343333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交互对象</a:t>
            </a:r>
            <a:r>
              <a:rPr lang="zh-CN" altLang="en-US" sz="2000">
                <a:solidFill>
                  <a:srgbClr val="343333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：选民、公告板</a:t>
            </a:r>
            <a:endParaRPr lang="zh-CN" altLang="en-US" sz="2000">
              <a:solidFill>
                <a:srgbClr val="343333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  <a:p>
            <a:pPr marL="342900" lvl="0" indent="-342900" algn="l">
              <a:lnSpc>
                <a:spcPts val="3000"/>
              </a:lnSpc>
              <a:spcBef>
                <a:spcPct val="0"/>
              </a:spcBef>
              <a:buFont typeface="Wingdings" panose="05000000000000000000" charset="0"/>
              <a:buChar char="l"/>
            </a:pPr>
            <a:r>
              <a:rPr lang="zh-CN" altLang="en-US" sz="2000" b="1">
                <a:solidFill>
                  <a:srgbClr val="343333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安全假设</a:t>
            </a:r>
            <a:r>
              <a:rPr lang="zh-CN" altLang="en-US" sz="2000">
                <a:solidFill>
                  <a:srgbClr val="343333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：诚实，不泄露选民私钥</a:t>
            </a:r>
            <a:endParaRPr lang="zh-CN" altLang="en-US" sz="2000">
              <a:solidFill>
                <a:srgbClr val="343333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grpSp>
        <p:nvGrpSpPr>
          <p:cNvPr id="39" name="Group 39"/>
          <p:cNvGrpSpPr/>
          <p:nvPr>
            <p:custDataLst>
              <p:tags r:id="rId10"/>
            </p:custDataLst>
          </p:nvPr>
        </p:nvGrpSpPr>
        <p:grpSpPr>
          <a:xfrm>
            <a:off x="1059602" y="3114214"/>
            <a:ext cx="3034275" cy="511809"/>
            <a:chOff x="0" y="-16160"/>
            <a:chExt cx="4045700" cy="682413"/>
          </a:xfrm>
        </p:grpSpPr>
        <p:grpSp>
          <p:nvGrpSpPr>
            <p:cNvPr id="40" name="Group 40"/>
            <p:cNvGrpSpPr/>
            <p:nvPr/>
          </p:nvGrpSpPr>
          <p:grpSpPr>
            <a:xfrm>
              <a:off x="0" y="0"/>
              <a:ext cx="4045700" cy="666253"/>
              <a:chOff x="0" y="0"/>
              <a:chExt cx="1039241" cy="171144"/>
            </a:xfrm>
          </p:grpSpPr>
          <p:sp>
            <p:nvSpPr>
              <p:cNvPr id="41" name="Freeform 41"/>
              <p:cNvSpPr/>
              <p:nvPr>
                <p:custDataLst>
                  <p:tags r:id="rId11"/>
                </p:custDataLst>
              </p:nvPr>
            </p:nvSpPr>
            <p:spPr>
              <a:xfrm>
                <a:off x="0" y="0"/>
                <a:ext cx="1039241" cy="171144"/>
              </a:xfrm>
              <a:custGeom>
                <a:avLst/>
                <a:gdLst/>
                <a:ahLst/>
                <a:cxnLst/>
                <a:rect l="l" t="t" r="r" b="b"/>
                <a:pathLst>
                  <a:path w="1039241" h="171144">
                    <a:moveTo>
                      <a:pt x="85572" y="0"/>
                    </a:moveTo>
                    <a:lnTo>
                      <a:pt x="953669" y="0"/>
                    </a:lnTo>
                    <a:cubicBezTo>
                      <a:pt x="1000929" y="0"/>
                      <a:pt x="1039241" y="38312"/>
                      <a:pt x="1039241" y="85572"/>
                    </a:cubicBezTo>
                    <a:lnTo>
                      <a:pt x="1039241" y="85572"/>
                    </a:lnTo>
                    <a:cubicBezTo>
                      <a:pt x="1039241" y="132832"/>
                      <a:pt x="1000929" y="171144"/>
                      <a:pt x="953669" y="171144"/>
                    </a:cubicBezTo>
                    <a:lnTo>
                      <a:pt x="85572" y="171144"/>
                    </a:lnTo>
                    <a:cubicBezTo>
                      <a:pt x="38312" y="171144"/>
                      <a:pt x="0" y="132832"/>
                      <a:pt x="0" y="85572"/>
                    </a:cubicBezTo>
                    <a:lnTo>
                      <a:pt x="0" y="85572"/>
                    </a:lnTo>
                    <a:cubicBezTo>
                      <a:pt x="0" y="38312"/>
                      <a:pt x="38312" y="0"/>
                      <a:pt x="85572" y="0"/>
                    </a:cubicBezTo>
                    <a:close/>
                  </a:path>
                </a:pathLst>
              </a:custGeom>
              <a:solidFill>
                <a:srgbClr val="41624D"/>
              </a:solidFill>
              <a:ln w="9525" cap="rnd">
                <a:solidFill>
                  <a:srgbClr val="41624D"/>
                </a:solidFill>
                <a:prstDash val="solid"/>
                <a:round/>
              </a:ln>
            </p:spPr>
          </p:sp>
          <p:sp>
            <p:nvSpPr>
              <p:cNvPr id="42" name="TextBox 42"/>
              <p:cNvSpPr txBox="1"/>
              <p:nvPr/>
            </p:nvSpPr>
            <p:spPr>
              <a:xfrm>
                <a:off x="0" y="-47625"/>
                <a:ext cx="1039241" cy="218769"/>
              </a:xfrm>
              <a:prstGeom prst="rect">
                <a:avLst/>
              </a:prstGeom>
            </p:spPr>
            <p:txBody>
              <a:bodyPr lIns="34493" tIns="34493" rIns="34493" bIns="34493" rtlCol="0" anchor="ctr"/>
              <a:lstStyle/>
              <a:p>
                <a:pPr marL="0" lvl="0" indent="0" algn="ctr">
                  <a:lnSpc>
                    <a:spcPts val="2895"/>
                  </a:lnSpc>
                  <a:spcBef>
                    <a:spcPct val="0"/>
                  </a:spcBef>
                </a:pPr>
              </a:p>
            </p:txBody>
          </p:sp>
        </p:grpSp>
        <p:sp>
          <p:nvSpPr>
            <p:cNvPr id="43" name="TextBox 43"/>
            <p:cNvSpPr txBox="1"/>
            <p:nvPr>
              <p:custDataLst>
                <p:tags r:id="rId12"/>
              </p:custDataLst>
            </p:nvPr>
          </p:nvSpPr>
          <p:spPr>
            <a:xfrm>
              <a:off x="289351" y="-16160"/>
              <a:ext cx="3461527" cy="669714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ctr">
                <a:lnSpc>
                  <a:spcPts val="3920"/>
                </a:lnSpc>
                <a:spcBef>
                  <a:spcPct val="0"/>
                </a:spcBef>
              </a:pPr>
              <a:r>
                <a:rPr lang="zh-CN" altLang="en-US" sz="2800" spc="279">
                  <a:solidFill>
                    <a:srgbClr val="FFFFFF"/>
                  </a:solidFill>
                  <a:ea typeface="方正大黑体_GBK" panose="02010600010101010101" charset="-122"/>
                </a:rPr>
                <a:t>注册机构</a:t>
              </a:r>
              <a:endParaRPr lang="zh-CN" altLang="en-US" sz="2800" spc="279">
                <a:solidFill>
                  <a:srgbClr val="FFFFFF"/>
                </a:solidFill>
                <a:ea typeface="方正大黑体_GBK" panose="02010600010101010101" charset="-122"/>
              </a:endParaRPr>
            </a:p>
          </p:txBody>
        </p:sp>
      </p:grpSp>
      <p:grpSp>
        <p:nvGrpSpPr>
          <p:cNvPr id="44" name="Group 44"/>
          <p:cNvGrpSpPr/>
          <p:nvPr>
            <p:custDataLst>
              <p:tags r:id="rId13"/>
            </p:custDataLst>
          </p:nvPr>
        </p:nvGrpSpPr>
        <p:grpSpPr>
          <a:xfrm>
            <a:off x="5252451" y="3114214"/>
            <a:ext cx="3034275" cy="511809"/>
            <a:chOff x="0" y="-16160"/>
            <a:chExt cx="4045700" cy="682413"/>
          </a:xfrm>
        </p:grpSpPr>
        <p:grpSp>
          <p:nvGrpSpPr>
            <p:cNvPr id="45" name="Group 45"/>
            <p:cNvGrpSpPr/>
            <p:nvPr/>
          </p:nvGrpSpPr>
          <p:grpSpPr>
            <a:xfrm>
              <a:off x="0" y="0"/>
              <a:ext cx="4045700" cy="666253"/>
              <a:chOff x="0" y="0"/>
              <a:chExt cx="1039241" cy="171144"/>
            </a:xfrm>
          </p:grpSpPr>
          <p:sp>
            <p:nvSpPr>
              <p:cNvPr id="46" name="Freeform 46"/>
              <p:cNvSpPr/>
              <p:nvPr>
                <p:custDataLst>
                  <p:tags r:id="rId14"/>
                </p:custDataLst>
              </p:nvPr>
            </p:nvSpPr>
            <p:spPr>
              <a:xfrm>
                <a:off x="0" y="0"/>
                <a:ext cx="1039241" cy="171144"/>
              </a:xfrm>
              <a:custGeom>
                <a:avLst/>
                <a:gdLst/>
                <a:ahLst/>
                <a:cxnLst/>
                <a:rect l="l" t="t" r="r" b="b"/>
                <a:pathLst>
                  <a:path w="1039241" h="171144">
                    <a:moveTo>
                      <a:pt x="85572" y="0"/>
                    </a:moveTo>
                    <a:lnTo>
                      <a:pt x="953669" y="0"/>
                    </a:lnTo>
                    <a:cubicBezTo>
                      <a:pt x="1000929" y="0"/>
                      <a:pt x="1039241" y="38312"/>
                      <a:pt x="1039241" y="85572"/>
                    </a:cubicBezTo>
                    <a:lnTo>
                      <a:pt x="1039241" y="85572"/>
                    </a:lnTo>
                    <a:cubicBezTo>
                      <a:pt x="1039241" y="132832"/>
                      <a:pt x="1000929" y="171144"/>
                      <a:pt x="953669" y="171144"/>
                    </a:cubicBezTo>
                    <a:lnTo>
                      <a:pt x="85572" y="171144"/>
                    </a:lnTo>
                    <a:cubicBezTo>
                      <a:pt x="38312" y="171144"/>
                      <a:pt x="0" y="132832"/>
                      <a:pt x="0" y="85572"/>
                    </a:cubicBezTo>
                    <a:lnTo>
                      <a:pt x="0" y="85572"/>
                    </a:lnTo>
                    <a:cubicBezTo>
                      <a:pt x="0" y="38312"/>
                      <a:pt x="38312" y="0"/>
                      <a:pt x="85572" y="0"/>
                    </a:cubicBezTo>
                    <a:close/>
                  </a:path>
                </a:pathLst>
              </a:custGeom>
              <a:solidFill>
                <a:srgbClr val="41624D"/>
              </a:solidFill>
              <a:ln w="9525" cap="rnd">
                <a:solidFill>
                  <a:srgbClr val="41624D"/>
                </a:solidFill>
                <a:prstDash val="solid"/>
                <a:round/>
              </a:ln>
            </p:spPr>
          </p:sp>
          <p:sp>
            <p:nvSpPr>
              <p:cNvPr id="47" name="TextBox 47"/>
              <p:cNvSpPr txBox="1"/>
              <p:nvPr/>
            </p:nvSpPr>
            <p:spPr>
              <a:xfrm>
                <a:off x="0" y="-47625"/>
                <a:ext cx="1039241" cy="218769"/>
              </a:xfrm>
              <a:prstGeom prst="rect">
                <a:avLst/>
              </a:prstGeom>
            </p:spPr>
            <p:txBody>
              <a:bodyPr lIns="34493" tIns="34493" rIns="34493" bIns="34493" rtlCol="0" anchor="ctr"/>
              <a:lstStyle/>
              <a:p>
                <a:pPr marL="0" lvl="0" indent="0" algn="ctr">
                  <a:lnSpc>
                    <a:spcPts val="2895"/>
                  </a:lnSpc>
                  <a:spcBef>
                    <a:spcPct val="0"/>
                  </a:spcBef>
                </a:pPr>
              </a:p>
            </p:txBody>
          </p:sp>
        </p:grpSp>
        <p:sp>
          <p:nvSpPr>
            <p:cNvPr id="48" name="TextBox 48"/>
            <p:cNvSpPr txBox="1"/>
            <p:nvPr>
              <p:custDataLst>
                <p:tags r:id="rId15"/>
              </p:custDataLst>
            </p:nvPr>
          </p:nvSpPr>
          <p:spPr>
            <a:xfrm>
              <a:off x="292086" y="-16160"/>
              <a:ext cx="3461527" cy="669714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ctr">
                <a:lnSpc>
                  <a:spcPts val="3920"/>
                </a:lnSpc>
                <a:spcBef>
                  <a:spcPct val="0"/>
                </a:spcBef>
              </a:pPr>
              <a:r>
                <a:rPr lang="zh-CN" altLang="en-US" sz="2800" spc="279">
                  <a:solidFill>
                    <a:srgbClr val="FFFFFF"/>
                  </a:solidFill>
                  <a:ea typeface="方正大黑体_GBK" panose="02010600010101010101" charset="-122"/>
                </a:rPr>
                <a:t>公告板</a:t>
              </a:r>
              <a:endParaRPr lang="zh-CN" altLang="en-US" sz="2800" spc="279">
                <a:solidFill>
                  <a:srgbClr val="FFFFFF"/>
                </a:solidFill>
                <a:ea typeface="方正大黑体_GBK" panose="02010600010101010101" charset="-122"/>
              </a:endParaRPr>
            </a:p>
          </p:txBody>
        </p:sp>
      </p:grpSp>
      <p:grpSp>
        <p:nvGrpSpPr>
          <p:cNvPr id="49" name="Group 49"/>
          <p:cNvGrpSpPr/>
          <p:nvPr>
            <p:custDataLst>
              <p:tags r:id="rId16"/>
            </p:custDataLst>
          </p:nvPr>
        </p:nvGrpSpPr>
        <p:grpSpPr>
          <a:xfrm>
            <a:off x="9608153" y="3114214"/>
            <a:ext cx="3034275" cy="511809"/>
            <a:chOff x="0" y="-16160"/>
            <a:chExt cx="4045700" cy="682413"/>
          </a:xfrm>
        </p:grpSpPr>
        <p:grpSp>
          <p:nvGrpSpPr>
            <p:cNvPr id="50" name="Group 50"/>
            <p:cNvGrpSpPr/>
            <p:nvPr/>
          </p:nvGrpSpPr>
          <p:grpSpPr>
            <a:xfrm>
              <a:off x="0" y="0"/>
              <a:ext cx="4045700" cy="666253"/>
              <a:chOff x="0" y="0"/>
              <a:chExt cx="1039241" cy="171144"/>
            </a:xfrm>
          </p:grpSpPr>
          <p:sp>
            <p:nvSpPr>
              <p:cNvPr id="51" name="Freeform 51"/>
              <p:cNvSpPr/>
              <p:nvPr>
                <p:custDataLst>
                  <p:tags r:id="rId17"/>
                </p:custDataLst>
              </p:nvPr>
            </p:nvSpPr>
            <p:spPr>
              <a:xfrm>
                <a:off x="0" y="0"/>
                <a:ext cx="1039241" cy="171144"/>
              </a:xfrm>
              <a:custGeom>
                <a:avLst/>
                <a:gdLst/>
                <a:ahLst/>
                <a:cxnLst/>
                <a:rect l="l" t="t" r="r" b="b"/>
                <a:pathLst>
                  <a:path w="1039241" h="171144">
                    <a:moveTo>
                      <a:pt x="85572" y="0"/>
                    </a:moveTo>
                    <a:lnTo>
                      <a:pt x="953669" y="0"/>
                    </a:lnTo>
                    <a:cubicBezTo>
                      <a:pt x="1000929" y="0"/>
                      <a:pt x="1039241" y="38312"/>
                      <a:pt x="1039241" y="85572"/>
                    </a:cubicBezTo>
                    <a:lnTo>
                      <a:pt x="1039241" y="85572"/>
                    </a:lnTo>
                    <a:cubicBezTo>
                      <a:pt x="1039241" y="132832"/>
                      <a:pt x="1000929" y="171144"/>
                      <a:pt x="953669" y="171144"/>
                    </a:cubicBezTo>
                    <a:lnTo>
                      <a:pt x="85572" y="171144"/>
                    </a:lnTo>
                    <a:cubicBezTo>
                      <a:pt x="38312" y="171144"/>
                      <a:pt x="0" y="132832"/>
                      <a:pt x="0" y="85572"/>
                    </a:cubicBezTo>
                    <a:lnTo>
                      <a:pt x="0" y="85572"/>
                    </a:lnTo>
                    <a:cubicBezTo>
                      <a:pt x="0" y="38312"/>
                      <a:pt x="38312" y="0"/>
                      <a:pt x="85572" y="0"/>
                    </a:cubicBezTo>
                    <a:close/>
                  </a:path>
                </a:pathLst>
              </a:custGeom>
              <a:solidFill>
                <a:srgbClr val="41624D"/>
              </a:solidFill>
              <a:ln w="9525" cap="rnd">
                <a:solidFill>
                  <a:srgbClr val="41624D"/>
                </a:solidFill>
                <a:prstDash val="solid"/>
                <a:round/>
              </a:ln>
            </p:spPr>
          </p:sp>
          <p:sp>
            <p:nvSpPr>
              <p:cNvPr id="52" name="TextBox 52"/>
              <p:cNvSpPr txBox="1"/>
              <p:nvPr/>
            </p:nvSpPr>
            <p:spPr>
              <a:xfrm>
                <a:off x="0" y="-47625"/>
                <a:ext cx="1039241" cy="218769"/>
              </a:xfrm>
              <a:prstGeom prst="rect">
                <a:avLst/>
              </a:prstGeom>
            </p:spPr>
            <p:txBody>
              <a:bodyPr lIns="34493" tIns="34493" rIns="34493" bIns="34493" rtlCol="0" anchor="ctr"/>
              <a:lstStyle/>
              <a:p>
                <a:pPr marL="0" lvl="0" indent="0" algn="ctr">
                  <a:lnSpc>
                    <a:spcPts val="2895"/>
                  </a:lnSpc>
                  <a:spcBef>
                    <a:spcPct val="0"/>
                  </a:spcBef>
                </a:pPr>
              </a:p>
            </p:txBody>
          </p:sp>
        </p:grpSp>
        <p:sp>
          <p:nvSpPr>
            <p:cNvPr id="53" name="TextBox 53"/>
            <p:cNvSpPr txBox="1"/>
            <p:nvPr>
              <p:custDataLst>
                <p:tags r:id="rId18"/>
              </p:custDataLst>
            </p:nvPr>
          </p:nvSpPr>
          <p:spPr>
            <a:xfrm>
              <a:off x="289351" y="-16160"/>
              <a:ext cx="3461527" cy="669714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ctr">
                <a:lnSpc>
                  <a:spcPts val="3920"/>
                </a:lnSpc>
                <a:spcBef>
                  <a:spcPct val="0"/>
                </a:spcBef>
              </a:pPr>
              <a:r>
                <a:rPr lang="zh-CN" altLang="en-US" sz="2800" spc="279">
                  <a:solidFill>
                    <a:srgbClr val="FFFFFF"/>
                  </a:solidFill>
                  <a:ea typeface="方正大黑体_GBK" panose="02010600010101010101" charset="-122"/>
                </a:rPr>
                <a:t>受托人</a:t>
              </a:r>
              <a:endParaRPr lang="zh-CN" altLang="en-US" sz="2800" spc="279">
                <a:solidFill>
                  <a:srgbClr val="FFFFFF"/>
                </a:solidFill>
                <a:ea typeface="方正大黑体_GBK" panose="02010600010101010101" charset="-122"/>
              </a:endParaRPr>
            </a:p>
          </p:txBody>
        </p:sp>
      </p:grpSp>
      <p:grpSp>
        <p:nvGrpSpPr>
          <p:cNvPr id="61" name="Group 39"/>
          <p:cNvGrpSpPr/>
          <p:nvPr>
            <p:custDataLst>
              <p:tags r:id="rId19"/>
            </p:custDataLst>
          </p:nvPr>
        </p:nvGrpSpPr>
        <p:grpSpPr>
          <a:xfrm>
            <a:off x="13638317" y="3190414"/>
            <a:ext cx="3034275" cy="511809"/>
            <a:chOff x="0" y="-16160"/>
            <a:chExt cx="4045700" cy="682413"/>
          </a:xfrm>
        </p:grpSpPr>
        <p:grpSp>
          <p:nvGrpSpPr>
            <p:cNvPr id="62" name="Group 40"/>
            <p:cNvGrpSpPr/>
            <p:nvPr/>
          </p:nvGrpSpPr>
          <p:grpSpPr>
            <a:xfrm>
              <a:off x="0" y="0"/>
              <a:ext cx="4045700" cy="666253"/>
              <a:chOff x="0" y="0"/>
              <a:chExt cx="1039241" cy="171144"/>
            </a:xfrm>
          </p:grpSpPr>
          <p:sp>
            <p:nvSpPr>
              <p:cNvPr id="63" name="Freeform 41"/>
              <p:cNvSpPr/>
              <p:nvPr>
                <p:custDataLst>
                  <p:tags r:id="rId20"/>
                </p:custDataLst>
              </p:nvPr>
            </p:nvSpPr>
            <p:spPr>
              <a:xfrm>
                <a:off x="0" y="0"/>
                <a:ext cx="1039241" cy="171144"/>
              </a:xfrm>
              <a:custGeom>
                <a:avLst/>
                <a:gdLst/>
                <a:ahLst/>
                <a:cxnLst/>
                <a:rect l="l" t="t" r="r" b="b"/>
                <a:pathLst>
                  <a:path w="1039241" h="171144">
                    <a:moveTo>
                      <a:pt x="85572" y="0"/>
                    </a:moveTo>
                    <a:lnTo>
                      <a:pt x="953669" y="0"/>
                    </a:lnTo>
                    <a:cubicBezTo>
                      <a:pt x="1000929" y="0"/>
                      <a:pt x="1039241" y="38312"/>
                      <a:pt x="1039241" y="85572"/>
                    </a:cubicBezTo>
                    <a:lnTo>
                      <a:pt x="1039241" y="85572"/>
                    </a:lnTo>
                    <a:cubicBezTo>
                      <a:pt x="1039241" y="132832"/>
                      <a:pt x="1000929" y="171144"/>
                      <a:pt x="953669" y="171144"/>
                    </a:cubicBezTo>
                    <a:lnTo>
                      <a:pt x="85572" y="171144"/>
                    </a:lnTo>
                    <a:cubicBezTo>
                      <a:pt x="38312" y="171144"/>
                      <a:pt x="0" y="132832"/>
                      <a:pt x="0" y="85572"/>
                    </a:cubicBezTo>
                    <a:lnTo>
                      <a:pt x="0" y="85572"/>
                    </a:lnTo>
                    <a:cubicBezTo>
                      <a:pt x="0" y="38312"/>
                      <a:pt x="38312" y="0"/>
                      <a:pt x="85572" y="0"/>
                    </a:cubicBezTo>
                    <a:close/>
                  </a:path>
                </a:pathLst>
              </a:custGeom>
              <a:solidFill>
                <a:srgbClr val="41624D"/>
              </a:solidFill>
              <a:ln w="9525" cap="rnd">
                <a:solidFill>
                  <a:srgbClr val="41624D"/>
                </a:solidFill>
                <a:prstDash val="solid"/>
                <a:round/>
              </a:ln>
            </p:spPr>
          </p:sp>
          <p:sp>
            <p:nvSpPr>
              <p:cNvPr id="64" name="TextBox 42"/>
              <p:cNvSpPr txBox="1"/>
              <p:nvPr/>
            </p:nvSpPr>
            <p:spPr>
              <a:xfrm>
                <a:off x="0" y="-47625"/>
                <a:ext cx="1039241" cy="218769"/>
              </a:xfrm>
              <a:prstGeom prst="rect">
                <a:avLst/>
              </a:prstGeom>
            </p:spPr>
            <p:txBody>
              <a:bodyPr lIns="34493" tIns="34493" rIns="34493" bIns="34493" rtlCol="0" anchor="ctr"/>
              <a:lstStyle/>
              <a:p>
                <a:pPr marL="0" lvl="0" indent="0" algn="ctr">
                  <a:lnSpc>
                    <a:spcPts val="2895"/>
                  </a:lnSpc>
                  <a:spcBef>
                    <a:spcPct val="0"/>
                  </a:spcBef>
                </a:pPr>
              </a:p>
            </p:txBody>
          </p:sp>
        </p:grpSp>
        <p:sp>
          <p:nvSpPr>
            <p:cNvPr id="65" name="TextBox 43"/>
            <p:cNvSpPr txBox="1"/>
            <p:nvPr>
              <p:custDataLst>
                <p:tags r:id="rId21"/>
              </p:custDataLst>
            </p:nvPr>
          </p:nvSpPr>
          <p:spPr>
            <a:xfrm>
              <a:off x="289351" y="-16160"/>
              <a:ext cx="3461527" cy="669714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ctr">
                <a:lnSpc>
                  <a:spcPts val="3920"/>
                </a:lnSpc>
                <a:spcBef>
                  <a:spcPct val="0"/>
                </a:spcBef>
              </a:pPr>
              <a:r>
                <a:rPr lang="zh-CN" altLang="en-US" sz="2800" spc="279">
                  <a:solidFill>
                    <a:srgbClr val="FFFFFF"/>
                  </a:solidFill>
                  <a:ea typeface="方正大黑体_GBK" panose="02010600010101010101" charset="-122"/>
                </a:rPr>
                <a:t>不可伪造</a:t>
              </a:r>
              <a:r>
                <a:rPr lang="zh-CN" altLang="en-US" sz="2800" spc="279">
                  <a:solidFill>
                    <a:srgbClr val="FFFFFF"/>
                  </a:solidFill>
                  <a:ea typeface="方正大黑体_GBK" panose="02010600010101010101" charset="-122"/>
                </a:rPr>
                <a:t>签名</a:t>
              </a:r>
              <a:endParaRPr lang="zh-CN" altLang="en-US" sz="2800" spc="279">
                <a:solidFill>
                  <a:srgbClr val="FFFFFF"/>
                </a:solidFill>
                <a:ea typeface="方正大黑体_GBK" panose="02010600010101010101" charset="-122"/>
              </a:endParaRPr>
            </a:p>
          </p:txBody>
        </p:sp>
      </p:grpSp>
      <p:sp>
        <p:nvSpPr>
          <p:cNvPr id="67" name="Freeform 19"/>
          <p:cNvSpPr/>
          <p:nvPr>
            <p:custDataLst>
              <p:tags r:id="rId22"/>
            </p:custDataLst>
          </p:nvPr>
        </p:nvSpPr>
        <p:spPr>
          <a:xfrm>
            <a:off x="13264515" y="2628900"/>
            <a:ext cx="3943985" cy="5547995"/>
          </a:xfrm>
          <a:custGeom>
            <a:avLst/>
            <a:gdLst/>
            <a:ahLst/>
            <a:cxnLst/>
            <a:rect l="l" t="t" r="r" b="b"/>
            <a:pathLst>
              <a:path w="1038807" h="966456">
                <a:moveTo>
                  <a:pt x="39257" y="0"/>
                </a:moveTo>
                <a:lnTo>
                  <a:pt x="999550" y="0"/>
                </a:lnTo>
                <a:cubicBezTo>
                  <a:pt x="1021231" y="0"/>
                  <a:pt x="1038807" y="17576"/>
                  <a:pt x="1038807" y="39257"/>
                </a:cubicBezTo>
                <a:lnTo>
                  <a:pt x="1038807" y="927199"/>
                </a:lnTo>
                <a:cubicBezTo>
                  <a:pt x="1038807" y="948880"/>
                  <a:pt x="1021231" y="966456"/>
                  <a:pt x="999550" y="966456"/>
                </a:cubicBezTo>
                <a:lnTo>
                  <a:pt x="39257" y="966456"/>
                </a:lnTo>
                <a:cubicBezTo>
                  <a:pt x="17576" y="966456"/>
                  <a:pt x="0" y="948880"/>
                  <a:pt x="0" y="927199"/>
                </a:cubicBezTo>
                <a:lnTo>
                  <a:pt x="0" y="39257"/>
                </a:lnTo>
                <a:cubicBezTo>
                  <a:pt x="0" y="17576"/>
                  <a:pt x="17576" y="0"/>
                  <a:pt x="39257" y="0"/>
                </a:cubicBezTo>
                <a:close/>
              </a:path>
            </a:pathLst>
          </a:custGeom>
          <a:solidFill>
            <a:srgbClr val="41624D">
              <a:alpha val="9804"/>
            </a:srgbClr>
          </a:solidFill>
          <a:ln cap="sq">
            <a:noFill/>
            <a:prstDash val="solid"/>
            <a:miter/>
          </a:ln>
        </p:spPr>
      </p:sp>
      <p:grpSp>
        <p:nvGrpSpPr>
          <p:cNvPr id="69" name="Group 39"/>
          <p:cNvGrpSpPr/>
          <p:nvPr>
            <p:custDataLst>
              <p:tags r:id="rId23"/>
            </p:custDataLst>
          </p:nvPr>
        </p:nvGrpSpPr>
        <p:grpSpPr>
          <a:xfrm>
            <a:off x="13632602" y="3114214"/>
            <a:ext cx="3034275" cy="511809"/>
            <a:chOff x="0" y="-16160"/>
            <a:chExt cx="4045700" cy="682413"/>
          </a:xfrm>
        </p:grpSpPr>
        <p:grpSp>
          <p:nvGrpSpPr>
            <p:cNvPr id="70" name="Group 40"/>
            <p:cNvGrpSpPr/>
            <p:nvPr/>
          </p:nvGrpSpPr>
          <p:grpSpPr>
            <a:xfrm>
              <a:off x="0" y="0"/>
              <a:ext cx="4045700" cy="666253"/>
              <a:chOff x="0" y="0"/>
              <a:chExt cx="1039241" cy="171144"/>
            </a:xfrm>
          </p:grpSpPr>
          <p:sp>
            <p:nvSpPr>
              <p:cNvPr id="71" name="Freeform 41"/>
              <p:cNvSpPr/>
              <p:nvPr>
                <p:custDataLst>
                  <p:tags r:id="rId24"/>
                </p:custDataLst>
              </p:nvPr>
            </p:nvSpPr>
            <p:spPr>
              <a:xfrm>
                <a:off x="0" y="0"/>
                <a:ext cx="1039241" cy="171144"/>
              </a:xfrm>
              <a:custGeom>
                <a:avLst/>
                <a:gdLst/>
                <a:ahLst/>
                <a:cxnLst/>
                <a:rect l="l" t="t" r="r" b="b"/>
                <a:pathLst>
                  <a:path w="1039241" h="171144">
                    <a:moveTo>
                      <a:pt x="85572" y="0"/>
                    </a:moveTo>
                    <a:lnTo>
                      <a:pt x="953669" y="0"/>
                    </a:lnTo>
                    <a:cubicBezTo>
                      <a:pt x="1000929" y="0"/>
                      <a:pt x="1039241" y="38312"/>
                      <a:pt x="1039241" y="85572"/>
                    </a:cubicBezTo>
                    <a:lnTo>
                      <a:pt x="1039241" y="85572"/>
                    </a:lnTo>
                    <a:cubicBezTo>
                      <a:pt x="1039241" y="132832"/>
                      <a:pt x="1000929" y="171144"/>
                      <a:pt x="953669" y="171144"/>
                    </a:cubicBezTo>
                    <a:lnTo>
                      <a:pt x="85572" y="171144"/>
                    </a:lnTo>
                    <a:cubicBezTo>
                      <a:pt x="38312" y="171144"/>
                      <a:pt x="0" y="132832"/>
                      <a:pt x="0" y="85572"/>
                    </a:cubicBezTo>
                    <a:lnTo>
                      <a:pt x="0" y="85572"/>
                    </a:lnTo>
                    <a:cubicBezTo>
                      <a:pt x="0" y="38312"/>
                      <a:pt x="38312" y="0"/>
                      <a:pt x="85572" y="0"/>
                    </a:cubicBezTo>
                    <a:close/>
                  </a:path>
                </a:pathLst>
              </a:custGeom>
              <a:solidFill>
                <a:srgbClr val="41624D"/>
              </a:solidFill>
              <a:ln w="9525" cap="rnd">
                <a:solidFill>
                  <a:srgbClr val="41624D"/>
                </a:solidFill>
                <a:prstDash val="solid"/>
                <a:round/>
              </a:ln>
            </p:spPr>
          </p:sp>
          <p:sp>
            <p:nvSpPr>
              <p:cNvPr id="72" name="TextBox 42"/>
              <p:cNvSpPr txBox="1"/>
              <p:nvPr/>
            </p:nvSpPr>
            <p:spPr>
              <a:xfrm>
                <a:off x="0" y="-47625"/>
                <a:ext cx="1039241" cy="218769"/>
              </a:xfrm>
              <a:prstGeom prst="rect">
                <a:avLst/>
              </a:prstGeom>
            </p:spPr>
            <p:txBody>
              <a:bodyPr lIns="34493" tIns="34493" rIns="34493" bIns="34493" rtlCol="0" anchor="ctr"/>
              <a:lstStyle/>
              <a:p>
                <a:pPr marL="0" lvl="0" indent="0" algn="ctr">
                  <a:lnSpc>
                    <a:spcPts val="2895"/>
                  </a:lnSpc>
                  <a:spcBef>
                    <a:spcPct val="0"/>
                  </a:spcBef>
                </a:pPr>
              </a:p>
            </p:txBody>
          </p:sp>
        </p:grpSp>
        <p:sp>
          <p:nvSpPr>
            <p:cNvPr id="73" name="TextBox 43"/>
            <p:cNvSpPr txBox="1"/>
            <p:nvPr>
              <p:custDataLst>
                <p:tags r:id="rId25"/>
              </p:custDataLst>
            </p:nvPr>
          </p:nvSpPr>
          <p:spPr>
            <a:xfrm>
              <a:off x="289351" y="-16160"/>
              <a:ext cx="3461527" cy="669714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ctr">
                <a:lnSpc>
                  <a:spcPts val="3920"/>
                </a:lnSpc>
                <a:spcBef>
                  <a:spcPct val="0"/>
                </a:spcBef>
              </a:pPr>
              <a:r>
                <a:rPr lang="zh-CN" altLang="en-US" sz="2800" spc="279">
                  <a:solidFill>
                    <a:srgbClr val="FFFFFF"/>
                  </a:solidFill>
                  <a:ea typeface="方正大黑体_GBK" panose="02010600010101010101" charset="-122"/>
                </a:rPr>
                <a:t>选民</a:t>
              </a:r>
              <a:endParaRPr lang="zh-CN" altLang="en-US" sz="2800" spc="279">
                <a:solidFill>
                  <a:srgbClr val="FFFFFF"/>
                </a:solidFill>
                <a:ea typeface="方正大黑体_GBK" panose="02010600010101010101" charset="-122"/>
              </a:endParaRPr>
            </a:p>
          </p:txBody>
        </p:sp>
      </p:grpSp>
      <p:sp>
        <p:nvSpPr>
          <p:cNvPr id="74" name="TextBox 36"/>
          <p:cNvSpPr txBox="1"/>
          <p:nvPr>
            <p:custDataLst>
              <p:tags r:id="rId26"/>
            </p:custDataLst>
          </p:nvPr>
        </p:nvSpPr>
        <p:spPr>
          <a:xfrm>
            <a:off x="5410301" y="4000585"/>
            <a:ext cx="2730117" cy="34620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342900" lvl="0" indent="-342900" algn="l">
              <a:lnSpc>
                <a:spcPts val="3000"/>
              </a:lnSpc>
              <a:spcBef>
                <a:spcPct val="0"/>
              </a:spcBef>
              <a:buFont typeface="Wingdings" panose="05000000000000000000" charset="0"/>
              <a:buChar char="l"/>
            </a:pPr>
            <a:r>
              <a:rPr lang="zh-CN" altLang="en-US" sz="2000" b="1">
                <a:solidFill>
                  <a:srgbClr val="343333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职责：</a:t>
            </a:r>
            <a:r>
              <a:rPr lang="zh-CN" altLang="en-US" sz="2000">
                <a:solidFill>
                  <a:srgbClr val="343333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接收并验证选票，执行同态累加，发布最终密文</a:t>
            </a:r>
            <a:endParaRPr lang="zh-CN" altLang="en-US" sz="2000" b="1">
              <a:solidFill>
                <a:srgbClr val="343333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  <a:p>
            <a:pPr marL="342900" lvl="0" indent="-342900" algn="l">
              <a:lnSpc>
                <a:spcPts val="3000"/>
              </a:lnSpc>
              <a:spcBef>
                <a:spcPct val="0"/>
              </a:spcBef>
              <a:buFont typeface="Wingdings" panose="05000000000000000000" charset="0"/>
              <a:buChar char="l"/>
            </a:pPr>
            <a:r>
              <a:rPr lang="zh-CN" altLang="en-US" sz="2000" b="1">
                <a:solidFill>
                  <a:srgbClr val="343333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特有密钥</a:t>
            </a:r>
            <a:r>
              <a:rPr lang="zh-CN" altLang="en-US" sz="2000">
                <a:solidFill>
                  <a:srgbClr val="343333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：拥有自己的公私钥对</a:t>
            </a:r>
            <a:r>
              <a:rPr lang="en-US" altLang="zh-CN" sz="2000">
                <a:solidFill>
                  <a:srgbClr val="343333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 </a:t>
            </a:r>
            <a:r>
              <a:rPr lang="zh-CN" altLang="en-US" sz="2000">
                <a:solidFill>
                  <a:srgbClr val="343333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，用于解密辅助信息</a:t>
            </a:r>
            <a:endParaRPr lang="zh-CN" altLang="en-US" sz="2000" b="1">
              <a:solidFill>
                <a:srgbClr val="343333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  <a:p>
            <a:pPr marL="342900" lvl="0" indent="-342900" algn="l">
              <a:lnSpc>
                <a:spcPts val="3000"/>
              </a:lnSpc>
              <a:spcBef>
                <a:spcPct val="0"/>
              </a:spcBef>
              <a:buFont typeface="Wingdings" panose="05000000000000000000" charset="0"/>
              <a:buChar char="l"/>
            </a:pPr>
            <a:r>
              <a:rPr lang="zh-CN" altLang="en-US" sz="2000" b="1">
                <a:solidFill>
                  <a:srgbClr val="343333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安全假设</a:t>
            </a:r>
            <a:r>
              <a:rPr lang="zh-CN" altLang="en-US" sz="2000">
                <a:solidFill>
                  <a:srgbClr val="343333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：能看到公开数据，但不主动篡改</a:t>
            </a:r>
            <a:endParaRPr lang="zh-CN" altLang="en-US" sz="2000">
              <a:solidFill>
                <a:srgbClr val="343333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75" name="TextBox 36"/>
          <p:cNvSpPr txBox="1"/>
          <p:nvPr>
            <p:custDataLst>
              <p:tags r:id="rId27"/>
            </p:custDataLst>
          </p:nvPr>
        </p:nvSpPr>
        <p:spPr>
          <a:xfrm>
            <a:off x="9607651" y="3945340"/>
            <a:ext cx="2730117" cy="384683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342900" lvl="0" indent="-342900" algn="l">
              <a:lnSpc>
                <a:spcPts val="3000"/>
              </a:lnSpc>
              <a:spcBef>
                <a:spcPct val="0"/>
              </a:spcBef>
              <a:buFont typeface="Wingdings" panose="05000000000000000000" charset="0"/>
              <a:buChar char="l"/>
            </a:pPr>
            <a:r>
              <a:rPr lang="zh-CN" altLang="en-US" sz="2000" b="1">
                <a:solidFill>
                  <a:srgbClr val="343333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职责</a:t>
            </a:r>
            <a:r>
              <a:rPr lang="zh-CN" altLang="en-US" sz="2000">
                <a:solidFill>
                  <a:srgbClr val="343333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：一组</a:t>
            </a:r>
            <a:r>
              <a:rPr lang="en-US" altLang="zh-CN" sz="2000">
                <a:solidFill>
                  <a:srgbClr val="343333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 t </a:t>
            </a:r>
            <a:r>
              <a:rPr lang="zh-CN" altLang="en-US" sz="2000">
                <a:solidFill>
                  <a:srgbClr val="343333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个受托人，共同持有</a:t>
            </a:r>
            <a:r>
              <a:rPr lang="en-US" altLang="zh-CN" sz="2000">
                <a:solidFill>
                  <a:srgbClr val="343333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 LWE </a:t>
            </a:r>
            <a:r>
              <a:rPr lang="zh-CN" altLang="en-US" sz="2000">
                <a:solidFill>
                  <a:srgbClr val="343333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解密私钥。计票时各自提供</a:t>
            </a:r>
            <a:r>
              <a:rPr lang="en-US" altLang="zh-CN" sz="2000">
                <a:solidFill>
                  <a:srgbClr val="343333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“</a:t>
            </a:r>
            <a:r>
              <a:rPr lang="zh-CN" altLang="en-US" sz="2000">
                <a:solidFill>
                  <a:srgbClr val="343333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密文陷门</a:t>
            </a:r>
            <a:r>
              <a:rPr lang="en-US" altLang="zh-CN" sz="2000">
                <a:solidFill>
                  <a:srgbClr val="343333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”</a:t>
            </a:r>
            <a:r>
              <a:rPr lang="zh-CN" altLang="en-US" sz="2000">
                <a:solidFill>
                  <a:srgbClr val="343333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作为部分解密证明</a:t>
            </a:r>
            <a:endParaRPr lang="zh-CN" altLang="en-US" sz="2000">
              <a:solidFill>
                <a:srgbClr val="343333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  <a:p>
            <a:pPr marL="342900" lvl="0" indent="-342900" algn="l">
              <a:lnSpc>
                <a:spcPts val="3000"/>
              </a:lnSpc>
              <a:spcBef>
                <a:spcPct val="0"/>
              </a:spcBef>
              <a:buFont typeface="Wingdings" panose="05000000000000000000" charset="0"/>
              <a:buChar char="l"/>
            </a:pPr>
            <a:r>
              <a:rPr lang="zh-CN" altLang="en-US" sz="2000" b="1">
                <a:solidFill>
                  <a:srgbClr val="343333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  <a:sym typeface="+mn-ea"/>
              </a:rPr>
              <a:t>特有密钥</a:t>
            </a:r>
            <a:r>
              <a:rPr lang="zh-CN" altLang="en-US" sz="2000">
                <a:solidFill>
                  <a:srgbClr val="343333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：每个受托人有自己的</a:t>
            </a:r>
            <a:r>
              <a:rPr lang="en-US" altLang="zh-CN" sz="2000">
                <a:solidFill>
                  <a:srgbClr val="343333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LWE</a:t>
            </a:r>
            <a:r>
              <a:rPr lang="zh-CN" altLang="en-US" sz="2000">
                <a:solidFill>
                  <a:srgbClr val="343333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密钥对和主陷门</a:t>
            </a:r>
            <a:endParaRPr lang="zh-CN" altLang="en-US" sz="2000" b="1">
              <a:solidFill>
                <a:srgbClr val="343333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  <a:p>
            <a:pPr marL="342900" lvl="0" indent="-342900" algn="l">
              <a:lnSpc>
                <a:spcPts val="3000"/>
              </a:lnSpc>
              <a:spcBef>
                <a:spcPct val="0"/>
              </a:spcBef>
              <a:buFont typeface="Wingdings" panose="05000000000000000000" charset="0"/>
              <a:buChar char="l"/>
            </a:pPr>
            <a:r>
              <a:rPr lang="zh-CN" altLang="en-US" sz="2000" b="1">
                <a:solidFill>
                  <a:srgbClr val="343333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安全假设</a:t>
            </a:r>
            <a:r>
              <a:rPr lang="zh-CN" altLang="en-US" sz="2000">
                <a:solidFill>
                  <a:srgbClr val="343333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：至少有一个受托人是诚实的</a:t>
            </a:r>
            <a:endParaRPr lang="zh-CN" altLang="en-US" sz="2000">
              <a:solidFill>
                <a:srgbClr val="343333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76" name="TextBox 36"/>
          <p:cNvSpPr txBox="1"/>
          <p:nvPr>
            <p:custDataLst>
              <p:tags r:id="rId28"/>
            </p:custDataLst>
          </p:nvPr>
        </p:nvSpPr>
        <p:spPr>
          <a:xfrm>
            <a:off x="13716101" y="4000585"/>
            <a:ext cx="2730117" cy="307784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342900" lvl="0" indent="-342900" algn="l">
              <a:lnSpc>
                <a:spcPts val="3000"/>
              </a:lnSpc>
              <a:spcBef>
                <a:spcPct val="0"/>
              </a:spcBef>
              <a:buFont typeface="Wingdings" panose="05000000000000000000" charset="0"/>
              <a:buChar char="l"/>
            </a:pPr>
            <a:r>
              <a:rPr lang="zh-CN" altLang="en-US" sz="2000" b="1">
                <a:solidFill>
                  <a:srgbClr val="343333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职责</a:t>
            </a:r>
            <a:r>
              <a:rPr lang="zh-CN" altLang="en-US" sz="2000">
                <a:solidFill>
                  <a:srgbClr val="343333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：将自己的投票选择编码并加密，用签名密钥签名后提交给公告板</a:t>
            </a:r>
            <a:endParaRPr lang="zh-CN" altLang="en-US" sz="2000" b="1">
              <a:solidFill>
                <a:srgbClr val="343333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  <a:p>
            <a:pPr marL="342900" lvl="0" indent="-342900" algn="l">
              <a:lnSpc>
                <a:spcPts val="3000"/>
              </a:lnSpc>
              <a:spcBef>
                <a:spcPct val="0"/>
              </a:spcBef>
              <a:buFont typeface="Wingdings" panose="05000000000000000000" charset="0"/>
              <a:buChar char="l"/>
            </a:pPr>
            <a:r>
              <a:rPr lang="zh-CN" altLang="en-US" sz="2000" b="1">
                <a:solidFill>
                  <a:srgbClr val="343333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特有凭证</a:t>
            </a:r>
            <a:r>
              <a:rPr lang="zh-CN" altLang="en-US" sz="2000">
                <a:solidFill>
                  <a:srgbClr val="343333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：从注册机构获得的签名密钥对</a:t>
            </a:r>
            <a:endParaRPr lang="en-US" altLang="zh-CN" sz="2000">
              <a:solidFill>
                <a:srgbClr val="343333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  <a:p>
            <a:pPr marL="342900" lvl="0" indent="-342900" algn="l">
              <a:lnSpc>
                <a:spcPts val="3000"/>
              </a:lnSpc>
              <a:spcBef>
                <a:spcPct val="0"/>
              </a:spcBef>
              <a:buFont typeface="Wingdings" panose="05000000000000000000" charset="0"/>
              <a:buChar char="l"/>
            </a:pPr>
            <a:r>
              <a:rPr lang="zh-CN" altLang="en-US" sz="2000" b="1">
                <a:solidFill>
                  <a:srgbClr val="343333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安全假设</a:t>
            </a:r>
            <a:r>
              <a:rPr lang="zh-CN" altLang="en-US" sz="2000">
                <a:solidFill>
                  <a:srgbClr val="343333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：不主动泄露私钥</a:t>
            </a:r>
            <a:endParaRPr lang="zh-CN" altLang="en-US" sz="2000">
              <a:solidFill>
                <a:srgbClr val="343333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41624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-524524" y="-175524"/>
            <a:ext cx="20998807" cy="10741067"/>
            <a:chOff x="0" y="0"/>
            <a:chExt cx="27998409" cy="14321423"/>
          </a:xfrm>
        </p:grpSpPr>
        <p:sp>
          <p:nvSpPr>
            <p:cNvPr id="3" name="Freeform 3"/>
            <p:cNvSpPr/>
            <p:nvPr/>
          </p:nvSpPr>
          <p:spPr>
            <a:xfrm>
              <a:off x="14357316" y="0"/>
              <a:ext cx="13641093" cy="14321423"/>
            </a:xfrm>
            <a:custGeom>
              <a:avLst/>
              <a:gdLst/>
              <a:ahLst/>
              <a:cxnLst/>
              <a:rect l="l" t="t" r="r" b="b"/>
              <a:pathLst>
                <a:path w="13641093" h="14321423">
                  <a:moveTo>
                    <a:pt x="0" y="0"/>
                  </a:moveTo>
                  <a:lnTo>
                    <a:pt x="13641093" y="0"/>
                  </a:lnTo>
                  <a:lnTo>
                    <a:pt x="13641093" y="14321423"/>
                  </a:lnTo>
                  <a:lnTo>
                    <a:pt x="0" y="1432142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">
                <a:alphaModFix amt="9999"/>
                <a:extLst>
                  <a:ext uri="{96DAC541-7B7A-43D3-8B79-37D633B846F1}">
                    <asvg:svgBlip xmlns:asvg="http://schemas.microsoft.com/office/drawing/2016/SVG/main" r:embed="rId2"/>
                  </a:ext>
                </a:extLst>
              </a:blip>
              <a:stretch>
                <a:fillRect r="-5250"/>
              </a:stretch>
            </a:blipFill>
          </p:spPr>
        </p:sp>
        <p:sp>
          <p:nvSpPr>
            <p:cNvPr id="4" name="Freeform 4"/>
            <p:cNvSpPr/>
            <p:nvPr/>
          </p:nvSpPr>
          <p:spPr>
            <a:xfrm>
              <a:off x="0" y="0"/>
              <a:ext cx="14357316" cy="14321423"/>
            </a:xfrm>
            <a:custGeom>
              <a:avLst/>
              <a:gdLst/>
              <a:ahLst/>
              <a:cxnLst/>
              <a:rect l="l" t="t" r="r" b="b"/>
              <a:pathLst>
                <a:path w="14357316" h="14321423">
                  <a:moveTo>
                    <a:pt x="0" y="0"/>
                  </a:moveTo>
                  <a:lnTo>
                    <a:pt x="14357316" y="0"/>
                  </a:lnTo>
                  <a:lnTo>
                    <a:pt x="14357316" y="14321423"/>
                  </a:lnTo>
                  <a:lnTo>
                    <a:pt x="0" y="1432142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">
                <a:alphaModFix amt="9999"/>
                <a:extLst>
                  <a:ext uri="{96DAC541-7B7A-43D3-8B79-37D633B846F1}">
                    <asvg:svgBlip xmlns:asvg="http://schemas.microsoft.com/office/drawing/2016/SVG/main" r:embed="rId2"/>
                  </a:ext>
                </a:extLst>
              </a:blip>
              <a:stretch>
                <a:fillRect/>
              </a:stretch>
            </a:blipFill>
            <a:ln cap="sq">
              <a:noFill/>
              <a:prstDash val="solid"/>
              <a:miter/>
            </a:ln>
          </p:spPr>
        </p:sp>
      </p:grpSp>
      <p:grpSp>
        <p:nvGrpSpPr>
          <p:cNvPr id="5" name="Group 5"/>
          <p:cNvGrpSpPr/>
          <p:nvPr/>
        </p:nvGrpSpPr>
        <p:grpSpPr>
          <a:xfrm>
            <a:off x="757944" y="1028700"/>
            <a:ext cx="17092120" cy="8680123"/>
            <a:chOff x="0" y="0"/>
            <a:chExt cx="4501628" cy="2286123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4501628" cy="2286123"/>
            </a:xfrm>
            <a:custGeom>
              <a:avLst/>
              <a:gdLst/>
              <a:ahLst/>
              <a:cxnLst/>
              <a:rect l="l" t="t" r="r" b="b"/>
              <a:pathLst>
                <a:path w="4501628" h="2286123">
                  <a:moveTo>
                    <a:pt x="0" y="0"/>
                  </a:moveTo>
                  <a:lnTo>
                    <a:pt x="4501628" y="0"/>
                  </a:lnTo>
                  <a:lnTo>
                    <a:pt x="4501628" y="2286123"/>
                  </a:lnTo>
                  <a:lnTo>
                    <a:pt x="0" y="2286123"/>
                  </a:lnTo>
                  <a:close/>
                </a:path>
              </a:pathLst>
            </a:custGeom>
            <a:solidFill>
              <a:srgbClr val="D1D5BA"/>
            </a:solidFill>
          </p:spPr>
        </p:sp>
        <p:sp>
          <p:nvSpPr>
            <p:cNvPr id="7" name="TextBox 7"/>
            <p:cNvSpPr txBox="1"/>
            <p:nvPr/>
          </p:nvSpPr>
          <p:spPr>
            <a:xfrm>
              <a:off x="0" y="-28575"/>
              <a:ext cx="4501628" cy="231469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60"/>
                </a:lnSpc>
                <a:spcBef>
                  <a:spcPct val="0"/>
                </a:spcBef>
              </a:pPr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456986" y="823891"/>
            <a:ext cx="17092120" cy="8746514"/>
            <a:chOff x="0" y="0"/>
            <a:chExt cx="4501628" cy="2303609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4501628" cy="2303609"/>
            </a:xfrm>
            <a:custGeom>
              <a:avLst/>
              <a:gdLst/>
              <a:ahLst/>
              <a:cxnLst/>
              <a:rect l="l" t="t" r="r" b="b"/>
              <a:pathLst>
                <a:path w="4501628" h="2303609">
                  <a:moveTo>
                    <a:pt x="0" y="0"/>
                  </a:moveTo>
                  <a:lnTo>
                    <a:pt x="4501628" y="0"/>
                  </a:lnTo>
                  <a:lnTo>
                    <a:pt x="4501628" y="2303609"/>
                  </a:lnTo>
                  <a:lnTo>
                    <a:pt x="0" y="2303609"/>
                  </a:lnTo>
                  <a:close/>
                </a:path>
              </a:pathLst>
            </a:custGeom>
            <a:solidFill>
              <a:srgbClr val="F5FAF4"/>
            </a:solidFill>
          </p:spPr>
        </p:sp>
        <p:sp>
          <p:nvSpPr>
            <p:cNvPr id="10" name="TextBox 10"/>
            <p:cNvSpPr txBox="1"/>
            <p:nvPr/>
          </p:nvSpPr>
          <p:spPr>
            <a:xfrm>
              <a:off x="0" y="-28575"/>
              <a:ext cx="4501628" cy="233218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60"/>
                </a:lnSpc>
                <a:spcBef>
                  <a:spcPct val="0"/>
                </a:spcBef>
              </a:pPr>
            </a:p>
          </p:txBody>
        </p:sp>
      </p:grpSp>
      <p:grpSp>
        <p:nvGrpSpPr>
          <p:cNvPr id="11" name="Group 11"/>
          <p:cNvGrpSpPr/>
          <p:nvPr/>
        </p:nvGrpSpPr>
        <p:grpSpPr>
          <a:xfrm>
            <a:off x="7586072" y="1565082"/>
            <a:ext cx="3115855" cy="217179"/>
            <a:chOff x="0" y="0"/>
            <a:chExt cx="820637" cy="57199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820637" cy="57199"/>
            </a:xfrm>
            <a:custGeom>
              <a:avLst/>
              <a:gdLst/>
              <a:ahLst/>
              <a:cxnLst/>
              <a:rect l="l" t="t" r="r" b="b"/>
              <a:pathLst>
                <a:path w="820637" h="57199">
                  <a:moveTo>
                    <a:pt x="28600" y="0"/>
                  </a:moveTo>
                  <a:lnTo>
                    <a:pt x="792037" y="0"/>
                  </a:lnTo>
                  <a:cubicBezTo>
                    <a:pt x="807832" y="0"/>
                    <a:pt x="820637" y="12805"/>
                    <a:pt x="820637" y="28600"/>
                  </a:cubicBezTo>
                  <a:lnTo>
                    <a:pt x="820637" y="28600"/>
                  </a:lnTo>
                  <a:cubicBezTo>
                    <a:pt x="820637" y="44395"/>
                    <a:pt x="807832" y="57199"/>
                    <a:pt x="792037" y="57199"/>
                  </a:cubicBezTo>
                  <a:lnTo>
                    <a:pt x="28600" y="57199"/>
                  </a:lnTo>
                  <a:cubicBezTo>
                    <a:pt x="12805" y="57199"/>
                    <a:pt x="0" y="44395"/>
                    <a:pt x="0" y="28600"/>
                  </a:cubicBezTo>
                  <a:lnTo>
                    <a:pt x="0" y="28600"/>
                  </a:lnTo>
                  <a:cubicBezTo>
                    <a:pt x="0" y="12805"/>
                    <a:pt x="12805" y="0"/>
                    <a:pt x="28600" y="0"/>
                  </a:cubicBezTo>
                  <a:close/>
                </a:path>
              </a:pathLst>
            </a:custGeom>
            <a:solidFill>
              <a:srgbClr val="D1D5BA"/>
            </a:solidFill>
          </p:spPr>
        </p:sp>
        <p:sp>
          <p:nvSpPr>
            <p:cNvPr id="13" name="TextBox 13"/>
            <p:cNvSpPr txBox="1"/>
            <p:nvPr/>
          </p:nvSpPr>
          <p:spPr>
            <a:xfrm>
              <a:off x="0" y="-47625"/>
              <a:ext cx="820637" cy="10482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895"/>
                </a:lnSpc>
              </a:pPr>
            </a:p>
          </p:txBody>
        </p:sp>
      </p:grpSp>
      <p:sp>
        <p:nvSpPr>
          <p:cNvPr id="14" name="TextBox 14"/>
          <p:cNvSpPr txBox="1"/>
          <p:nvPr/>
        </p:nvSpPr>
        <p:spPr>
          <a:xfrm>
            <a:off x="7586072" y="945175"/>
            <a:ext cx="3115855" cy="8077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6300"/>
              </a:lnSpc>
              <a:spcBef>
                <a:spcPct val="0"/>
              </a:spcBef>
            </a:pPr>
            <a:r>
              <a:rPr lang="zh-CN" altLang="en-US" sz="4200" spc="420">
                <a:solidFill>
                  <a:srgbClr val="343333"/>
                </a:solidFill>
                <a:ea typeface="华文中宋" panose="02010600040101010101" charset="-122"/>
              </a:rPr>
              <a:t>协议</a:t>
            </a:r>
            <a:r>
              <a:rPr lang="zh-CN" altLang="en-US" sz="4200" spc="420">
                <a:solidFill>
                  <a:srgbClr val="343333"/>
                </a:solidFill>
                <a:ea typeface="华文中宋" panose="02010600040101010101" charset="-122"/>
              </a:rPr>
              <a:t>流程</a:t>
            </a:r>
            <a:endParaRPr lang="zh-CN" altLang="en-US" sz="4200" spc="420">
              <a:solidFill>
                <a:srgbClr val="343333"/>
              </a:solidFill>
              <a:ea typeface="华文中宋" panose="02010600040101010101" charset="-122"/>
            </a:endParaRPr>
          </a:p>
        </p:txBody>
      </p:sp>
      <p:sp>
        <p:nvSpPr>
          <p:cNvPr id="15" name="圆角矩形 14"/>
          <p:cNvSpPr/>
          <p:nvPr/>
        </p:nvSpPr>
        <p:spPr>
          <a:xfrm>
            <a:off x="533400" y="3111500"/>
            <a:ext cx="2983230" cy="5029200"/>
          </a:xfrm>
          <a:prstGeom prst="roundRect">
            <a:avLst/>
          </a:prstGeom>
          <a:solidFill>
            <a:schemeClr val="accent3">
              <a:lumMod val="40000"/>
              <a:lumOff val="60000"/>
            </a:schemeClr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 sz="4800"/>
          </a:p>
        </p:txBody>
      </p:sp>
      <p:sp>
        <p:nvSpPr>
          <p:cNvPr id="41" name="文本框 40"/>
          <p:cNvSpPr txBox="1"/>
          <p:nvPr/>
        </p:nvSpPr>
        <p:spPr>
          <a:xfrm>
            <a:off x="605790" y="4381500"/>
            <a:ext cx="859790" cy="2606675"/>
          </a:xfrm>
          <a:prstGeom prst="rect">
            <a:avLst/>
          </a:prstGeom>
          <a:noFill/>
        </p:spPr>
        <p:txBody>
          <a:bodyPr vert="eaVert" wrap="square" rtlCol="0">
            <a:spAutoFit/>
          </a:bodyPr>
          <a:p>
            <a:r>
              <a:rPr lang="zh-CN" altLang="en-US" sz="4400"/>
              <a:t>系统建立</a:t>
            </a:r>
            <a:endParaRPr lang="zh-CN" altLang="en-US" sz="4400"/>
          </a:p>
        </p:txBody>
      </p:sp>
      <p:sp>
        <p:nvSpPr>
          <p:cNvPr id="42" name="圆角矩形 41"/>
          <p:cNvSpPr/>
          <p:nvPr/>
        </p:nvSpPr>
        <p:spPr>
          <a:xfrm>
            <a:off x="1295400" y="3695700"/>
            <a:ext cx="2145030" cy="685800"/>
          </a:xfrm>
          <a:prstGeom prst="roundRect">
            <a:avLst/>
          </a:prstGeom>
          <a:solidFill>
            <a:srgbClr val="41624D"/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2400"/>
              <a:t>公告板生成公私钥对</a:t>
            </a:r>
            <a:endParaRPr lang="zh-CN" altLang="en-US" sz="2400"/>
          </a:p>
        </p:txBody>
      </p:sp>
      <p:sp>
        <p:nvSpPr>
          <p:cNvPr id="43" name="圆角矩形 42"/>
          <p:cNvSpPr/>
          <p:nvPr/>
        </p:nvSpPr>
        <p:spPr>
          <a:xfrm>
            <a:off x="1295400" y="5219700"/>
            <a:ext cx="2145030" cy="685800"/>
          </a:xfrm>
          <a:prstGeom prst="roundRect">
            <a:avLst/>
          </a:prstGeom>
          <a:solidFill>
            <a:srgbClr val="41624D"/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2400"/>
              <a:t>受托人生成公私钥对</a:t>
            </a:r>
            <a:endParaRPr lang="zh-CN" altLang="en-US" sz="2400"/>
          </a:p>
        </p:txBody>
      </p:sp>
      <p:sp>
        <p:nvSpPr>
          <p:cNvPr id="44" name="圆角矩形 43"/>
          <p:cNvSpPr/>
          <p:nvPr/>
        </p:nvSpPr>
        <p:spPr>
          <a:xfrm>
            <a:off x="1295400" y="6515100"/>
            <a:ext cx="2145030" cy="1103630"/>
          </a:xfrm>
          <a:prstGeom prst="roundRect">
            <a:avLst/>
          </a:prstGeom>
          <a:solidFill>
            <a:srgbClr val="41624D"/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2400"/>
              <a:t>系统公布公开参数和空白选民</a:t>
            </a:r>
            <a:r>
              <a:rPr lang="zh-CN" altLang="en-US" sz="2400"/>
              <a:t>名单</a:t>
            </a:r>
            <a:endParaRPr lang="zh-CN" altLang="en-US" sz="2400"/>
          </a:p>
        </p:txBody>
      </p:sp>
      <p:sp>
        <p:nvSpPr>
          <p:cNvPr id="45" name="圆角矩形 44"/>
          <p:cNvSpPr/>
          <p:nvPr/>
        </p:nvSpPr>
        <p:spPr>
          <a:xfrm>
            <a:off x="3886200" y="3111500"/>
            <a:ext cx="2983230" cy="5029200"/>
          </a:xfrm>
          <a:prstGeom prst="roundRect">
            <a:avLst/>
          </a:prstGeom>
          <a:solidFill>
            <a:schemeClr val="accent3">
              <a:lumMod val="40000"/>
              <a:lumOff val="60000"/>
            </a:schemeClr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 sz="4800"/>
          </a:p>
        </p:txBody>
      </p:sp>
      <p:sp>
        <p:nvSpPr>
          <p:cNvPr id="46" name="文本框 45"/>
          <p:cNvSpPr txBox="1"/>
          <p:nvPr/>
        </p:nvSpPr>
        <p:spPr>
          <a:xfrm>
            <a:off x="3958590" y="4381500"/>
            <a:ext cx="859790" cy="2606675"/>
          </a:xfrm>
          <a:prstGeom prst="rect">
            <a:avLst/>
          </a:prstGeom>
          <a:noFill/>
        </p:spPr>
        <p:txBody>
          <a:bodyPr vert="eaVert" wrap="square" rtlCol="0">
            <a:spAutoFit/>
          </a:bodyPr>
          <a:p>
            <a:r>
              <a:rPr lang="zh-CN" altLang="en-US" sz="4400"/>
              <a:t>选民</a:t>
            </a:r>
            <a:r>
              <a:rPr lang="zh-CN" altLang="en-US" sz="4400"/>
              <a:t>注册</a:t>
            </a:r>
            <a:endParaRPr lang="zh-CN" altLang="en-US" sz="4400"/>
          </a:p>
        </p:txBody>
      </p:sp>
      <p:sp>
        <p:nvSpPr>
          <p:cNvPr id="47" name="圆角矩形 46"/>
          <p:cNvSpPr/>
          <p:nvPr/>
        </p:nvSpPr>
        <p:spPr>
          <a:xfrm>
            <a:off x="4648200" y="3695700"/>
            <a:ext cx="2145030" cy="685800"/>
          </a:xfrm>
          <a:prstGeom prst="roundRect">
            <a:avLst/>
          </a:prstGeom>
          <a:solidFill>
            <a:srgbClr val="41624D"/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2400"/>
              <a:t>选民向注册机构提供</a:t>
            </a:r>
            <a:r>
              <a:rPr lang="zh-CN" altLang="en-US" sz="2400"/>
              <a:t>身份</a:t>
            </a:r>
            <a:endParaRPr lang="zh-CN" altLang="en-US" sz="2400"/>
          </a:p>
        </p:txBody>
      </p:sp>
      <p:sp>
        <p:nvSpPr>
          <p:cNvPr id="48" name="圆角矩形 47"/>
          <p:cNvSpPr/>
          <p:nvPr/>
        </p:nvSpPr>
        <p:spPr>
          <a:xfrm>
            <a:off x="4648200" y="5219700"/>
            <a:ext cx="2145030" cy="685800"/>
          </a:xfrm>
          <a:prstGeom prst="roundRect">
            <a:avLst/>
          </a:prstGeom>
          <a:solidFill>
            <a:srgbClr val="41624D"/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2400"/>
              <a:t>注册机构为其生成</a:t>
            </a:r>
            <a:r>
              <a:rPr lang="zh-CN" altLang="en-US" sz="2400"/>
              <a:t>公私钥</a:t>
            </a:r>
            <a:endParaRPr lang="zh-CN" altLang="en-US" sz="2400"/>
          </a:p>
        </p:txBody>
      </p:sp>
      <p:sp>
        <p:nvSpPr>
          <p:cNvPr id="49" name="圆角矩形 48"/>
          <p:cNvSpPr/>
          <p:nvPr/>
        </p:nvSpPr>
        <p:spPr>
          <a:xfrm>
            <a:off x="4648200" y="6515100"/>
            <a:ext cx="2145030" cy="1103630"/>
          </a:xfrm>
          <a:prstGeom prst="roundRect">
            <a:avLst/>
          </a:prstGeom>
          <a:solidFill>
            <a:srgbClr val="41624D"/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2400"/>
              <a:t>公钥加入选民名单，并交付签名</a:t>
            </a:r>
            <a:r>
              <a:rPr lang="zh-CN" altLang="en-US" sz="2400"/>
              <a:t>密钥</a:t>
            </a:r>
            <a:endParaRPr lang="zh-CN" altLang="en-US" sz="2400"/>
          </a:p>
        </p:txBody>
      </p:sp>
      <p:sp>
        <p:nvSpPr>
          <p:cNvPr id="50" name="圆角矩形 49"/>
          <p:cNvSpPr/>
          <p:nvPr/>
        </p:nvSpPr>
        <p:spPr>
          <a:xfrm>
            <a:off x="7467600" y="3111500"/>
            <a:ext cx="2983230" cy="5029200"/>
          </a:xfrm>
          <a:prstGeom prst="roundRect">
            <a:avLst/>
          </a:prstGeom>
          <a:solidFill>
            <a:schemeClr val="accent3">
              <a:lumMod val="40000"/>
              <a:lumOff val="60000"/>
            </a:schemeClr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 sz="4800"/>
          </a:p>
        </p:txBody>
      </p:sp>
      <p:sp>
        <p:nvSpPr>
          <p:cNvPr id="51" name="文本框 50"/>
          <p:cNvSpPr txBox="1"/>
          <p:nvPr/>
        </p:nvSpPr>
        <p:spPr>
          <a:xfrm>
            <a:off x="7315200" y="4381500"/>
            <a:ext cx="859790" cy="2606675"/>
          </a:xfrm>
          <a:prstGeom prst="rect">
            <a:avLst/>
          </a:prstGeom>
          <a:noFill/>
        </p:spPr>
        <p:txBody>
          <a:bodyPr vert="eaVert" wrap="square" rtlCol="0">
            <a:spAutoFit/>
          </a:bodyPr>
          <a:p>
            <a:pPr algn="ctr"/>
            <a:r>
              <a:rPr lang="zh-CN" altLang="en-US" sz="4400"/>
              <a:t>投票</a:t>
            </a:r>
            <a:endParaRPr lang="zh-CN" altLang="en-US" sz="4400"/>
          </a:p>
        </p:txBody>
      </p:sp>
      <p:sp>
        <p:nvSpPr>
          <p:cNvPr id="52" name="圆角矩形 51"/>
          <p:cNvSpPr/>
          <p:nvPr/>
        </p:nvSpPr>
        <p:spPr>
          <a:xfrm>
            <a:off x="8077200" y="3695700"/>
            <a:ext cx="2145030" cy="685800"/>
          </a:xfrm>
          <a:prstGeom prst="roundRect">
            <a:avLst/>
          </a:prstGeom>
          <a:solidFill>
            <a:srgbClr val="41624D"/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2400"/>
              <a:t>选民加密自己的投票选择</a:t>
            </a:r>
            <a:endParaRPr lang="zh-CN" altLang="en-US" sz="2400"/>
          </a:p>
        </p:txBody>
      </p:sp>
      <p:sp>
        <p:nvSpPr>
          <p:cNvPr id="53" name="圆角矩形 52"/>
          <p:cNvSpPr/>
          <p:nvPr/>
        </p:nvSpPr>
        <p:spPr>
          <a:xfrm>
            <a:off x="8077200" y="4678680"/>
            <a:ext cx="2145030" cy="1704975"/>
          </a:xfrm>
          <a:prstGeom prst="roundRect">
            <a:avLst/>
          </a:prstGeom>
          <a:solidFill>
            <a:srgbClr val="41624D"/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2400"/>
              <a:t>对用公告板公钥加密的选票</a:t>
            </a:r>
            <a:r>
              <a:rPr lang="en-US" altLang="zh-CN" sz="2400"/>
              <a:t>(</a:t>
            </a:r>
            <a:r>
              <a:rPr lang="zh-CN" altLang="en-US" sz="2400"/>
              <a:t>含辅助信息</a:t>
            </a:r>
            <a:r>
              <a:rPr lang="en-US" altLang="zh-CN" sz="2400"/>
              <a:t>)</a:t>
            </a:r>
            <a:r>
              <a:rPr lang="zh-CN" altLang="en-US" sz="2400"/>
              <a:t>签名</a:t>
            </a:r>
            <a:endParaRPr lang="zh-CN" altLang="en-US" sz="2400"/>
          </a:p>
        </p:txBody>
      </p:sp>
      <p:sp>
        <p:nvSpPr>
          <p:cNvPr id="54" name="圆角矩形 53"/>
          <p:cNvSpPr/>
          <p:nvPr/>
        </p:nvSpPr>
        <p:spPr>
          <a:xfrm>
            <a:off x="8077200" y="6690360"/>
            <a:ext cx="2145030" cy="732155"/>
          </a:xfrm>
          <a:prstGeom prst="roundRect">
            <a:avLst/>
          </a:prstGeom>
          <a:solidFill>
            <a:srgbClr val="41624D"/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2400"/>
              <a:t>将选票发送给公告板</a:t>
            </a:r>
            <a:endParaRPr lang="en-US" altLang="zh-CN" sz="2400"/>
          </a:p>
        </p:txBody>
      </p:sp>
      <p:sp>
        <p:nvSpPr>
          <p:cNvPr id="55" name="圆角矩形 54"/>
          <p:cNvSpPr/>
          <p:nvPr/>
        </p:nvSpPr>
        <p:spPr>
          <a:xfrm>
            <a:off x="10972800" y="3048000"/>
            <a:ext cx="2983230" cy="5029200"/>
          </a:xfrm>
          <a:prstGeom prst="roundRect">
            <a:avLst/>
          </a:prstGeom>
          <a:solidFill>
            <a:schemeClr val="accent3">
              <a:lumMod val="40000"/>
              <a:lumOff val="60000"/>
            </a:schemeClr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 sz="4800"/>
          </a:p>
        </p:txBody>
      </p:sp>
      <p:sp>
        <p:nvSpPr>
          <p:cNvPr id="56" name="文本框 55"/>
          <p:cNvSpPr txBox="1"/>
          <p:nvPr/>
        </p:nvSpPr>
        <p:spPr>
          <a:xfrm>
            <a:off x="10972800" y="3089910"/>
            <a:ext cx="859790" cy="4987925"/>
          </a:xfrm>
          <a:prstGeom prst="rect">
            <a:avLst/>
          </a:prstGeom>
          <a:noFill/>
        </p:spPr>
        <p:txBody>
          <a:bodyPr vert="eaVert" wrap="square" rtlCol="0">
            <a:spAutoFit/>
          </a:bodyPr>
          <a:p>
            <a:pPr algn="ctr"/>
            <a:r>
              <a:rPr lang="zh-CN" altLang="en-US" sz="4400"/>
              <a:t>公告板处理</a:t>
            </a:r>
            <a:r>
              <a:rPr lang="zh-CN" altLang="en-US" sz="4400"/>
              <a:t>选票</a:t>
            </a:r>
            <a:endParaRPr lang="zh-CN" altLang="en-US" sz="4400"/>
          </a:p>
        </p:txBody>
      </p:sp>
      <p:sp>
        <p:nvSpPr>
          <p:cNvPr id="57" name="圆角矩形 56"/>
          <p:cNvSpPr/>
          <p:nvPr/>
        </p:nvSpPr>
        <p:spPr>
          <a:xfrm>
            <a:off x="11734800" y="3517900"/>
            <a:ext cx="2145030" cy="1320165"/>
          </a:xfrm>
          <a:prstGeom prst="roundRect">
            <a:avLst/>
          </a:prstGeom>
          <a:solidFill>
            <a:srgbClr val="41624D"/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2400"/>
              <a:t>公告板验证选民签名、解密</a:t>
            </a:r>
            <a:r>
              <a:rPr lang="zh-CN" altLang="en-US" sz="2400"/>
              <a:t>验证辅助</a:t>
            </a:r>
            <a:r>
              <a:rPr lang="zh-CN" altLang="en-US" sz="2400"/>
              <a:t>信息</a:t>
            </a:r>
            <a:endParaRPr lang="zh-CN" altLang="en-US" sz="2400"/>
          </a:p>
        </p:txBody>
      </p:sp>
      <p:sp>
        <p:nvSpPr>
          <p:cNvPr id="59" name="圆角矩形 58"/>
          <p:cNvSpPr/>
          <p:nvPr/>
        </p:nvSpPr>
        <p:spPr>
          <a:xfrm>
            <a:off x="11734800" y="5583555"/>
            <a:ext cx="2145030" cy="1971675"/>
          </a:xfrm>
          <a:prstGeom prst="roundRect">
            <a:avLst/>
          </a:prstGeom>
          <a:solidFill>
            <a:srgbClr val="41624D"/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2400"/>
              <a:t>投票结束后，使用同态加密的方法计算候选人</a:t>
            </a:r>
            <a:r>
              <a:rPr lang="zh-CN" altLang="en-US" sz="2400"/>
              <a:t>选票</a:t>
            </a:r>
            <a:endParaRPr lang="zh-CN" altLang="en-US" sz="2400"/>
          </a:p>
        </p:txBody>
      </p:sp>
      <p:sp>
        <p:nvSpPr>
          <p:cNvPr id="65" name="圆角矩形 64"/>
          <p:cNvSpPr/>
          <p:nvPr/>
        </p:nvSpPr>
        <p:spPr>
          <a:xfrm>
            <a:off x="14478000" y="3048000"/>
            <a:ext cx="2983230" cy="5029200"/>
          </a:xfrm>
          <a:prstGeom prst="roundRect">
            <a:avLst/>
          </a:prstGeom>
          <a:solidFill>
            <a:schemeClr val="accent3">
              <a:lumMod val="40000"/>
              <a:lumOff val="60000"/>
            </a:schemeClr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 sz="4800"/>
          </a:p>
        </p:txBody>
      </p:sp>
      <p:sp>
        <p:nvSpPr>
          <p:cNvPr id="66" name="文本框 65"/>
          <p:cNvSpPr txBox="1"/>
          <p:nvPr/>
        </p:nvSpPr>
        <p:spPr>
          <a:xfrm>
            <a:off x="14401800" y="3048000"/>
            <a:ext cx="859790" cy="4989195"/>
          </a:xfrm>
          <a:prstGeom prst="rect">
            <a:avLst/>
          </a:prstGeom>
          <a:noFill/>
        </p:spPr>
        <p:txBody>
          <a:bodyPr vert="eaVert" wrap="square" rtlCol="0">
            <a:spAutoFit/>
          </a:bodyPr>
          <a:p>
            <a:pPr algn="ctr"/>
            <a:r>
              <a:rPr lang="zh-CN" altLang="en-US" sz="4400"/>
              <a:t>计票与验证</a:t>
            </a:r>
            <a:endParaRPr lang="zh-CN" altLang="en-US" sz="4400"/>
          </a:p>
        </p:txBody>
      </p:sp>
      <p:sp>
        <p:nvSpPr>
          <p:cNvPr id="67" name="圆角矩形 66"/>
          <p:cNvSpPr/>
          <p:nvPr/>
        </p:nvSpPr>
        <p:spPr>
          <a:xfrm>
            <a:off x="15261590" y="3543300"/>
            <a:ext cx="2145030" cy="2409825"/>
          </a:xfrm>
          <a:prstGeom prst="roundRect">
            <a:avLst/>
          </a:prstGeom>
          <a:solidFill>
            <a:srgbClr val="41624D"/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2400"/>
              <a:t>受托人用自己解密密钥对最终密文生成一份解密证明并公开，</a:t>
            </a:r>
            <a:r>
              <a:rPr lang="zh-CN" altLang="en-US" sz="2400"/>
              <a:t>可验证</a:t>
            </a:r>
            <a:endParaRPr lang="zh-CN" altLang="en-US" sz="2400"/>
          </a:p>
        </p:txBody>
      </p:sp>
      <p:sp>
        <p:nvSpPr>
          <p:cNvPr id="69" name="圆角矩形 68"/>
          <p:cNvSpPr/>
          <p:nvPr/>
        </p:nvSpPr>
        <p:spPr>
          <a:xfrm>
            <a:off x="15240000" y="6323330"/>
            <a:ext cx="2145030" cy="1374140"/>
          </a:xfrm>
          <a:prstGeom prst="roundRect">
            <a:avLst/>
          </a:prstGeom>
          <a:solidFill>
            <a:srgbClr val="41624D"/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2400"/>
              <a:t>全部有效则可得票数；无效证明受托人</a:t>
            </a:r>
            <a:r>
              <a:rPr lang="zh-CN" altLang="en-US" sz="2400"/>
              <a:t>不诚实</a:t>
            </a:r>
            <a:endParaRPr lang="zh-CN" altLang="en-US" sz="2400"/>
          </a:p>
        </p:txBody>
      </p:sp>
      <p:grpSp>
        <p:nvGrpSpPr>
          <p:cNvPr id="97" name="Group 23"/>
          <p:cNvGrpSpPr/>
          <p:nvPr/>
        </p:nvGrpSpPr>
        <p:grpSpPr>
          <a:xfrm>
            <a:off x="1588495" y="2248040"/>
            <a:ext cx="1067753" cy="1067753"/>
            <a:chOff x="0" y="0"/>
            <a:chExt cx="812800" cy="812800"/>
          </a:xfrm>
        </p:grpSpPr>
        <p:sp>
          <p:nvSpPr>
            <p:cNvPr id="98" name="Freeform 24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41624D"/>
            </a:solidFill>
          </p:spPr>
        </p:sp>
        <p:sp>
          <p:nvSpPr>
            <p:cNvPr id="99" name="TextBox 25"/>
            <p:cNvSpPr txBox="1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60"/>
                </a:lnSpc>
              </a:pPr>
            </a:p>
          </p:txBody>
        </p:sp>
      </p:grpSp>
      <p:sp>
        <p:nvSpPr>
          <p:cNvPr id="100" name="TextBox 38"/>
          <p:cNvSpPr txBox="1"/>
          <p:nvPr/>
        </p:nvSpPr>
        <p:spPr>
          <a:xfrm>
            <a:off x="1770864" y="2345760"/>
            <a:ext cx="661822" cy="69069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995"/>
              </a:lnSpc>
            </a:pPr>
            <a:r>
              <a:rPr lang="en-US" sz="3465">
                <a:solidFill>
                  <a:srgbClr val="FFFFFF"/>
                </a:solidFill>
                <a:latin typeface="方正大黑体_GBK" panose="02010600010101010101" charset="-122"/>
              </a:rPr>
              <a:t>01</a:t>
            </a:r>
            <a:endParaRPr lang="en-US" sz="3465">
              <a:solidFill>
                <a:srgbClr val="FFFFFF"/>
              </a:solidFill>
              <a:latin typeface="方正大黑体_GBK" panose="02010600010101010101" charset="-122"/>
            </a:endParaRPr>
          </a:p>
        </p:txBody>
      </p:sp>
      <p:grpSp>
        <p:nvGrpSpPr>
          <p:cNvPr id="101" name="Group 23"/>
          <p:cNvGrpSpPr/>
          <p:nvPr/>
        </p:nvGrpSpPr>
        <p:grpSpPr>
          <a:xfrm>
            <a:off x="4818105" y="2171840"/>
            <a:ext cx="1067753" cy="1067753"/>
            <a:chOff x="0" y="0"/>
            <a:chExt cx="812800" cy="812800"/>
          </a:xfrm>
        </p:grpSpPr>
        <p:sp>
          <p:nvSpPr>
            <p:cNvPr id="102" name="Freeform 24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41624D"/>
            </a:solidFill>
          </p:spPr>
        </p:sp>
        <p:sp>
          <p:nvSpPr>
            <p:cNvPr id="103" name="TextBox 25"/>
            <p:cNvSpPr txBox="1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60"/>
                </a:lnSpc>
              </a:pPr>
            </a:p>
          </p:txBody>
        </p:sp>
      </p:grpSp>
      <p:sp>
        <p:nvSpPr>
          <p:cNvPr id="104" name="TextBox 38"/>
          <p:cNvSpPr txBox="1"/>
          <p:nvPr/>
        </p:nvSpPr>
        <p:spPr>
          <a:xfrm>
            <a:off x="5000474" y="2269560"/>
            <a:ext cx="661822" cy="7683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995"/>
              </a:lnSpc>
            </a:pPr>
            <a:r>
              <a:rPr lang="en-US" sz="3465">
                <a:solidFill>
                  <a:srgbClr val="FFFFFF"/>
                </a:solidFill>
                <a:latin typeface="方正大黑体_GBK" panose="02010600010101010101" charset="-122"/>
              </a:rPr>
              <a:t>02</a:t>
            </a:r>
            <a:endParaRPr lang="en-US" sz="3465">
              <a:solidFill>
                <a:srgbClr val="FFFFFF"/>
              </a:solidFill>
              <a:latin typeface="方正大黑体_GBK" panose="02010600010101010101" charset="-122"/>
            </a:endParaRPr>
          </a:p>
        </p:txBody>
      </p:sp>
      <p:grpSp>
        <p:nvGrpSpPr>
          <p:cNvPr id="105" name="Group 23"/>
          <p:cNvGrpSpPr/>
          <p:nvPr/>
        </p:nvGrpSpPr>
        <p:grpSpPr>
          <a:xfrm>
            <a:off x="8510630" y="2248040"/>
            <a:ext cx="1067753" cy="1067753"/>
            <a:chOff x="0" y="0"/>
            <a:chExt cx="812800" cy="812800"/>
          </a:xfrm>
        </p:grpSpPr>
        <p:sp>
          <p:nvSpPr>
            <p:cNvPr id="106" name="Freeform 24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41624D"/>
            </a:solidFill>
          </p:spPr>
        </p:sp>
        <p:sp>
          <p:nvSpPr>
            <p:cNvPr id="107" name="TextBox 25"/>
            <p:cNvSpPr txBox="1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60"/>
                </a:lnSpc>
              </a:pPr>
            </a:p>
          </p:txBody>
        </p:sp>
      </p:grpSp>
      <p:sp>
        <p:nvSpPr>
          <p:cNvPr id="108" name="TextBox 38"/>
          <p:cNvSpPr txBox="1"/>
          <p:nvPr/>
        </p:nvSpPr>
        <p:spPr>
          <a:xfrm>
            <a:off x="8713319" y="2324170"/>
            <a:ext cx="661822" cy="7683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995"/>
              </a:lnSpc>
            </a:pPr>
            <a:r>
              <a:rPr lang="en-US" sz="3465">
                <a:solidFill>
                  <a:srgbClr val="FFFFFF"/>
                </a:solidFill>
                <a:latin typeface="方正大黑体_GBK" panose="02010600010101010101" charset="-122"/>
              </a:rPr>
              <a:t>03</a:t>
            </a:r>
            <a:endParaRPr lang="en-US" sz="3465">
              <a:solidFill>
                <a:srgbClr val="FFFFFF"/>
              </a:solidFill>
              <a:latin typeface="方正大黑体_GBK" panose="02010600010101010101" charset="-122"/>
            </a:endParaRPr>
          </a:p>
        </p:txBody>
      </p:sp>
      <p:grpSp>
        <p:nvGrpSpPr>
          <p:cNvPr id="109" name="Group 23"/>
          <p:cNvGrpSpPr/>
          <p:nvPr/>
        </p:nvGrpSpPr>
        <p:grpSpPr>
          <a:xfrm>
            <a:off x="11951060" y="2171840"/>
            <a:ext cx="1067753" cy="1067753"/>
            <a:chOff x="0" y="0"/>
            <a:chExt cx="812800" cy="812800"/>
          </a:xfrm>
        </p:grpSpPr>
        <p:sp>
          <p:nvSpPr>
            <p:cNvPr id="110" name="Freeform 24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41624D"/>
            </a:solidFill>
          </p:spPr>
        </p:sp>
        <p:sp>
          <p:nvSpPr>
            <p:cNvPr id="111" name="TextBox 25"/>
            <p:cNvSpPr txBox="1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60"/>
                </a:lnSpc>
              </a:pPr>
            </a:p>
          </p:txBody>
        </p:sp>
      </p:grpSp>
      <p:sp>
        <p:nvSpPr>
          <p:cNvPr id="112" name="TextBox 38"/>
          <p:cNvSpPr txBox="1"/>
          <p:nvPr/>
        </p:nvSpPr>
        <p:spPr>
          <a:xfrm>
            <a:off x="12133429" y="2269560"/>
            <a:ext cx="661822" cy="7683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995"/>
              </a:lnSpc>
            </a:pPr>
            <a:r>
              <a:rPr lang="en-US" sz="3465">
                <a:solidFill>
                  <a:srgbClr val="FFFFFF"/>
                </a:solidFill>
                <a:latin typeface="方正大黑体_GBK" panose="02010600010101010101" charset="-122"/>
              </a:rPr>
              <a:t>04</a:t>
            </a:r>
            <a:endParaRPr lang="en-US" sz="3465">
              <a:solidFill>
                <a:srgbClr val="FFFFFF"/>
              </a:solidFill>
              <a:latin typeface="方正大黑体_GBK" panose="02010600010101010101" charset="-122"/>
            </a:endParaRPr>
          </a:p>
        </p:txBody>
      </p:sp>
      <p:grpSp>
        <p:nvGrpSpPr>
          <p:cNvPr id="113" name="Group 23"/>
          <p:cNvGrpSpPr/>
          <p:nvPr/>
        </p:nvGrpSpPr>
        <p:grpSpPr>
          <a:xfrm>
            <a:off x="15544525" y="2147710"/>
            <a:ext cx="1067753" cy="1067753"/>
            <a:chOff x="0" y="0"/>
            <a:chExt cx="812800" cy="812800"/>
          </a:xfrm>
        </p:grpSpPr>
        <p:sp>
          <p:nvSpPr>
            <p:cNvPr id="114" name="Freeform 24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41624D"/>
            </a:solidFill>
          </p:spPr>
        </p:sp>
        <p:sp>
          <p:nvSpPr>
            <p:cNvPr id="115" name="TextBox 25"/>
            <p:cNvSpPr txBox="1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60"/>
                </a:lnSpc>
              </a:pPr>
            </a:p>
          </p:txBody>
        </p:sp>
      </p:grpSp>
      <p:sp>
        <p:nvSpPr>
          <p:cNvPr id="116" name="TextBox 38"/>
          <p:cNvSpPr txBox="1"/>
          <p:nvPr/>
        </p:nvSpPr>
        <p:spPr>
          <a:xfrm>
            <a:off x="15726894" y="2245430"/>
            <a:ext cx="661822" cy="7683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995"/>
              </a:lnSpc>
            </a:pPr>
            <a:r>
              <a:rPr lang="en-US" sz="3465">
                <a:solidFill>
                  <a:srgbClr val="FFFFFF"/>
                </a:solidFill>
                <a:latin typeface="方正大黑体_GBK" panose="02010600010101010101" charset="-122"/>
              </a:rPr>
              <a:t>05</a:t>
            </a:r>
            <a:endParaRPr lang="en-US" sz="3465">
              <a:solidFill>
                <a:srgbClr val="FFFFFF"/>
              </a:solidFill>
              <a:latin typeface="方正大黑体_GBK" panose="02010600010101010101" charset="-122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D1D5B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078580" y="1138069"/>
            <a:ext cx="15916463" cy="8010861"/>
            <a:chOff x="0" y="0"/>
            <a:chExt cx="4191990" cy="2109856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4191990" cy="2109856"/>
            </a:xfrm>
            <a:custGeom>
              <a:avLst/>
              <a:gdLst/>
              <a:ahLst/>
              <a:cxnLst/>
              <a:rect l="l" t="t" r="r" b="b"/>
              <a:pathLst>
                <a:path w="4191990" h="2109856">
                  <a:moveTo>
                    <a:pt x="0" y="0"/>
                  </a:moveTo>
                  <a:lnTo>
                    <a:pt x="4191990" y="0"/>
                  </a:lnTo>
                  <a:lnTo>
                    <a:pt x="4191990" y="2109856"/>
                  </a:lnTo>
                  <a:lnTo>
                    <a:pt x="0" y="2109856"/>
                  </a:lnTo>
                  <a:close/>
                </a:path>
              </a:pathLst>
            </a:custGeom>
            <a:solidFill>
              <a:srgbClr val="F5FAF4"/>
            </a:solidFill>
          </p:spPr>
        </p:sp>
        <p:sp>
          <p:nvSpPr>
            <p:cNvPr id="4" name="TextBox 4"/>
            <p:cNvSpPr txBox="1"/>
            <p:nvPr/>
          </p:nvSpPr>
          <p:spPr>
            <a:xfrm>
              <a:off x="0" y="-28575"/>
              <a:ext cx="4191990" cy="213843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60"/>
                </a:lnSpc>
                <a:spcBef>
                  <a:spcPct val="0"/>
                </a:spcBef>
              </a:pPr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1078580" y="1142801"/>
            <a:ext cx="16028936" cy="7994432"/>
            <a:chOff x="0" y="0"/>
            <a:chExt cx="21371915" cy="10659242"/>
          </a:xfrm>
        </p:grpSpPr>
        <p:sp>
          <p:nvSpPr>
            <p:cNvPr id="6" name="Freeform 6"/>
            <p:cNvSpPr/>
            <p:nvPr/>
          </p:nvSpPr>
          <p:spPr>
            <a:xfrm>
              <a:off x="10685957" y="0"/>
              <a:ext cx="10685957" cy="10659242"/>
            </a:xfrm>
            <a:custGeom>
              <a:avLst/>
              <a:gdLst/>
              <a:ahLst/>
              <a:cxnLst/>
              <a:rect l="l" t="t" r="r" b="b"/>
              <a:pathLst>
                <a:path w="10685957" h="10659242">
                  <a:moveTo>
                    <a:pt x="0" y="0"/>
                  </a:moveTo>
                  <a:lnTo>
                    <a:pt x="10685958" y="0"/>
                  </a:lnTo>
                  <a:lnTo>
                    <a:pt x="10685958" y="10659242"/>
                  </a:lnTo>
                  <a:lnTo>
                    <a:pt x="0" y="1065924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/>
              <a:stretch>
                <a:fillRect/>
              </a:stretch>
            </a:blipFill>
          </p:spPr>
        </p:sp>
        <p:sp>
          <p:nvSpPr>
            <p:cNvPr id="7" name="Freeform 7"/>
            <p:cNvSpPr/>
            <p:nvPr/>
          </p:nvSpPr>
          <p:spPr>
            <a:xfrm>
              <a:off x="0" y="0"/>
              <a:ext cx="10685957" cy="10659242"/>
            </a:xfrm>
            <a:custGeom>
              <a:avLst/>
              <a:gdLst/>
              <a:ahLst/>
              <a:cxnLst/>
              <a:rect l="l" t="t" r="r" b="b"/>
              <a:pathLst>
                <a:path w="10685957" h="10659242">
                  <a:moveTo>
                    <a:pt x="0" y="0"/>
                  </a:moveTo>
                  <a:lnTo>
                    <a:pt x="10685957" y="0"/>
                  </a:lnTo>
                  <a:lnTo>
                    <a:pt x="10685957" y="10659242"/>
                  </a:lnTo>
                  <a:lnTo>
                    <a:pt x="0" y="1065924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/>
              <a:stretch>
                <a:fillRect/>
              </a:stretch>
            </a:blipFill>
            <a:ln cap="sq">
              <a:noFill/>
              <a:prstDash val="solid"/>
              <a:miter/>
            </a:ln>
          </p:spPr>
        </p:sp>
      </p:grpSp>
      <p:sp>
        <p:nvSpPr>
          <p:cNvPr id="8" name="TextBox 8"/>
          <p:cNvSpPr txBox="1"/>
          <p:nvPr/>
        </p:nvSpPr>
        <p:spPr>
          <a:xfrm>
            <a:off x="5704205" y="5547360"/>
            <a:ext cx="6815455" cy="1449070"/>
          </a:xfrm>
          <a:prstGeom prst="rect">
            <a:avLst/>
          </a:prstGeom>
        </p:spPr>
        <p:txBody>
          <a:bodyPr wrap="square" lIns="0" tIns="0" rIns="0" bIns="0" rtlCol="0" anchor="t">
            <a:noAutofit/>
          </a:bodyPr>
          <a:lstStyle/>
          <a:p>
            <a:pPr marL="0" lvl="0" indent="0" algn="ctr">
              <a:lnSpc>
                <a:spcPts val="11550"/>
              </a:lnSpc>
              <a:spcBef>
                <a:spcPct val="0"/>
              </a:spcBef>
            </a:pPr>
            <a:r>
              <a:rPr lang="zh-CN" altLang="en-US" sz="7700" spc="769">
                <a:solidFill>
                  <a:srgbClr val="41624D"/>
                </a:solidFill>
                <a:ea typeface="华文中宋" panose="02010600040101010101" charset="-122"/>
              </a:rPr>
              <a:t>投票平台演示</a:t>
            </a:r>
            <a:endParaRPr lang="zh-CN" altLang="en-US" sz="7700" spc="769">
              <a:solidFill>
                <a:srgbClr val="41624D"/>
              </a:solidFill>
              <a:ea typeface="华文中宋" panose="02010600040101010101" charset="-122"/>
            </a:endParaRPr>
          </a:p>
        </p:txBody>
      </p:sp>
      <p:sp>
        <p:nvSpPr>
          <p:cNvPr id="9" name="TextBox 9"/>
          <p:cNvSpPr txBox="1"/>
          <p:nvPr/>
        </p:nvSpPr>
        <p:spPr>
          <a:xfrm>
            <a:off x="5166849" y="6996212"/>
            <a:ext cx="7954302" cy="64579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5040"/>
              </a:lnSpc>
              <a:spcBef>
                <a:spcPct val="0"/>
              </a:spcBef>
            </a:pPr>
            <a:r>
              <a:rPr lang="en-US" altLang="zh-CN" sz="3600" spc="928">
                <a:solidFill>
                  <a:srgbClr val="343333"/>
                </a:solidFill>
                <a:latin typeface="Chakra Petch" panose="00000500000000000000"/>
              </a:rPr>
              <a:t>Voting Platform Demon</a:t>
            </a:r>
            <a:endParaRPr lang="en-US" altLang="zh-CN" sz="3600" spc="928">
              <a:solidFill>
                <a:srgbClr val="343333"/>
              </a:solidFill>
              <a:latin typeface="Chakra Petch" panose="00000500000000000000"/>
            </a:endParaRPr>
          </a:p>
        </p:txBody>
      </p:sp>
      <p:sp>
        <p:nvSpPr>
          <p:cNvPr id="10" name="TextBox 10"/>
          <p:cNvSpPr txBox="1"/>
          <p:nvPr/>
        </p:nvSpPr>
        <p:spPr>
          <a:xfrm>
            <a:off x="6835140" y="2179955"/>
            <a:ext cx="4549775" cy="412940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 algn="ctr">
              <a:lnSpc>
                <a:spcPts val="32200"/>
              </a:lnSpc>
              <a:spcBef>
                <a:spcPct val="0"/>
              </a:spcBef>
            </a:pPr>
            <a:r>
              <a:rPr lang="en-US" sz="23000" u="none" strike="noStrike" spc="2437">
                <a:solidFill>
                  <a:srgbClr val="41624D"/>
                </a:solidFill>
                <a:latin typeface="Chakra Petch Bold" panose="00000800000000000000"/>
              </a:rPr>
              <a:t>04</a:t>
            </a:r>
            <a:endParaRPr lang="en-US" sz="23000" u="none" strike="noStrike" spc="2437">
              <a:solidFill>
                <a:srgbClr val="41624D"/>
              </a:solidFill>
              <a:latin typeface="Chakra Petch Bold" panose="00000800000000000000"/>
            </a:endParaRPr>
          </a:p>
        </p:txBody>
      </p:sp>
      <p:grpSp>
        <p:nvGrpSpPr>
          <p:cNvPr id="11" name="Group 11"/>
          <p:cNvGrpSpPr/>
          <p:nvPr/>
        </p:nvGrpSpPr>
        <p:grpSpPr>
          <a:xfrm>
            <a:off x="4533185" y="4229821"/>
            <a:ext cx="2308536" cy="259929"/>
            <a:chOff x="0" y="0"/>
            <a:chExt cx="608009" cy="68459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608009" cy="68459"/>
            </a:xfrm>
            <a:custGeom>
              <a:avLst/>
              <a:gdLst/>
              <a:ahLst/>
              <a:cxnLst/>
              <a:rect l="l" t="t" r="r" b="b"/>
              <a:pathLst>
                <a:path w="608009" h="68459">
                  <a:moveTo>
                    <a:pt x="34229" y="0"/>
                  </a:moveTo>
                  <a:lnTo>
                    <a:pt x="573780" y="0"/>
                  </a:lnTo>
                  <a:cubicBezTo>
                    <a:pt x="592684" y="0"/>
                    <a:pt x="608009" y="15325"/>
                    <a:pt x="608009" y="34229"/>
                  </a:cubicBezTo>
                  <a:lnTo>
                    <a:pt x="608009" y="34229"/>
                  </a:lnTo>
                  <a:cubicBezTo>
                    <a:pt x="608009" y="43307"/>
                    <a:pt x="604403" y="52014"/>
                    <a:pt x="597984" y="58433"/>
                  </a:cubicBezTo>
                  <a:cubicBezTo>
                    <a:pt x="591565" y="64852"/>
                    <a:pt x="582858" y="68459"/>
                    <a:pt x="573780" y="68459"/>
                  </a:cubicBezTo>
                  <a:lnTo>
                    <a:pt x="34229" y="68459"/>
                  </a:lnTo>
                  <a:cubicBezTo>
                    <a:pt x="15325" y="68459"/>
                    <a:pt x="0" y="53134"/>
                    <a:pt x="0" y="34229"/>
                  </a:cubicBezTo>
                  <a:lnTo>
                    <a:pt x="0" y="34229"/>
                  </a:lnTo>
                  <a:cubicBezTo>
                    <a:pt x="0" y="15325"/>
                    <a:pt x="15325" y="0"/>
                    <a:pt x="34229" y="0"/>
                  </a:cubicBezTo>
                  <a:close/>
                </a:path>
              </a:pathLst>
            </a:custGeom>
            <a:solidFill>
              <a:srgbClr val="41624D"/>
            </a:solidFill>
          </p:spPr>
        </p:sp>
        <p:sp>
          <p:nvSpPr>
            <p:cNvPr id="13" name="TextBox 13"/>
            <p:cNvSpPr txBox="1"/>
            <p:nvPr/>
          </p:nvSpPr>
          <p:spPr>
            <a:xfrm>
              <a:off x="0" y="-47625"/>
              <a:ext cx="608009" cy="11608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895"/>
                </a:lnSpc>
              </a:pPr>
            </a:p>
          </p:txBody>
        </p:sp>
      </p:grpSp>
      <p:grpSp>
        <p:nvGrpSpPr>
          <p:cNvPr id="14" name="Group 14"/>
          <p:cNvGrpSpPr/>
          <p:nvPr/>
        </p:nvGrpSpPr>
        <p:grpSpPr>
          <a:xfrm>
            <a:off x="11446280" y="4229821"/>
            <a:ext cx="2308536" cy="259929"/>
            <a:chOff x="0" y="0"/>
            <a:chExt cx="608009" cy="68459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608009" cy="68459"/>
            </a:xfrm>
            <a:custGeom>
              <a:avLst/>
              <a:gdLst/>
              <a:ahLst/>
              <a:cxnLst/>
              <a:rect l="l" t="t" r="r" b="b"/>
              <a:pathLst>
                <a:path w="608009" h="68459">
                  <a:moveTo>
                    <a:pt x="34229" y="0"/>
                  </a:moveTo>
                  <a:lnTo>
                    <a:pt x="573780" y="0"/>
                  </a:lnTo>
                  <a:cubicBezTo>
                    <a:pt x="592684" y="0"/>
                    <a:pt x="608009" y="15325"/>
                    <a:pt x="608009" y="34229"/>
                  </a:cubicBezTo>
                  <a:lnTo>
                    <a:pt x="608009" y="34229"/>
                  </a:lnTo>
                  <a:cubicBezTo>
                    <a:pt x="608009" y="43307"/>
                    <a:pt x="604403" y="52014"/>
                    <a:pt x="597984" y="58433"/>
                  </a:cubicBezTo>
                  <a:cubicBezTo>
                    <a:pt x="591565" y="64852"/>
                    <a:pt x="582858" y="68459"/>
                    <a:pt x="573780" y="68459"/>
                  </a:cubicBezTo>
                  <a:lnTo>
                    <a:pt x="34229" y="68459"/>
                  </a:lnTo>
                  <a:cubicBezTo>
                    <a:pt x="15325" y="68459"/>
                    <a:pt x="0" y="53134"/>
                    <a:pt x="0" y="34229"/>
                  </a:cubicBezTo>
                  <a:lnTo>
                    <a:pt x="0" y="34229"/>
                  </a:lnTo>
                  <a:cubicBezTo>
                    <a:pt x="0" y="15325"/>
                    <a:pt x="15325" y="0"/>
                    <a:pt x="34229" y="0"/>
                  </a:cubicBezTo>
                  <a:close/>
                </a:path>
              </a:pathLst>
            </a:custGeom>
            <a:solidFill>
              <a:srgbClr val="41624D"/>
            </a:solidFill>
          </p:spPr>
        </p:sp>
        <p:sp>
          <p:nvSpPr>
            <p:cNvPr id="16" name="TextBox 16"/>
            <p:cNvSpPr txBox="1"/>
            <p:nvPr/>
          </p:nvSpPr>
          <p:spPr>
            <a:xfrm>
              <a:off x="0" y="-47625"/>
              <a:ext cx="608009" cy="11608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895"/>
                </a:lnSpc>
              </a:pPr>
            </a:p>
          </p:txBody>
        </p:sp>
      </p:grpSp>
      <p:grpSp>
        <p:nvGrpSpPr>
          <p:cNvPr id="17" name="Group 17"/>
          <p:cNvGrpSpPr/>
          <p:nvPr/>
        </p:nvGrpSpPr>
        <p:grpSpPr>
          <a:xfrm>
            <a:off x="-9525" y="-212708"/>
            <a:ext cx="1423091" cy="10984331"/>
            <a:chOff x="0" y="0"/>
            <a:chExt cx="374806" cy="2892992"/>
          </a:xfrm>
        </p:grpSpPr>
        <p:sp>
          <p:nvSpPr>
            <p:cNvPr id="18" name="Freeform 18"/>
            <p:cNvSpPr/>
            <p:nvPr/>
          </p:nvSpPr>
          <p:spPr>
            <a:xfrm>
              <a:off x="0" y="0"/>
              <a:ext cx="374806" cy="2892992"/>
            </a:xfrm>
            <a:custGeom>
              <a:avLst/>
              <a:gdLst/>
              <a:ahLst/>
              <a:cxnLst/>
              <a:rect l="l" t="t" r="r" b="b"/>
              <a:pathLst>
                <a:path w="374806" h="2892992">
                  <a:moveTo>
                    <a:pt x="0" y="0"/>
                  </a:moveTo>
                  <a:lnTo>
                    <a:pt x="374806" y="0"/>
                  </a:lnTo>
                  <a:lnTo>
                    <a:pt x="374806" y="2892992"/>
                  </a:lnTo>
                  <a:lnTo>
                    <a:pt x="0" y="2892992"/>
                  </a:lnTo>
                  <a:close/>
                </a:path>
              </a:pathLst>
            </a:custGeom>
            <a:solidFill>
              <a:srgbClr val="41624D"/>
            </a:solidFill>
          </p:spPr>
        </p:sp>
        <p:sp>
          <p:nvSpPr>
            <p:cNvPr id="19" name="TextBox 19"/>
            <p:cNvSpPr txBox="1"/>
            <p:nvPr/>
          </p:nvSpPr>
          <p:spPr>
            <a:xfrm>
              <a:off x="0" y="-28575"/>
              <a:ext cx="374806" cy="292156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60"/>
                </a:lnSpc>
                <a:spcBef>
                  <a:spcPct val="0"/>
                </a:spcBef>
              </a:pPr>
            </a:p>
          </p:txBody>
        </p:sp>
      </p:grpSp>
      <p:grpSp>
        <p:nvGrpSpPr>
          <p:cNvPr id="20" name="Group 20"/>
          <p:cNvGrpSpPr/>
          <p:nvPr/>
        </p:nvGrpSpPr>
        <p:grpSpPr>
          <a:xfrm>
            <a:off x="16864909" y="-212708"/>
            <a:ext cx="1423091" cy="10984331"/>
            <a:chOff x="0" y="0"/>
            <a:chExt cx="374806" cy="2892992"/>
          </a:xfrm>
        </p:grpSpPr>
        <p:sp>
          <p:nvSpPr>
            <p:cNvPr id="21" name="Freeform 21"/>
            <p:cNvSpPr/>
            <p:nvPr/>
          </p:nvSpPr>
          <p:spPr>
            <a:xfrm>
              <a:off x="0" y="0"/>
              <a:ext cx="374806" cy="2892992"/>
            </a:xfrm>
            <a:custGeom>
              <a:avLst/>
              <a:gdLst/>
              <a:ahLst/>
              <a:cxnLst/>
              <a:rect l="l" t="t" r="r" b="b"/>
              <a:pathLst>
                <a:path w="374806" h="2892992">
                  <a:moveTo>
                    <a:pt x="0" y="0"/>
                  </a:moveTo>
                  <a:lnTo>
                    <a:pt x="374806" y="0"/>
                  </a:lnTo>
                  <a:lnTo>
                    <a:pt x="374806" y="2892992"/>
                  </a:lnTo>
                  <a:lnTo>
                    <a:pt x="0" y="2892992"/>
                  </a:lnTo>
                  <a:close/>
                </a:path>
              </a:pathLst>
            </a:custGeom>
            <a:solidFill>
              <a:srgbClr val="41624D"/>
            </a:solidFill>
            <a:ln cap="sq">
              <a:noFill/>
              <a:prstDash val="solid"/>
              <a:miter/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0" y="-28575"/>
              <a:ext cx="374806" cy="292156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660"/>
                </a:lnSpc>
                <a:spcBef>
                  <a:spcPct val="0"/>
                </a:spcBef>
              </a:pPr>
            </a:p>
          </p:txBody>
        </p:sp>
      </p:grpSp>
      <p:grpSp>
        <p:nvGrpSpPr>
          <p:cNvPr id="26" name="Group 26"/>
          <p:cNvGrpSpPr/>
          <p:nvPr/>
        </p:nvGrpSpPr>
        <p:grpSpPr>
          <a:xfrm>
            <a:off x="17380176" y="4983658"/>
            <a:ext cx="335407" cy="319685"/>
            <a:chOff x="0" y="0"/>
            <a:chExt cx="812800" cy="774700"/>
          </a:xfrm>
        </p:grpSpPr>
        <p:sp>
          <p:nvSpPr>
            <p:cNvPr id="27" name="Freeform 27"/>
            <p:cNvSpPr/>
            <p:nvPr/>
          </p:nvSpPr>
          <p:spPr>
            <a:xfrm>
              <a:off x="0" y="0"/>
              <a:ext cx="812800" cy="774700"/>
            </a:xfrm>
            <a:custGeom>
              <a:avLst/>
              <a:gdLst/>
              <a:ahLst/>
              <a:cxnLst/>
              <a:rect l="l" t="t" r="r" b="b"/>
              <a:pathLst>
                <a:path w="812800" h="774700">
                  <a:moveTo>
                    <a:pt x="406400" y="0"/>
                  </a:moveTo>
                  <a:lnTo>
                    <a:pt x="502338" y="295909"/>
                  </a:lnTo>
                  <a:lnTo>
                    <a:pt x="812800" y="295909"/>
                  </a:lnTo>
                  <a:lnTo>
                    <a:pt x="561631" y="478791"/>
                  </a:lnTo>
                  <a:lnTo>
                    <a:pt x="657569" y="774700"/>
                  </a:lnTo>
                  <a:lnTo>
                    <a:pt x="406400" y="591819"/>
                  </a:lnTo>
                  <a:lnTo>
                    <a:pt x="155231" y="774700"/>
                  </a:lnTo>
                  <a:lnTo>
                    <a:pt x="251169" y="478791"/>
                  </a:lnTo>
                  <a:lnTo>
                    <a:pt x="0" y="295909"/>
                  </a:lnTo>
                  <a:lnTo>
                    <a:pt x="310462" y="295909"/>
                  </a:lnTo>
                  <a:lnTo>
                    <a:pt x="406400" y="0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id="28" name="TextBox 28"/>
            <p:cNvSpPr txBox="1"/>
            <p:nvPr/>
          </p:nvSpPr>
          <p:spPr>
            <a:xfrm>
              <a:off x="228600" y="219075"/>
              <a:ext cx="355600" cy="3905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895"/>
                </a:lnSpc>
              </a:pPr>
            </a:p>
          </p:txBody>
        </p:sp>
      </p:grpSp>
      <p:sp>
        <p:nvSpPr>
          <p:cNvPr id="33" name="Freeform 31"/>
          <p:cNvSpPr/>
          <p:nvPr/>
        </p:nvSpPr>
        <p:spPr>
          <a:xfrm>
            <a:off x="17165015" y="8632398"/>
            <a:ext cx="822879" cy="822879"/>
          </a:xfrm>
          <a:custGeom>
            <a:avLst/>
            <a:gdLst/>
            <a:ahLst/>
            <a:cxnLst/>
            <a:rect l="l" t="t" r="r" b="b"/>
            <a:pathLst>
              <a:path w="822879" h="822879">
                <a:moveTo>
                  <a:pt x="0" y="0"/>
                </a:moveTo>
                <a:lnTo>
                  <a:pt x="822879" y="0"/>
                </a:lnTo>
                <a:lnTo>
                  <a:pt x="822879" y="822879"/>
                </a:lnTo>
                <a:lnTo>
                  <a:pt x="0" y="822879"/>
                </a:lnTo>
                <a:lnTo>
                  <a:pt x="0" y="0"/>
                </a:lnTo>
                <a:close/>
              </a:path>
            </a:pathLst>
          </a:custGeom>
          <a:blipFill>
            <a:blip r:embed="rId1"/>
            <a:stretch>
              <a:fillRect/>
            </a:stretch>
          </a:blipFill>
        </p:spPr>
      </p:sp>
      <p:sp>
        <p:nvSpPr>
          <p:cNvPr id="35" name="Freeform 30"/>
          <p:cNvSpPr/>
          <p:nvPr/>
        </p:nvSpPr>
        <p:spPr>
          <a:xfrm rot="5400000">
            <a:off x="-3984375" y="4593346"/>
            <a:ext cx="9411340" cy="1014660"/>
          </a:xfrm>
          <a:custGeom>
            <a:avLst/>
            <a:gdLst/>
            <a:ahLst/>
            <a:cxnLst/>
            <a:rect l="l" t="t" r="r" b="b"/>
            <a:pathLst>
              <a:path w="9411340" h="1014660">
                <a:moveTo>
                  <a:pt x="0" y="0"/>
                </a:moveTo>
                <a:lnTo>
                  <a:pt x="9411340" y="0"/>
                </a:lnTo>
                <a:lnTo>
                  <a:pt x="9411340" y="1014660"/>
                </a:lnTo>
                <a:lnTo>
                  <a:pt x="0" y="101466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41624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-524524" y="-175524"/>
            <a:ext cx="20998807" cy="10741067"/>
            <a:chOff x="0" y="0"/>
            <a:chExt cx="27998409" cy="14321423"/>
          </a:xfrm>
        </p:grpSpPr>
        <p:sp>
          <p:nvSpPr>
            <p:cNvPr id="3" name="Freeform 3"/>
            <p:cNvSpPr/>
            <p:nvPr/>
          </p:nvSpPr>
          <p:spPr>
            <a:xfrm>
              <a:off x="14357316" y="0"/>
              <a:ext cx="13641093" cy="14321423"/>
            </a:xfrm>
            <a:custGeom>
              <a:avLst/>
              <a:gdLst/>
              <a:ahLst/>
              <a:cxnLst/>
              <a:rect l="l" t="t" r="r" b="b"/>
              <a:pathLst>
                <a:path w="13641093" h="14321423">
                  <a:moveTo>
                    <a:pt x="0" y="0"/>
                  </a:moveTo>
                  <a:lnTo>
                    <a:pt x="13641093" y="0"/>
                  </a:lnTo>
                  <a:lnTo>
                    <a:pt x="13641093" y="14321423"/>
                  </a:lnTo>
                  <a:lnTo>
                    <a:pt x="0" y="1432142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">
                <a:alphaModFix amt="9999"/>
                <a:extLst>
                  <a:ext uri="{96DAC541-7B7A-43D3-8B79-37D633B846F1}">
                    <asvg:svgBlip xmlns:asvg="http://schemas.microsoft.com/office/drawing/2016/SVG/main" r:embed="rId2"/>
                  </a:ext>
                </a:extLst>
              </a:blip>
              <a:stretch>
                <a:fillRect r="-5250"/>
              </a:stretch>
            </a:blipFill>
          </p:spPr>
        </p:sp>
        <p:sp>
          <p:nvSpPr>
            <p:cNvPr id="4" name="Freeform 4"/>
            <p:cNvSpPr/>
            <p:nvPr/>
          </p:nvSpPr>
          <p:spPr>
            <a:xfrm>
              <a:off x="0" y="0"/>
              <a:ext cx="14357316" cy="14321423"/>
            </a:xfrm>
            <a:custGeom>
              <a:avLst/>
              <a:gdLst/>
              <a:ahLst/>
              <a:cxnLst/>
              <a:rect l="l" t="t" r="r" b="b"/>
              <a:pathLst>
                <a:path w="14357316" h="14321423">
                  <a:moveTo>
                    <a:pt x="0" y="0"/>
                  </a:moveTo>
                  <a:lnTo>
                    <a:pt x="14357316" y="0"/>
                  </a:lnTo>
                  <a:lnTo>
                    <a:pt x="14357316" y="14321423"/>
                  </a:lnTo>
                  <a:lnTo>
                    <a:pt x="0" y="1432142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">
                <a:alphaModFix amt="9999"/>
                <a:extLst>
                  <a:ext uri="{96DAC541-7B7A-43D3-8B79-37D633B846F1}">
                    <asvg:svgBlip xmlns:asvg="http://schemas.microsoft.com/office/drawing/2016/SVG/main" r:embed="rId2"/>
                  </a:ext>
                </a:extLst>
              </a:blip>
              <a:stretch>
                <a:fillRect/>
              </a:stretch>
            </a:blipFill>
            <a:ln cap="sq">
              <a:noFill/>
              <a:prstDash val="solid"/>
              <a:miter/>
            </a:ln>
          </p:spPr>
        </p:sp>
      </p:grpSp>
      <p:grpSp>
        <p:nvGrpSpPr>
          <p:cNvPr id="5" name="Group 5"/>
          <p:cNvGrpSpPr/>
          <p:nvPr/>
        </p:nvGrpSpPr>
        <p:grpSpPr>
          <a:xfrm>
            <a:off x="757944" y="1028700"/>
            <a:ext cx="17092120" cy="8680123"/>
            <a:chOff x="0" y="0"/>
            <a:chExt cx="4501628" cy="2286123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4501628" cy="2286123"/>
            </a:xfrm>
            <a:custGeom>
              <a:avLst/>
              <a:gdLst/>
              <a:ahLst/>
              <a:cxnLst/>
              <a:rect l="l" t="t" r="r" b="b"/>
              <a:pathLst>
                <a:path w="4501628" h="2286123">
                  <a:moveTo>
                    <a:pt x="0" y="0"/>
                  </a:moveTo>
                  <a:lnTo>
                    <a:pt x="4501628" y="0"/>
                  </a:lnTo>
                  <a:lnTo>
                    <a:pt x="4501628" y="2286123"/>
                  </a:lnTo>
                  <a:lnTo>
                    <a:pt x="0" y="2286123"/>
                  </a:lnTo>
                  <a:close/>
                </a:path>
              </a:pathLst>
            </a:custGeom>
            <a:solidFill>
              <a:srgbClr val="D1D5BA"/>
            </a:solidFill>
          </p:spPr>
        </p:sp>
        <p:sp>
          <p:nvSpPr>
            <p:cNvPr id="7" name="TextBox 7"/>
            <p:cNvSpPr txBox="1"/>
            <p:nvPr/>
          </p:nvSpPr>
          <p:spPr>
            <a:xfrm>
              <a:off x="0" y="-28575"/>
              <a:ext cx="4501628" cy="231469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60"/>
                </a:lnSpc>
                <a:spcBef>
                  <a:spcPct val="0"/>
                </a:spcBef>
              </a:pPr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437936" y="618151"/>
            <a:ext cx="17092120" cy="8746514"/>
            <a:chOff x="0" y="0"/>
            <a:chExt cx="4501628" cy="2303609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4501628" cy="2303609"/>
            </a:xfrm>
            <a:custGeom>
              <a:avLst/>
              <a:gdLst/>
              <a:ahLst/>
              <a:cxnLst/>
              <a:rect l="l" t="t" r="r" b="b"/>
              <a:pathLst>
                <a:path w="4501628" h="2303609">
                  <a:moveTo>
                    <a:pt x="0" y="0"/>
                  </a:moveTo>
                  <a:lnTo>
                    <a:pt x="4501628" y="0"/>
                  </a:lnTo>
                  <a:lnTo>
                    <a:pt x="4501628" y="2303609"/>
                  </a:lnTo>
                  <a:lnTo>
                    <a:pt x="0" y="2303609"/>
                  </a:lnTo>
                  <a:close/>
                </a:path>
              </a:pathLst>
            </a:custGeom>
            <a:solidFill>
              <a:srgbClr val="F5FAF4"/>
            </a:solidFill>
          </p:spPr>
        </p:sp>
        <p:sp>
          <p:nvSpPr>
            <p:cNvPr id="10" name="TextBox 10"/>
            <p:cNvSpPr txBox="1"/>
            <p:nvPr/>
          </p:nvSpPr>
          <p:spPr>
            <a:xfrm>
              <a:off x="0" y="-28575"/>
              <a:ext cx="4501628" cy="233218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60"/>
                </a:lnSpc>
                <a:spcBef>
                  <a:spcPct val="0"/>
                </a:spcBef>
              </a:pPr>
            </a:p>
          </p:txBody>
        </p:sp>
      </p:grpSp>
      <p:grpSp>
        <p:nvGrpSpPr>
          <p:cNvPr id="11" name="Group 11"/>
          <p:cNvGrpSpPr/>
          <p:nvPr/>
        </p:nvGrpSpPr>
        <p:grpSpPr>
          <a:xfrm>
            <a:off x="7586072" y="1565082"/>
            <a:ext cx="3115855" cy="217179"/>
            <a:chOff x="0" y="0"/>
            <a:chExt cx="820637" cy="57199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820637" cy="57199"/>
            </a:xfrm>
            <a:custGeom>
              <a:avLst/>
              <a:gdLst/>
              <a:ahLst/>
              <a:cxnLst/>
              <a:rect l="l" t="t" r="r" b="b"/>
              <a:pathLst>
                <a:path w="820637" h="57199">
                  <a:moveTo>
                    <a:pt x="28600" y="0"/>
                  </a:moveTo>
                  <a:lnTo>
                    <a:pt x="792037" y="0"/>
                  </a:lnTo>
                  <a:cubicBezTo>
                    <a:pt x="807832" y="0"/>
                    <a:pt x="820637" y="12805"/>
                    <a:pt x="820637" y="28600"/>
                  </a:cubicBezTo>
                  <a:lnTo>
                    <a:pt x="820637" y="28600"/>
                  </a:lnTo>
                  <a:cubicBezTo>
                    <a:pt x="820637" y="44395"/>
                    <a:pt x="807832" y="57199"/>
                    <a:pt x="792037" y="57199"/>
                  </a:cubicBezTo>
                  <a:lnTo>
                    <a:pt x="28600" y="57199"/>
                  </a:lnTo>
                  <a:cubicBezTo>
                    <a:pt x="12805" y="57199"/>
                    <a:pt x="0" y="44395"/>
                    <a:pt x="0" y="28600"/>
                  </a:cubicBezTo>
                  <a:lnTo>
                    <a:pt x="0" y="28600"/>
                  </a:lnTo>
                  <a:cubicBezTo>
                    <a:pt x="0" y="12805"/>
                    <a:pt x="12805" y="0"/>
                    <a:pt x="28600" y="0"/>
                  </a:cubicBezTo>
                  <a:close/>
                </a:path>
              </a:pathLst>
            </a:custGeom>
            <a:solidFill>
              <a:srgbClr val="D1D5BA"/>
            </a:solidFill>
          </p:spPr>
        </p:sp>
        <p:sp>
          <p:nvSpPr>
            <p:cNvPr id="13" name="TextBox 13"/>
            <p:cNvSpPr txBox="1"/>
            <p:nvPr/>
          </p:nvSpPr>
          <p:spPr>
            <a:xfrm>
              <a:off x="0" y="-47625"/>
              <a:ext cx="820637" cy="10482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895"/>
                </a:lnSpc>
              </a:pPr>
            </a:p>
          </p:txBody>
        </p:sp>
      </p:grpSp>
      <p:sp>
        <p:nvSpPr>
          <p:cNvPr id="14" name="TextBox 14"/>
          <p:cNvSpPr txBox="1"/>
          <p:nvPr/>
        </p:nvSpPr>
        <p:spPr>
          <a:xfrm>
            <a:off x="7586072" y="945175"/>
            <a:ext cx="3115855" cy="77343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6300"/>
              </a:lnSpc>
              <a:spcBef>
                <a:spcPct val="0"/>
              </a:spcBef>
            </a:pPr>
            <a:r>
              <a:rPr lang="en-US" sz="4200" spc="420">
                <a:solidFill>
                  <a:srgbClr val="343333"/>
                </a:solidFill>
                <a:ea typeface="华文中宋" panose="02010600040101010101" charset="-122"/>
              </a:rPr>
              <a:t>请输入标题</a:t>
            </a:r>
            <a:endParaRPr lang="en-US" sz="4200" spc="420">
              <a:solidFill>
                <a:srgbClr val="343333"/>
              </a:solidFill>
              <a:ea typeface="华文中宋" panose="02010600040101010101" charset="-122"/>
            </a:endParaRPr>
          </a:p>
        </p:txBody>
      </p:sp>
      <p:grpSp>
        <p:nvGrpSpPr>
          <p:cNvPr id="15" name="Group 15"/>
          <p:cNvGrpSpPr/>
          <p:nvPr/>
        </p:nvGrpSpPr>
        <p:grpSpPr>
          <a:xfrm>
            <a:off x="1307221" y="2761493"/>
            <a:ext cx="6016011" cy="5906987"/>
            <a:chOff x="0" y="0"/>
            <a:chExt cx="1466592" cy="1440014"/>
          </a:xfrm>
        </p:grpSpPr>
        <p:sp>
          <p:nvSpPr>
            <p:cNvPr id="16" name="Freeform 16"/>
            <p:cNvSpPr/>
            <p:nvPr/>
          </p:nvSpPr>
          <p:spPr>
            <a:xfrm>
              <a:off x="0" y="0"/>
              <a:ext cx="1466592" cy="1440014"/>
            </a:xfrm>
            <a:custGeom>
              <a:avLst/>
              <a:gdLst/>
              <a:ahLst/>
              <a:cxnLst/>
              <a:rect l="l" t="t" r="r" b="b"/>
              <a:pathLst>
                <a:path w="1466592" h="1440014">
                  <a:moveTo>
                    <a:pt x="25738" y="0"/>
                  </a:moveTo>
                  <a:lnTo>
                    <a:pt x="1440855" y="0"/>
                  </a:lnTo>
                  <a:cubicBezTo>
                    <a:pt x="1455069" y="0"/>
                    <a:pt x="1466592" y="11523"/>
                    <a:pt x="1466592" y="25738"/>
                  </a:cubicBezTo>
                  <a:lnTo>
                    <a:pt x="1466592" y="1414276"/>
                  </a:lnTo>
                  <a:cubicBezTo>
                    <a:pt x="1466592" y="1428491"/>
                    <a:pt x="1455069" y="1440014"/>
                    <a:pt x="1440855" y="1440014"/>
                  </a:cubicBezTo>
                  <a:lnTo>
                    <a:pt x="25738" y="1440014"/>
                  </a:lnTo>
                  <a:cubicBezTo>
                    <a:pt x="18912" y="1440014"/>
                    <a:pt x="12365" y="1437302"/>
                    <a:pt x="7538" y="1432476"/>
                  </a:cubicBezTo>
                  <a:cubicBezTo>
                    <a:pt x="2712" y="1427649"/>
                    <a:pt x="0" y="1421103"/>
                    <a:pt x="0" y="1414276"/>
                  </a:cubicBezTo>
                  <a:lnTo>
                    <a:pt x="0" y="25738"/>
                  </a:lnTo>
                  <a:cubicBezTo>
                    <a:pt x="0" y="11523"/>
                    <a:pt x="11523" y="0"/>
                    <a:pt x="25738" y="0"/>
                  </a:cubicBezTo>
                  <a:close/>
                </a:path>
              </a:pathLst>
            </a:custGeom>
            <a:solidFill>
              <a:srgbClr val="41624D">
                <a:alpha val="9804"/>
              </a:srgbClr>
            </a:solidFill>
            <a:ln cap="sq">
              <a:noFill/>
              <a:prstDash val="solid"/>
              <a:miter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0" y="-47625"/>
              <a:ext cx="1466592" cy="1487639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660"/>
                </a:lnSpc>
                <a:spcBef>
                  <a:spcPct val="0"/>
                </a:spcBef>
              </a:pPr>
            </a:p>
          </p:txBody>
        </p:sp>
      </p:grpSp>
      <p:pic>
        <p:nvPicPr>
          <p:cNvPr id="18" name="Picture 1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30124" y="2712467"/>
            <a:ext cx="6157002" cy="5986925"/>
          </a:xfrm>
          <a:prstGeom prst="rect">
            <a:avLst/>
          </a:prstGeom>
        </p:spPr>
      </p:pic>
      <p:grpSp>
        <p:nvGrpSpPr>
          <p:cNvPr id="19" name="Group 19"/>
          <p:cNvGrpSpPr/>
          <p:nvPr/>
        </p:nvGrpSpPr>
        <p:grpSpPr>
          <a:xfrm>
            <a:off x="7737630" y="4121401"/>
            <a:ext cx="9243149" cy="4583563"/>
            <a:chOff x="0" y="0"/>
            <a:chExt cx="2090636" cy="1036720"/>
          </a:xfrm>
        </p:grpSpPr>
        <p:sp>
          <p:nvSpPr>
            <p:cNvPr id="20" name="Freeform 20"/>
            <p:cNvSpPr/>
            <p:nvPr/>
          </p:nvSpPr>
          <p:spPr>
            <a:xfrm>
              <a:off x="0" y="0"/>
              <a:ext cx="2090636" cy="1036721"/>
            </a:xfrm>
            <a:custGeom>
              <a:avLst/>
              <a:gdLst/>
              <a:ahLst/>
              <a:cxnLst/>
              <a:rect l="l" t="t" r="r" b="b"/>
              <a:pathLst>
                <a:path w="2090636" h="1036721">
                  <a:moveTo>
                    <a:pt x="16752" y="0"/>
                  </a:moveTo>
                  <a:lnTo>
                    <a:pt x="2073884" y="0"/>
                  </a:lnTo>
                  <a:cubicBezTo>
                    <a:pt x="2083136" y="0"/>
                    <a:pt x="2090636" y="7500"/>
                    <a:pt x="2090636" y="16752"/>
                  </a:cubicBezTo>
                  <a:lnTo>
                    <a:pt x="2090636" y="1019969"/>
                  </a:lnTo>
                  <a:cubicBezTo>
                    <a:pt x="2090636" y="1029221"/>
                    <a:pt x="2083136" y="1036721"/>
                    <a:pt x="2073884" y="1036721"/>
                  </a:cubicBezTo>
                  <a:lnTo>
                    <a:pt x="16752" y="1036721"/>
                  </a:lnTo>
                  <a:cubicBezTo>
                    <a:pt x="7500" y="1036721"/>
                    <a:pt x="0" y="1029221"/>
                    <a:pt x="0" y="1019969"/>
                  </a:cubicBezTo>
                  <a:lnTo>
                    <a:pt x="0" y="16752"/>
                  </a:lnTo>
                  <a:cubicBezTo>
                    <a:pt x="0" y="7500"/>
                    <a:pt x="7500" y="0"/>
                    <a:pt x="16752" y="0"/>
                  </a:cubicBezTo>
                  <a:close/>
                </a:path>
              </a:pathLst>
            </a:custGeom>
            <a:solidFill>
              <a:srgbClr val="41624D">
                <a:alpha val="9804"/>
              </a:srgbClr>
            </a:solidFill>
            <a:ln cap="sq">
              <a:noFill/>
              <a:prstDash val="solid"/>
              <a:miter/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0" y="-47625"/>
              <a:ext cx="2090636" cy="108434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660"/>
                </a:lnSpc>
                <a:spcBef>
                  <a:spcPct val="0"/>
                </a:spcBef>
              </a:pPr>
            </a:p>
          </p:txBody>
        </p:sp>
      </p:grpSp>
      <p:sp>
        <p:nvSpPr>
          <p:cNvPr id="22" name="TextBox 22"/>
          <p:cNvSpPr txBox="1"/>
          <p:nvPr/>
        </p:nvSpPr>
        <p:spPr>
          <a:xfrm>
            <a:off x="8677355" y="4870463"/>
            <a:ext cx="7707349" cy="112395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 algn="just">
              <a:lnSpc>
                <a:spcPts val="3000"/>
              </a:lnSpc>
              <a:spcBef>
                <a:spcPct val="0"/>
              </a:spcBef>
            </a:pPr>
            <a:r>
              <a:rPr lang="en-US" sz="2000" dirty="0">
                <a:solidFill>
                  <a:srgbClr val="343333"/>
                </a:solidFill>
                <a:ea typeface="清雅黑体" panose="00000500000000000000" charset="-122"/>
              </a:rPr>
              <a:t>单击此处输入您的正文，文字是您思想的提炼，为了最终演示发布良好效果，请尽量言简意赅的阐述观点；根据需要可酌情增减文字，以便观者可以准确理解您所传达的信息。</a:t>
            </a:r>
            <a:endParaRPr lang="en-US" sz="2000" dirty="0">
              <a:solidFill>
                <a:srgbClr val="343333"/>
              </a:solidFill>
              <a:ea typeface="清雅黑体" panose="00000500000000000000" charset="-122"/>
            </a:endParaRPr>
          </a:p>
        </p:txBody>
      </p:sp>
      <p:sp>
        <p:nvSpPr>
          <p:cNvPr id="23" name="TextBox 23"/>
          <p:cNvSpPr txBox="1"/>
          <p:nvPr/>
        </p:nvSpPr>
        <p:spPr>
          <a:xfrm>
            <a:off x="8693080" y="6778624"/>
            <a:ext cx="7691220" cy="112395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 algn="just">
              <a:lnSpc>
                <a:spcPts val="3000"/>
              </a:lnSpc>
              <a:spcBef>
                <a:spcPct val="0"/>
              </a:spcBef>
            </a:pPr>
            <a:r>
              <a:rPr lang="en-US" sz="2000">
                <a:solidFill>
                  <a:srgbClr val="343333"/>
                </a:solidFill>
                <a:ea typeface="清雅黑体" panose="00000500000000000000" charset="-122"/>
              </a:rPr>
              <a:t>单击此处输入您的正文，文字是您思想的提炼，为了最终演示发布良好效果，请尽量言简意赅的阐述观点；根据需要可酌情增减文字，以便观者可以准确理解您所传达的信息。</a:t>
            </a:r>
            <a:endParaRPr lang="en-US" sz="2000">
              <a:solidFill>
                <a:srgbClr val="343333"/>
              </a:solidFill>
              <a:ea typeface="清雅黑体" panose="00000500000000000000" charset="-122"/>
            </a:endParaRPr>
          </a:p>
        </p:txBody>
      </p:sp>
      <p:sp>
        <p:nvSpPr>
          <p:cNvPr id="24" name="AutoShape 24"/>
          <p:cNvSpPr/>
          <p:nvPr/>
        </p:nvSpPr>
        <p:spPr>
          <a:xfrm>
            <a:off x="8334110" y="6413182"/>
            <a:ext cx="8050190" cy="0"/>
          </a:xfrm>
          <a:prstGeom prst="line">
            <a:avLst/>
          </a:prstGeom>
          <a:ln w="19050" cap="flat">
            <a:solidFill>
              <a:srgbClr val="41624D"/>
            </a:solidFill>
            <a:prstDash val="lgDash"/>
            <a:headEnd type="none" w="sm" len="sm"/>
            <a:tailEnd type="none" w="sm" len="sm"/>
          </a:ln>
        </p:spPr>
      </p:sp>
      <p:grpSp>
        <p:nvGrpSpPr>
          <p:cNvPr id="25" name="Group 25"/>
          <p:cNvGrpSpPr/>
          <p:nvPr/>
        </p:nvGrpSpPr>
        <p:grpSpPr>
          <a:xfrm>
            <a:off x="7737630" y="3212224"/>
            <a:ext cx="3034275" cy="499689"/>
            <a:chOff x="0" y="0"/>
            <a:chExt cx="4045700" cy="666253"/>
          </a:xfrm>
        </p:grpSpPr>
        <p:grpSp>
          <p:nvGrpSpPr>
            <p:cNvPr id="26" name="Group 26"/>
            <p:cNvGrpSpPr/>
            <p:nvPr/>
          </p:nvGrpSpPr>
          <p:grpSpPr>
            <a:xfrm>
              <a:off x="0" y="0"/>
              <a:ext cx="4045700" cy="666253"/>
              <a:chOff x="0" y="0"/>
              <a:chExt cx="1039241" cy="171144"/>
            </a:xfrm>
          </p:grpSpPr>
          <p:sp>
            <p:nvSpPr>
              <p:cNvPr id="27" name="Freeform 27"/>
              <p:cNvSpPr/>
              <p:nvPr/>
            </p:nvSpPr>
            <p:spPr>
              <a:xfrm>
                <a:off x="0" y="0"/>
                <a:ext cx="1039241" cy="171144"/>
              </a:xfrm>
              <a:custGeom>
                <a:avLst/>
                <a:gdLst/>
                <a:ahLst/>
                <a:cxnLst/>
                <a:rect l="l" t="t" r="r" b="b"/>
                <a:pathLst>
                  <a:path w="1039241" h="171144">
                    <a:moveTo>
                      <a:pt x="85572" y="0"/>
                    </a:moveTo>
                    <a:lnTo>
                      <a:pt x="953669" y="0"/>
                    </a:lnTo>
                    <a:cubicBezTo>
                      <a:pt x="1000929" y="0"/>
                      <a:pt x="1039241" y="38312"/>
                      <a:pt x="1039241" y="85572"/>
                    </a:cubicBezTo>
                    <a:lnTo>
                      <a:pt x="1039241" y="85572"/>
                    </a:lnTo>
                    <a:cubicBezTo>
                      <a:pt x="1039241" y="132832"/>
                      <a:pt x="1000929" y="171144"/>
                      <a:pt x="953669" y="171144"/>
                    </a:cubicBezTo>
                    <a:lnTo>
                      <a:pt x="85572" y="171144"/>
                    </a:lnTo>
                    <a:cubicBezTo>
                      <a:pt x="38312" y="171144"/>
                      <a:pt x="0" y="132832"/>
                      <a:pt x="0" y="85572"/>
                    </a:cubicBezTo>
                    <a:lnTo>
                      <a:pt x="0" y="85572"/>
                    </a:lnTo>
                    <a:cubicBezTo>
                      <a:pt x="0" y="38312"/>
                      <a:pt x="38312" y="0"/>
                      <a:pt x="85572" y="0"/>
                    </a:cubicBezTo>
                    <a:close/>
                  </a:path>
                </a:pathLst>
              </a:custGeom>
              <a:solidFill>
                <a:srgbClr val="41624D"/>
              </a:solidFill>
              <a:ln w="9525" cap="rnd">
                <a:solidFill>
                  <a:srgbClr val="41624D"/>
                </a:solidFill>
                <a:prstDash val="solid"/>
                <a:round/>
              </a:ln>
            </p:spPr>
          </p:sp>
          <p:sp>
            <p:nvSpPr>
              <p:cNvPr id="28" name="TextBox 28"/>
              <p:cNvSpPr txBox="1"/>
              <p:nvPr/>
            </p:nvSpPr>
            <p:spPr>
              <a:xfrm>
                <a:off x="0" y="-47625"/>
                <a:ext cx="1039241" cy="218769"/>
              </a:xfrm>
              <a:prstGeom prst="rect">
                <a:avLst/>
              </a:prstGeom>
            </p:spPr>
            <p:txBody>
              <a:bodyPr lIns="34493" tIns="34493" rIns="34493" bIns="34493" rtlCol="0" anchor="ctr"/>
              <a:lstStyle/>
              <a:p>
                <a:pPr marL="0" lvl="0" indent="0" algn="ctr">
                  <a:lnSpc>
                    <a:spcPts val="2895"/>
                  </a:lnSpc>
                  <a:spcBef>
                    <a:spcPct val="0"/>
                  </a:spcBef>
                </a:pPr>
              </a:p>
            </p:txBody>
          </p:sp>
        </p:grpSp>
        <p:sp>
          <p:nvSpPr>
            <p:cNvPr id="29" name="TextBox 29"/>
            <p:cNvSpPr txBox="1"/>
            <p:nvPr/>
          </p:nvSpPr>
          <p:spPr>
            <a:xfrm>
              <a:off x="292086" y="-16160"/>
              <a:ext cx="3461527" cy="613198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ctr">
                <a:lnSpc>
                  <a:spcPts val="3920"/>
                </a:lnSpc>
                <a:spcBef>
                  <a:spcPct val="0"/>
                </a:spcBef>
              </a:pPr>
              <a:r>
                <a:rPr lang="en-US" sz="2800" spc="279">
                  <a:solidFill>
                    <a:srgbClr val="FFFFFF"/>
                  </a:solidFill>
                  <a:ea typeface="方正大黑体_GBK" panose="02010600010101010101" charset="-122"/>
                </a:rPr>
                <a:t>请输入标题</a:t>
              </a:r>
              <a:endParaRPr lang="en-US" sz="2800" spc="279">
                <a:solidFill>
                  <a:srgbClr val="FFFFFF"/>
                </a:solidFill>
                <a:ea typeface="方正大黑体_GBK" panose="02010600010101010101" charset="-122"/>
              </a:endParaRPr>
            </a:p>
          </p:txBody>
        </p:sp>
      </p:grp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D1D5B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078580" y="8829375"/>
            <a:ext cx="15916463" cy="428925"/>
            <a:chOff x="0" y="0"/>
            <a:chExt cx="4191990" cy="112968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4191990" cy="112968"/>
            </a:xfrm>
            <a:custGeom>
              <a:avLst/>
              <a:gdLst/>
              <a:ahLst/>
              <a:cxnLst/>
              <a:rect l="l" t="t" r="r" b="b"/>
              <a:pathLst>
                <a:path w="4191990" h="112968">
                  <a:moveTo>
                    <a:pt x="0" y="0"/>
                  </a:moveTo>
                  <a:lnTo>
                    <a:pt x="4191990" y="0"/>
                  </a:lnTo>
                  <a:lnTo>
                    <a:pt x="4191990" y="112968"/>
                  </a:lnTo>
                  <a:lnTo>
                    <a:pt x="0" y="112968"/>
                  </a:lnTo>
                  <a:close/>
                </a:path>
              </a:pathLst>
            </a:custGeom>
            <a:solidFill>
              <a:srgbClr val="41624D"/>
            </a:solidFill>
          </p:spPr>
        </p:sp>
        <p:sp>
          <p:nvSpPr>
            <p:cNvPr id="4" name="TextBox 4"/>
            <p:cNvSpPr txBox="1"/>
            <p:nvPr/>
          </p:nvSpPr>
          <p:spPr>
            <a:xfrm>
              <a:off x="0" y="-28575"/>
              <a:ext cx="4191990" cy="14154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60"/>
                </a:lnSpc>
                <a:spcBef>
                  <a:spcPct val="0"/>
                </a:spcBef>
              </a:pPr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1028700" y="6582661"/>
            <a:ext cx="18966220" cy="2676644"/>
            <a:chOff x="0" y="0"/>
            <a:chExt cx="25288293" cy="3568858"/>
          </a:xfrm>
        </p:grpSpPr>
        <p:sp>
          <p:nvSpPr>
            <p:cNvPr id="6" name="Freeform 6"/>
            <p:cNvSpPr/>
            <p:nvPr/>
          </p:nvSpPr>
          <p:spPr>
            <a:xfrm>
              <a:off x="4377381" y="28302"/>
              <a:ext cx="10461806" cy="3537705"/>
            </a:xfrm>
            <a:custGeom>
              <a:avLst/>
              <a:gdLst/>
              <a:ahLst/>
              <a:cxnLst/>
              <a:rect l="l" t="t" r="r" b="b"/>
              <a:pathLst>
                <a:path w="10461806" h="3537705">
                  <a:moveTo>
                    <a:pt x="0" y="0"/>
                  </a:moveTo>
                  <a:lnTo>
                    <a:pt x="10461806" y="0"/>
                  </a:lnTo>
                  <a:lnTo>
                    <a:pt x="10461806" y="3537705"/>
                  </a:lnTo>
                  <a:lnTo>
                    <a:pt x="0" y="353770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">
                <a:extLst>
                  <a:ext uri="{96DAC541-7B7A-43D3-8B79-37D633B846F1}">
                    <asvg:svgBlip xmlns:asvg="http://schemas.microsoft.com/office/drawing/2016/SVG/main" r:embed="rId2"/>
                  </a:ext>
                </a:extLst>
              </a:blip>
              <a:stretch>
                <a:fillRect t="-56281" b="-115436"/>
              </a:stretch>
            </a:blipFill>
          </p:spPr>
        </p:sp>
        <p:sp>
          <p:nvSpPr>
            <p:cNvPr id="7" name="Freeform 7"/>
            <p:cNvSpPr/>
            <p:nvPr/>
          </p:nvSpPr>
          <p:spPr>
            <a:xfrm>
              <a:off x="0" y="0"/>
              <a:ext cx="4388593" cy="3568858"/>
            </a:xfrm>
            <a:custGeom>
              <a:avLst/>
              <a:gdLst/>
              <a:ahLst/>
              <a:cxnLst/>
              <a:rect l="l" t="t" r="r" b="b"/>
              <a:pathLst>
                <a:path w="4388593" h="3568858">
                  <a:moveTo>
                    <a:pt x="0" y="0"/>
                  </a:moveTo>
                  <a:lnTo>
                    <a:pt x="4388593" y="0"/>
                  </a:lnTo>
                  <a:lnTo>
                    <a:pt x="4388593" y="3568858"/>
                  </a:lnTo>
                  <a:lnTo>
                    <a:pt x="0" y="356885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">
                <a:extLst>
                  <a:ext uri="{96DAC541-7B7A-43D3-8B79-37D633B846F1}">
                    <asvg:svgBlip xmlns:asvg="http://schemas.microsoft.com/office/drawing/2016/SVG/main" r:embed="rId2"/>
                  </a:ext>
                </a:extLst>
              </a:blip>
              <a:stretch>
                <a:fillRect t="-54997" r="-138386" b="-114349"/>
              </a:stretch>
            </a:blipFill>
          </p:spPr>
        </p:sp>
        <p:sp>
          <p:nvSpPr>
            <p:cNvPr id="8" name="Freeform 8"/>
            <p:cNvSpPr/>
            <p:nvPr/>
          </p:nvSpPr>
          <p:spPr>
            <a:xfrm>
              <a:off x="14826487" y="28302"/>
              <a:ext cx="10461806" cy="3537705"/>
            </a:xfrm>
            <a:custGeom>
              <a:avLst/>
              <a:gdLst/>
              <a:ahLst/>
              <a:cxnLst/>
              <a:rect l="l" t="t" r="r" b="b"/>
              <a:pathLst>
                <a:path w="10461806" h="3537705">
                  <a:moveTo>
                    <a:pt x="0" y="0"/>
                  </a:moveTo>
                  <a:lnTo>
                    <a:pt x="10461806" y="0"/>
                  </a:lnTo>
                  <a:lnTo>
                    <a:pt x="10461806" y="3537705"/>
                  </a:lnTo>
                  <a:lnTo>
                    <a:pt x="0" y="353770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">
                <a:extLst>
                  <a:ext uri="{96DAC541-7B7A-43D3-8B79-37D633B846F1}">
                    <asvg:svgBlip xmlns:asvg="http://schemas.microsoft.com/office/drawing/2016/SVG/main" r:embed="rId2"/>
                  </a:ext>
                </a:extLst>
              </a:blip>
              <a:stretch>
                <a:fillRect t="-56281" b="-115436"/>
              </a:stretch>
            </a:blipFill>
          </p:spPr>
        </p:sp>
      </p:grpSp>
      <p:grpSp>
        <p:nvGrpSpPr>
          <p:cNvPr id="9" name="Group 9"/>
          <p:cNvGrpSpPr/>
          <p:nvPr/>
        </p:nvGrpSpPr>
        <p:grpSpPr>
          <a:xfrm>
            <a:off x="1078580" y="1138069"/>
            <a:ext cx="15916463" cy="7691305"/>
            <a:chOff x="0" y="0"/>
            <a:chExt cx="4191990" cy="2025694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4191990" cy="2025694"/>
            </a:xfrm>
            <a:custGeom>
              <a:avLst/>
              <a:gdLst/>
              <a:ahLst/>
              <a:cxnLst/>
              <a:rect l="l" t="t" r="r" b="b"/>
              <a:pathLst>
                <a:path w="4191990" h="2025694">
                  <a:moveTo>
                    <a:pt x="0" y="0"/>
                  </a:moveTo>
                  <a:lnTo>
                    <a:pt x="4191990" y="0"/>
                  </a:lnTo>
                  <a:lnTo>
                    <a:pt x="4191990" y="2025694"/>
                  </a:lnTo>
                  <a:lnTo>
                    <a:pt x="0" y="2025694"/>
                  </a:lnTo>
                  <a:close/>
                </a:path>
              </a:pathLst>
            </a:custGeom>
            <a:solidFill>
              <a:srgbClr val="F5FAF4"/>
            </a:solidFill>
          </p:spPr>
        </p:sp>
        <p:sp>
          <p:nvSpPr>
            <p:cNvPr id="11" name="TextBox 11"/>
            <p:cNvSpPr txBox="1"/>
            <p:nvPr/>
          </p:nvSpPr>
          <p:spPr>
            <a:xfrm>
              <a:off x="0" y="-28575"/>
              <a:ext cx="4191990" cy="2054269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60"/>
                </a:lnSpc>
                <a:spcBef>
                  <a:spcPct val="0"/>
                </a:spcBef>
              </a:pPr>
            </a:p>
          </p:txBody>
        </p:sp>
      </p:grpSp>
      <p:grpSp>
        <p:nvGrpSpPr>
          <p:cNvPr id="13" name="Group 13"/>
          <p:cNvGrpSpPr/>
          <p:nvPr/>
        </p:nvGrpSpPr>
        <p:grpSpPr>
          <a:xfrm>
            <a:off x="-9525" y="-212708"/>
            <a:ext cx="1423091" cy="10984331"/>
            <a:chOff x="0" y="0"/>
            <a:chExt cx="374806" cy="2892992"/>
          </a:xfrm>
        </p:grpSpPr>
        <p:sp>
          <p:nvSpPr>
            <p:cNvPr id="14" name="Freeform 14"/>
            <p:cNvSpPr/>
            <p:nvPr/>
          </p:nvSpPr>
          <p:spPr>
            <a:xfrm>
              <a:off x="0" y="0"/>
              <a:ext cx="374806" cy="2892992"/>
            </a:xfrm>
            <a:custGeom>
              <a:avLst/>
              <a:gdLst/>
              <a:ahLst/>
              <a:cxnLst/>
              <a:rect l="l" t="t" r="r" b="b"/>
              <a:pathLst>
                <a:path w="374806" h="2892992">
                  <a:moveTo>
                    <a:pt x="0" y="0"/>
                  </a:moveTo>
                  <a:lnTo>
                    <a:pt x="374806" y="0"/>
                  </a:lnTo>
                  <a:lnTo>
                    <a:pt x="374806" y="2892992"/>
                  </a:lnTo>
                  <a:lnTo>
                    <a:pt x="0" y="2892992"/>
                  </a:lnTo>
                  <a:close/>
                </a:path>
              </a:pathLst>
            </a:custGeom>
            <a:solidFill>
              <a:srgbClr val="41624D"/>
            </a:solidFill>
          </p:spPr>
        </p:sp>
        <p:sp>
          <p:nvSpPr>
            <p:cNvPr id="15" name="TextBox 15"/>
            <p:cNvSpPr txBox="1"/>
            <p:nvPr/>
          </p:nvSpPr>
          <p:spPr>
            <a:xfrm>
              <a:off x="0" y="-28575"/>
              <a:ext cx="374806" cy="292156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60"/>
                </a:lnSpc>
                <a:spcBef>
                  <a:spcPct val="0"/>
                </a:spcBef>
              </a:pPr>
            </a:p>
          </p:txBody>
        </p:sp>
      </p:grpSp>
      <p:grpSp>
        <p:nvGrpSpPr>
          <p:cNvPr id="16" name="Group 16"/>
          <p:cNvGrpSpPr/>
          <p:nvPr/>
        </p:nvGrpSpPr>
        <p:grpSpPr>
          <a:xfrm>
            <a:off x="16864909" y="-212708"/>
            <a:ext cx="1423091" cy="10984331"/>
            <a:chOff x="0" y="0"/>
            <a:chExt cx="374806" cy="2892992"/>
          </a:xfrm>
        </p:grpSpPr>
        <p:sp>
          <p:nvSpPr>
            <p:cNvPr id="17" name="Freeform 17"/>
            <p:cNvSpPr/>
            <p:nvPr/>
          </p:nvSpPr>
          <p:spPr>
            <a:xfrm>
              <a:off x="0" y="0"/>
              <a:ext cx="374806" cy="2892992"/>
            </a:xfrm>
            <a:custGeom>
              <a:avLst/>
              <a:gdLst/>
              <a:ahLst/>
              <a:cxnLst/>
              <a:rect l="l" t="t" r="r" b="b"/>
              <a:pathLst>
                <a:path w="374806" h="2892992">
                  <a:moveTo>
                    <a:pt x="0" y="0"/>
                  </a:moveTo>
                  <a:lnTo>
                    <a:pt x="374806" y="0"/>
                  </a:lnTo>
                  <a:lnTo>
                    <a:pt x="374806" y="2892992"/>
                  </a:lnTo>
                  <a:lnTo>
                    <a:pt x="0" y="2892992"/>
                  </a:lnTo>
                  <a:close/>
                </a:path>
              </a:pathLst>
            </a:custGeom>
            <a:solidFill>
              <a:srgbClr val="41624D"/>
            </a:solidFill>
            <a:ln cap="sq">
              <a:noFill/>
              <a:prstDash val="solid"/>
              <a:miter/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0" y="-28575"/>
              <a:ext cx="374806" cy="292156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660"/>
                </a:lnSpc>
                <a:spcBef>
                  <a:spcPct val="0"/>
                </a:spcBef>
              </a:pPr>
            </a:p>
          </p:txBody>
        </p:sp>
      </p:grpSp>
      <p:sp>
        <p:nvSpPr>
          <p:cNvPr id="30" name="Freeform 30"/>
          <p:cNvSpPr/>
          <p:nvPr/>
        </p:nvSpPr>
        <p:spPr>
          <a:xfrm>
            <a:off x="2143025" y="1107246"/>
            <a:ext cx="7972746" cy="3388268"/>
          </a:xfrm>
          <a:custGeom>
            <a:avLst/>
            <a:gdLst/>
            <a:ahLst/>
            <a:cxnLst/>
            <a:rect l="l" t="t" r="r" b="b"/>
            <a:pathLst>
              <a:path w="7972746" h="3388268">
                <a:moveTo>
                  <a:pt x="0" y="0"/>
                </a:moveTo>
                <a:lnTo>
                  <a:pt x="7972746" y="0"/>
                </a:lnTo>
                <a:lnTo>
                  <a:pt x="7972746" y="3388268"/>
                </a:lnTo>
                <a:lnTo>
                  <a:pt x="0" y="3388268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16000"/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t="-133141"/>
            </a:stretch>
          </a:blipFill>
        </p:spPr>
      </p:sp>
      <p:sp>
        <p:nvSpPr>
          <p:cNvPr id="35" name="TextBox 35"/>
          <p:cNvSpPr txBox="1"/>
          <p:nvPr/>
        </p:nvSpPr>
        <p:spPr>
          <a:xfrm>
            <a:off x="2290165" y="3874456"/>
            <a:ext cx="14175894" cy="212522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16680"/>
              </a:lnSpc>
            </a:pPr>
            <a:r>
              <a:rPr lang="en-US" sz="13900" spc="1598" dirty="0" err="1">
                <a:solidFill>
                  <a:srgbClr val="3B5345"/>
                </a:solidFill>
                <a:ea typeface="华文中宋" panose="02010600040101010101" charset="-122"/>
              </a:rPr>
              <a:t>感谢您的观看</a:t>
            </a:r>
            <a:endParaRPr lang="en-US" sz="13900" spc="1598" dirty="0">
              <a:solidFill>
                <a:srgbClr val="3B5345"/>
              </a:solidFill>
              <a:ea typeface="华文中宋" panose="02010600040101010101" charset="-122"/>
            </a:endParaRPr>
          </a:p>
        </p:txBody>
      </p:sp>
      <p:sp>
        <p:nvSpPr>
          <p:cNvPr id="42" name="TextBox 42"/>
          <p:cNvSpPr txBox="1"/>
          <p:nvPr/>
        </p:nvSpPr>
        <p:spPr>
          <a:xfrm>
            <a:off x="14325600" y="2509273"/>
            <a:ext cx="4544416" cy="8477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6720"/>
              </a:lnSpc>
            </a:pPr>
            <a:r>
              <a:rPr lang="en-US" sz="5600" spc="1024" dirty="0">
                <a:solidFill>
                  <a:srgbClr val="121212"/>
                </a:solidFill>
                <a:latin typeface="Chakra Petch" panose="00000500000000000000"/>
              </a:rPr>
              <a:t>BUPT</a:t>
            </a:r>
            <a:endParaRPr lang="en-US" sz="5600" spc="1024" dirty="0">
              <a:solidFill>
                <a:srgbClr val="121212"/>
              </a:solidFill>
              <a:latin typeface="Chakra Petch" panose="00000500000000000000"/>
            </a:endParaRPr>
          </a:p>
        </p:txBody>
      </p:sp>
      <p:sp>
        <p:nvSpPr>
          <p:cNvPr id="43" name="Freeform 31"/>
          <p:cNvSpPr/>
          <p:nvPr/>
        </p:nvSpPr>
        <p:spPr>
          <a:xfrm>
            <a:off x="17165015" y="8632398"/>
            <a:ext cx="822879" cy="822879"/>
          </a:xfrm>
          <a:custGeom>
            <a:avLst/>
            <a:gdLst/>
            <a:ahLst/>
            <a:cxnLst/>
            <a:rect l="l" t="t" r="r" b="b"/>
            <a:pathLst>
              <a:path w="822879" h="822879">
                <a:moveTo>
                  <a:pt x="0" y="0"/>
                </a:moveTo>
                <a:lnTo>
                  <a:pt x="822879" y="0"/>
                </a:lnTo>
                <a:lnTo>
                  <a:pt x="822879" y="822879"/>
                </a:lnTo>
                <a:lnTo>
                  <a:pt x="0" y="822879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</p:sp>
      <p:sp>
        <p:nvSpPr>
          <p:cNvPr id="44" name="Freeform 30"/>
          <p:cNvSpPr/>
          <p:nvPr/>
        </p:nvSpPr>
        <p:spPr>
          <a:xfrm rot="5400000">
            <a:off x="-3984375" y="4593346"/>
            <a:ext cx="9411340" cy="1014660"/>
          </a:xfrm>
          <a:custGeom>
            <a:avLst/>
            <a:gdLst/>
            <a:ahLst/>
            <a:cxnLst/>
            <a:rect l="l" t="t" r="r" b="b"/>
            <a:pathLst>
              <a:path w="9411340" h="1014660">
                <a:moveTo>
                  <a:pt x="0" y="0"/>
                </a:moveTo>
                <a:lnTo>
                  <a:pt x="9411340" y="0"/>
                </a:lnTo>
                <a:lnTo>
                  <a:pt x="9411340" y="1014660"/>
                </a:lnTo>
                <a:lnTo>
                  <a:pt x="0" y="1014660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/>
            </a:stretch>
          </a:blipFill>
        </p:spPr>
      </p:sp>
      <p:sp>
        <p:nvSpPr>
          <p:cNvPr id="45" name="Freeform 18"/>
          <p:cNvSpPr/>
          <p:nvPr/>
        </p:nvSpPr>
        <p:spPr>
          <a:xfrm>
            <a:off x="15958837" y="1138069"/>
            <a:ext cx="2794985" cy="1066475"/>
          </a:xfrm>
          <a:custGeom>
            <a:avLst/>
            <a:gdLst/>
            <a:ahLst/>
            <a:cxnLst/>
            <a:rect l="l" t="t" r="r" b="b"/>
            <a:pathLst>
              <a:path w="2794985" h="1066475">
                <a:moveTo>
                  <a:pt x="0" y="0"/>
                </a:moveTo>
                <a:lnTo>
                  <a:pt x="2794985" y="0"/>
                </a:lnTo>
                <a:lnTo>
                  <a:pt x="2794985" y="1066475"/>
                </a:lnTo>
                <a:lnTo>
                  <a:pt x="0" y="1066475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t="-164422" r="-895"/>
            </a:stretch>
          </a:blipFill>
        </p:spPr>
      </p:sp>
    </p:spTree>
  </p:cSld>
  <p:clrMapOvr>
    <a:masterClrMapping/>
  </p:clrMapOvr>
</p:sld>
</file>

<file path=ppt/tags/tag1.xml><?xml version="1.0" encoding="utf-8"?>
<p:tagLst xmlns:p="http://schemas.openxmlformats.org/presentationml/2006/main">
  <p:tag name="KSO_WM_DIAGRAM_VIRTUALLY_FRAME" val="{&quot;height&quot;:282.9827559055118,&quot;left&quot;:201.3677165354331,&quot;top&quot;:333.5672440944882,&quot;width&quot;:1070.7794488188977}"/>
</p:tagLst>
</file>

<file path=ppt/tags/tag2.xml><?xml version="1.0" encoding="utf-8"?>
<p:tagLst xmlns:p="http://schemas.openxmlformats.org/presentationml/2006/main">
  <p:tag name="KSO_WM_DIAGRAM_VIRTUALLY_FRAME" val="{&quot;height&quot;:282.9827559055118,&quot;left&quot;:201.3677165354331,&quot;top&quot;:333.5672440944882,&quot;width&quot;:1070.7794488188977}"/>
</p:tagLst>
</file>

<file path=ppt/tags/tag3.xml><?xml version="1.0" encoding="utf-8"?>
<p:tagLst xmlns:p="http://schemas.openxmlformats.org/presentationml/2006/main">
  <p:tag name="KSO_WM_DIAGRAM_VIRTUALLY_FRAME" val="{&quot;height&quot;:282.9827559055118,&quot;left&quot;:201.3677165354331,&quot;top&quot;:333.5672440944882,&quot;width&quot;:1070.7794488188977}"/>
</p:tagLst>
</file>

<file path=ppt/tags/tag4.xml><?xml version="1.0" encoding="utf-8"?>
<p:tagLst xmlns:p="http://schemas.openxmlformats.org/presentationml/2006/main">
  <p:tag name="KSO_WM_DIAGRAM_VIRTUALLY_FRAME" val="{&quot;height&quot;:282.9827559055118,&quot;left&quot;:201.3677165354331,&quot;top&quot;:333.5672440944882,&quot;width&quot;:1070.7794488188977}"/>
</p:tagLst>
</file>

<file path=ppt/tags/tag5.xml><?xml version="1.0" encoding="utf-8"?>
<p:tagLst xmlns:p="http://schemas.openxmlformats.org/presentationml/2006/main">
  <p:tag name="KSO_WM_DIAGRAM_VIRTUALLY_FRAME" val="{&quot;height&quot;:282.9827559055118,&quot;left&quot;:201.3677165354331,&quot;top&quot;:333.5672440944882,&quot;width&quot;:1070.7794488188977}"/>
</p:tagLst>
</file>

<file path=ppt/tags/tag6.xml><?xml version="1.0" encoding="utf-8"?>
<p:tagLst xmlns:p="http://schemas.openxmlformats.org/presentationml/2006/main">
  <p:tag name="KSO_WM_DIAGRAM_VIRTUALLY_FRAME" val="{&quot;height&quot;:282.9827559055118,&quot;left&quot;:201.3677165354331,&quot;top&quot;:333.5672440944882,&quot;width&quot;:1070.7794488188977}"/>
</p:tagLst>
</file>

<file path=ppt/tags/tag7.xml><?xml version="1.0" encoding="utf-8"?>
<p:tagLst xmlns:p="http://schemas.openxmlformats.org/presentationml/2006/main">
  <p:tag name="KSO_WM_DIAGRAM_VIRTUALLY_FRAME" val="{&quot;height&quot;:282.9827559055118,&quot;left&quot;:201.3677165354331,&quot;top&quot;:333.5672440944882,&quot;width&quot;:1070.7794488188977}"/>
</p:tagLst>
</file>

<file path=ppt/tags/tag8.xml><?xml version="1.0" encoding="utf-8"?>
<p:tagLst xmlns:p="http://schemas.openxmlformats.org/presentationml/2006/main">
  <p:tag name="KSO_WM_DIAGRAM_VIRTUALLY_FRAME" val="{&quot;height&quot;:282.9827559055118,&quot;left&quot;:201.3677165354331,&quot;top&quot;:333.5672440944882,&quot;width&quot;:1070.7794488188977}"/>
</p:tagLst>
</file>

<file path=ppt/tags/tag9.xml><?xml version="1.0" encoding="utf-8"?>
<p:tagLst xmlns:p="http://schemas.openxmlformats.org/presentationml/2006/main">
  <p:tag name="KSO_WM_DIAGRAM_VIRTUALLY_FRAME" val="{&quot;height&quot;:282.9827559055118,&quot;left&quot;:201.3677165354331,&quot;top&quot;:333.5672440944882,&quot;width&quot;:1070.7794488188977}"/>
</p:tagLst>
</file>

<file path=ppt/tags/tag10.xml><?xml version="1.0" encoding="utf-8"?>
<p:tagLst xmlns:p="http://schemas.openxmlformats.org/presentationml/2006/main">
  <p:tag name="KSO_WM_DIAGRAM_VIRTUALLY_FRAME" val="{&quot;height&quot;:282.9827559055118,&quot;left&quot;:201.3677165354331,&quot;top&quot;:333.5672440944882,&quot;width&quot;:1070.7794488188977}"/>
</p:tagLst>
</file>

<file path=ppt/tags/tag11.xml><?xml version="1.0" encoding="utf-8"?>
<p:tagLst xmlns:p="http://schemas.openxmlformats.org/presentationml/2006/main">
  <p:tag name="KSO_WM_DIAGRAM_VIRTUALLY_FRAME" val="{&quot;height&quot;:282.9827559055118,&quot;left&quot;:201.3677165354331,&quot;top&quot;:333.5672440944882,&quot;width&quot;:1070.7794488188977}"/>
</p:tagLst>
</file>

<file path=ppt/tags/tag12.xml><?xml version="1.0" encoding="utf-8"?>
<p:tagLst xmlns:p="http://schemas.openxmlformats.org/presentationml/2006/main">
  <p:tag name="KSO_WM_DIAGRAM_VIRTUALLY_FRAME" val="{&quot;height&quot;:282.9827559055118,&quot;left&quot;:201.3677165354331,&quot;top&quot;:333.5672440944882,&quot;width&quot;:1070.7794488188977}"/>
</p:tagLst>
</file>

<file path=ppt/tags/tag13.xml><?xml version="1.0" encoding="utf-8"?>
<p:tagLst xmlns:p="http://schemas.openxmlformats.org/presentationml/2006/main">
  <p:tag name="KSO_WM_DIAGRAM_VIRTUALLY_FRAME" val="{&quot;height&quot;:396.5693700787401,&quot;left&quot;:101.13078740157479,&quot;top&quot;:123.00385826771654,&quot;width&quot;:863.2938582677165}"/>
</p:tagLst>
</file>

<file path=ppt/tags/tag14.xml><?xml version="1.0" encoding="utf-8"?>
<p:tagLst xmlns:p="http://schemas.openxmlformats.org/presentationml/2006/main">
  <p:tag name="KSO_WM_DIAGRAM_VIRTUALLY_FRAME" val="{&quot;height&quot;:396.5693700787401,&quot;left&quot;:101.13078740157479,&quot;top&quot;:123.00385826771654,&quot;width&quot;:863.2938582677165}"/>
</p:tagLst>
</file>

<file path=ppt/tags/tag15.xml><?xml version="1.0" encoding="utf-8"?>
<p:tagLst xmlns:p="http://schemas.openxmlformats.org/presentationml/2006/main">
  <p:tag name="KSO_WM_DIAGRAM_VIRTUALLY_FRAME" val="{&quot;height&quot;:396.5693700787401,&quot;left&quot;:101.13078740157479,&quot;top&quot;:123.00385826771654,&quot;width&quot;:863.2938582677165}"/>
</p:tagLst>
</file>

<file path=ppt/tags/tag16.xml><?xml version="1.0" encoding="utf-8"?>
<p:tagLst xmlns:p="http://schemas.openxmlformats.org/presentationml/2006/main">
  <p:tag name="KSO_WM_DIAGRAM_VIRTUALLY_FRAME" val="{&quot;height&quot;:396.5693700787401,&quot;left&quot;:101.13078740157479,&quot;top&quot;:123.00385826771654,&quot;width&quot;:863.2938582677165}"/>
</p:tagLst>
</file>

<file path=ppt/tags/tag17.xml><?xml version="1.0" encoding="utf-8"?>
<p:tagLst xmlns:p="http://schemas.openxmlformats.org/presentationml/2006/main">
  <p:tag name="KSO_WM_DIAGRAM_VIRTUALLY_FRAME" val="{&quot;height&quot;:396.5693700787401,&quot;left&quot;:101.13078740157479,&quot;top&quot;:123.00385826771654,&quot;width&quot;:863.2938582677165}"/>
</p:tagLst>
</file>

<file path=ppt/tags/tag18.xml><?xml version="1.0" encoding="utf-8"?>
<p:tagLst xmlns:p="http://schemas.openxmlformats.org/presentationml/2006/main">
  <p:tag name="KSO_WM_DIAGRAM_VIRTUALLY_FRAME" val="{&quot;height&quot;:396.5693700787401,&quot;left&quot;:101.13078740157479,&quot;top&quot;:123.00385826771654,&quot;width&quot;:863.2938582677165}"/>
</p:tagLst>
</file>

<file path=ppt/tags/tag19.xml><?xml version="1.0" encoding="utf-8"?>
<p:tagLst xmlns:p="http://schemas.openxmlformats.org/presentationml/2006/main">
  <p:tag name="KSO_WM_DIAGRAM_VIRTUALLY_FRAME" val="{&quot;height&quot;:396.5693700787401,&quot;left&quot;:101.13078740157479,&quot;top&quot;:123.00385826771654,&quot;width&quot;:863.2938582677165}"/>
</p:tagLst>
</file>

<file path=ppt/tags/tag20.xml><?xml version="1.0" encoding="utf-8"?>
<p:tagLst xmlns:p="http://schemas.openxmlformats.org/presentationml/2006/main">
  <p:tag name="KSO_WM_DIAGRAM_VIRTUALLY_FRAME" val="{&quot;height&quot;:396.5693700787401,&quot;left&quot;:101.13078740157479,&quot;top&quot;:123.00385826771654,&quot;width&quot;:863.2938582677165}"/>
</p:tagLst>
</file>

<file path=ppt/tags/tag21.xml><?xml version="1.0" encoding="utf-8"?>
<p:tagLst xmlns:p="http://schemas.openxmlformats.org/presentationml/2006/main">
  <p:tag name="KSO_WM_DIAGRAM_VIRTUALLY_FRAME" val="{&quot;height&quot;:396.5693700787401,&quot;left&quot;:101.13078740157479,&quot;top&quot;:123.00385826771654,&quot;width&quot;:863.2938582677165}"/>
</p:tagLst>
</file>

<file path=ppt/tags/tag22.xml><?xml version="1.0" encoding="utf-8"?>
<p:tagLst xmlns:p="http://schemas.openxmlformats.org/presentationml/2006/main">
  <p:tag name="KSO_WM_DIAGRAM_VIRTUALLY_FRAME" val="{&quot;height&quot;:470.63574803149606,&quot;left&quot;:84,&quot;top&quot;:206.29606299212597,&quot;width&quot;:1260.9784251968504}"/>
</p:tagLst>
</file>

<file path=ppt/tags/tag23.xml><?xml version="1.0" encoding="utf-8"?>
<p:tagLst xmlns:p="http://schemas.openxmlformats.org/presentationml/2006/main">
  <p:tag name="KSO_WM_DIAGRAM_VIRTUALLY_FRAME" val="{&quot;height&quot;:470.63574803149606,&quot;left&quot;:84,&quot;top&quot;:206.29606299212597,&quot;width&quot;:1260.9784251968504}"/>
</p:tagLst>
</file>

<file path=ppt/tags/tag24.xml><?xml version="1.0" encoding="utf-8"?>
<p:tagLst xmlns:p="http://schemas.openxmlformats.org/presentationml/2006/main">
  <p:tag name="KSO_WM_DIAGRAM_VIRTUALLY_FRAME" val="{&quot;height&quot;:470.63574803149606,&quot;left&quot;:84,&quot;top&quot;:206.29606299212597,&quot;width&quot;:1260.9784251968504}"/>
</p:tagLst>
</file>

<file path=ppt/tags/tag25.xml><?xml version="1.0" encoding="utf-8"?>
<p:tagLst xmlns:p="http://schemas.openxmlformats.org/presentationml/2006/main">
  <p:tag name="KSO_WM_DIAGRAM_VIRTUALLY_FRAME" val="{&quot;height&quot;:470.63574803149606,&quot;left&quot;:84,&quot;top&quot;:206.29606299212597,&quot;width&quot;:1260.9784251968504}"/>
</p:tagLst>
</file>

<file path=ppt/tags/tag26.xml><?xml version="1.0" encoding="utf-8"?>
<p:tagLst xmlns:p="http://schemas.openxmlformats.org/presentationml/2006/main">
  <p:tag name="KSO_WM_DIAGRAM_VIRTUALLY_FRAME" val="{&quot;height&quot;:470.63574803149606,&quot;left&quot;:84,&quot;top&quot;:206.29606299212597,&quot;width&quot;:1260.9784251968504}"/>
</p:tagLst>
</file>

<file path=ppt/tags/tag27.xml><?xml version="1.0" encoding="utf-8"?>
<p:tagLst xmlns:p="http://schemas.openxmlformats.org/presentationml/2006/main">
  <p:tag name="KSO_WM_DIAGRAM_VIRTUALLY_FRAME" val="{&quot;height&quot;:470.63574803149606,&quot;left&quot;:84,&quot;top&quot;:206.29606299212597,&quot;width&quot;:1260.9784251968504}"/>
</p:tagLst>
</file>

<file path=ppt/tags/tag28.xml><?xml version="1.0" encoding="utf-8"?>
<p:tagLst xmlns:p="http://schemas.openxmlformats.org/presentationml/2006/main">
  <p:tag name="KSO_WM_DIAGRAM_VIRTUALLY_FRAME" val="{&quot;height&quot;:470.63574803149606,&quot;left&quot;:84,&quot;top&quot;:206.29606299212597,&quot;width&quot;:1260.9784251968504}"/>
</p:tagLst>
</file>

<file path=ppt/tags/tag29.xml><?xml version="1.0" encoding="utf-8"?>
<p:tagLst xmlns:p="http://schemas.openxmlformats.org/presentationml/2006/main">
  <p:tag name="KSO_WM_DIAGRAM_VIRTUALLY_FRAME" val="{&quot;height&quot;:470.63574803149606,&quot;left&quot;:84,&quot;top&quot;:206.29606299212597,&quot;width&quot;:1260.9784251968504}"/>
</p:tagLst>
</file>

<file path=ppt/tags/tag30.xml><?xml version="1.0" encoding="utf-8"?>
<p:tagLst xmlns:p="http://schemas.openxmlformats.org/presentationml/2006/main">
  <p:tag name="KSO_WM_DIAGRAM_VIRTUALLY_FRAME" val="{&quot;height&quot;:470.63574803149606,&quot;left&quot;:84,&quot;top&quot;:206.29606299212597,&quot;width&quot;:1260.9784251968504}"/>
</p:tagLst>
</file>

<file path=ppt/tags/tag31.xml><?xml version="1.0" encoding="utf-8"?>
<p:tagLst xmlns:p="http://schemas.openxmlformats.org/presentationml/2006/main">
  <p:tag name="KSO_WM_DIAGRAM_VIRTUALLY_FRAME" val="{&quot;height&quot;:437.85,&quot;left&quot;:54,&quot;top&quot;:203.55,&quot;width&quot;:1223.9414960629922}"/>
</p:tagLst>
</file>

<file path=ppt/tags/tag32.xml><?xml version="1.0" encoding="utf-8"?>
<p:tagLst xmlns:p="http://schemas.openxmlformats.org/presentationml/2006/main">
  <p:tag name="KSO_WM_DIAGRAM_VIRTUALLY_FRAME" val="{&quot;height&quot;:437.85,&quot;left&quot;:54,&quot;top&quot;:203.55,&quot;width&quot;:1223.9414960629922}"/>
</p:tagLst>
</file>

<file path=ppt/tags/tag33.xml><?xml version="1.0" encoding="utf-8"?>
<p:tagLst xmlns:p="http://schemas.openxmlformats.org/presentationml/2006/main">
  <p:tag name="KSO_WM_DIAGRAM_VIRTUALLY_FRAME" val="{&quot;height&quot;:437.85,&quot;left&quot;:54,&quot;top&quot;:203.55,&quot;width&quot;:1223.9414960629922}"/>
</p:tagLst>
</file>

<file path=ppt/tags/tag34.xml><?xml version="1.0" encoding="utf-8"?>
<p:tagLst xmlns:p="http://schemas.openxmlformats.org/presentationml/2006/main">
  <p:tag name="KSO_WM_DIAGRAM_VIRTUALLY_FRAME" val="{&quot;height&quot;:437.85,&quot;left&quot;:54,&quot;top&quot;:203.55,&quot;width&quot;:1223.9414960629922}"/>
</p:tagLst>
</file>

<file path=ppt/tags/tag35.xml><?xml version="1.0" encoding="utf-8"?>
<p:tagLst xmlns:p="http://schemas.openxmlformats.org/presentationml/2006/main">
  <p:tag name="KSO_WM_DIAGRAM_VIRTUALLY_FRAME" val="{&quot;height&quot;:437.85,&quot;left&quot;:54,&quot;top&quot;:203.55,&quot;width&quot;:1223.9414960629922}"/>
</p:tagLst>
</file>

<file path=ppt/tags/tag36.xml><?xml version="1.0" encoding="utf-8"?>
<p:tagLst xmlns:p="http://schemas.openxmlformats.org/presentationml/2006/main">
  <p:tag name="KSO_WM_DIAGRAM_VIRTUALLY_FRAME" val="{&quot;height&quot;:437.85,&quot;left&quot;:54,&quot;top&quot;:203.55,&quot;width&quot;:1223.9414960629922}"/>
</p:tagLst>
</file>

<file path=ppt/tags/tag37.xml><?xml version="1.0" encoding="utf-8"?>
<p:tagLst xmlns:p="http://schemas.openxmlformats.org/presentationml/2006/main">
  <p:tag name="KSO_WM_DIAGRAM_VIRTUALLY_FRAME" val="{&quot;height&quot;:437.85,&quot;left&quot;:54,&quot;top&quot;:203.55,&quot;width&quot;:1223.9414960629922}"/>
</p:tagLst>
</file>

<file path=ppt/tags/tag38.xml><?xml version="1.0" encoding="utf-8"?>
<p:tagLst xmlns:p="http://schemas.openxmlformats.org/presentationml/2006/main">
  <p:tag name="KSO_WM_DIAGRAM_VIRTUALLY_FRAME" val="{&quot;height&quot;:437.85,&quot;left&quot;:54,&quot;top&quot;:203.55,&quot;width&quot;:1223.9414960629922}"/>
</p:tagLst>
</file>

<file path=ppt/tags/tag39.xml><?xml version="1.0" encoding="utf-8"?>
<p:tagLst xmlns:p="http://schemas.openxmlformats.org/presentationml/2006/main">
  <p:tag name="KSO_WM_DIAGRAM_VIRTUALLY_FRAME" val="{&quot;height&quot;:437.85,&quot;left&quot;:54,&quot;top&quot;:203.55,&quot;width&quot;:1223.9414960629922}"/>
</p:tagLst>
</file>

<file path=ppt/tags/tag40.xml><?xml version="1.0" encoding="utf-8"?>
<p:tagLst xmlns:p="http://schemas.openxmlformats.org/presentationml/2006/main">
  <p:tag name="KSO_WM_DIAGRAM_VIRTUALLY_FRAME" val="{&quot;height&quot;:437.85,&quot;left&quot;:54,&quot;top&quot;:203.55,&quot;width&quot;:1223.9414960629922}"/>
</p:tagLst>
</file>

<file path=ppt/tags/tag41.xml><?xml version="1.0" encoding="utf-8"?>
<p:tagLst xmlns:p="http://schemas.openxmlformats.org/presentationml/2006/main">
  <p:tag name="KSO_WM_DIAGRAM_VIRTUALLY_FRAME" val="{&quot;height&quot;:437.85,&quot;left&quot;:54,&quot;top&quot;:203.55,&quot;width&quot;:1223.9414960629922}"/>
</p:tagLst>
</file>

<file path=ppt/tags/tag42.xml><?xml version="1.0" encoding="utf-8"?>
<p:tagLst xmlns:p="http://schemas.openxmlformats.org/presentationml/2006/main">
  <p:tag name="KSO_WM_DIAGRAM_VIRTUALLY_FRAME" val="{&quot;height&quot;:437.85,&quot;left&quot;:54,&quot;top&quot;:203.55,&quot;width&quot;:1223.9414960629922}"/>
</p:tagLst>
</file>

<file path=ppt/tags/tag43.xml><?xml version="1.0" encoding="utf-8"?>
<p:tagLst xmlns:p="http://schemas.openxmlformats.org/presentationml/2006/main">
  <p:tag name="KSO_WM_DIAGRAM_VIRTUALLY_FRAME" val="{&quot;height&quot;:437.85,&quot;left&quot;:54,&quot;top&quot;:203.55,&quot;width&quot;:1223.9414960629922}"/>
</p:tagLst>
</file>

<file path=ppt/tags/tag44.xml><?xml version="1.0" encoding="utf-8"?>
<p:tagLst xmlns:p="http://schemas.openxmlformats.org/presentationml/2006/main">
  <p:tag name="KSO_WM_DIAGRAM_VIRTUALLY_FRAME" val="{&quot;height&quot;:437.85,&quot;left&quot;:54,&quot;top&quot;:203.55,&quot;width&quot;:1223.9414960629922}"/>
</p:tagLst>
</file>

<file path=ppt/tags/tag45.xml><?xml version="1.0" encoding="utf-8"?>
<p:tagLst xmlns:p="http://schemas.openxmlformats.org/presentationml/2006/main">
  <p:tag name="KSO_WM_DIAGRAM_VIRTUALLY_FRAME" val="{&quot;height&quot;:437.85,&quot;left&quot;:54,&quot;top&quot;:203.55,&quot;width&quot;:1223.9414960629922}"/>
</p:tagLst>
</file>

<file path=ppt/tags/tag46.xml><?xml version="1.0" encoding="utf-8"?>
<p:tagLst xmlns:p="http://schemas.openxmlformats.org/presentationml/2006/main">
  <p:tag name="KSO_WM_DIAGRAM_VIRTUALLY_FRAME" val="{&quot;height&quot;:437.85,&quot;left&quot;:54,&quot;top&quot;:203.55,&quot;width&quot;:1223.9414960629922}"/>
</p:tagLst>
</file>

<file path=ppt/tags/tag47.xml><?xml version="1.0" encoding="utf-8"?>
<p:tagLst xmlns:p="http://schemas.openxmlformats.org/presentationml/2006/main">
  <p:tag name="KSO_WM_DIAGRAM_VIRTUALLY_FRAME" val="{&quot;height&quot;:436.85,&quot;left&quot;:162.05,&quot;top&quot;:203.55,&quot;width&quot;:1115.8914960629922}"/>
</p:tagLst>
</file>

<file path=ppt/tags/tag48.xml><?xml version="1.0" encoding="utf-8"?>
<p:tagLst xmlns:p="http://schemas.openxmlformats.org/presentationml/2006/main">
  <p:tag name="KSO_WM_DIAGRAM_VIRTUALLY_FRAME" val="{&quot;height&quot;:436.85,&quot;left&quot;:162.05,&quot;top&quot;:203.55,&quot;width&quot;:1115.8914960629922}"/>
</p:tagLst>
</file>

<file path=ppt/tags/tag49.xml><?xml version="1.0" encoding="utf-8"?>
<p:tagLst xmlns:p="http://schemas.openxmlformats.org/presentationml/2006/main">
  <p:tag name="KSO_WM_DIAGRAM_VIRTUALLY_FRAME" val="{&quot;height&quot;:436.85,&quot;left&quot;:162.05,&quot;top&quot;:203.55,&quot;width&quot;:1115.8914960629922}"/>
</p:tagLst>
</file>

<file path=ppt/tags/tag50.xml><?xml version="1.0" encoding="utf-8"?>
<p:tagLst xmlns:p="http://schemas.openxmlformats.org/presentationml/2006/main">
  <p:tag name="KSO_WM_DIAGRAM_VIRTUALLY_FRAME" val="{&quot;height&quot;:436.85,&quot;left&quot;:162.05,&quot;top&quot;:203.55,&quot;width&quot;:1115.8914960629922}"/>
</p:tagLst>
</file>

<file path=ppt/tags/tag51.xml><?xml version="1.0" encoding="utf-8"?>
<p:tagLst xmlns:p="http://schemas.openxmlformats.org/presentationml/2006/main">
  <p:tag name="KSO_WM_DIAGRAM_VIRTUALLY_FRAME" val="{&quot;height&quot;:436.85,&quot;left&quot;:162.05,&quot;top&quot;:203.55,&quot;width&quot;:1115.8914960629922}"/>
</p:tagLst>
</file>

<file path=ppt/tags/tag52.xml><?xml version="1.0" encoding="utf-8"?>
<p:tagLst xmlns:p="http://schemas.openxmlformats.org/presentationml/2006/main">
  <p:tag name="KSO_WM_DIAGRAM_VIRTUALLY_FRAME" val="{&quot;height&quot;:436.85,&quot;left&quot;:162.05,&quot;top&quot;:203.55,&quot;width&quot;:1115.8914960629922}"/>
</p:tagLst>
</file>

<file path=ppt/tags/tag53.xml><?xml version="1.0" encoding="utf-8"?>
<p:tagLst xmlns:p="http://schemas.openxmlformats.org/presentationml/2006/main">
  <p:tag name="KSO_WM_DIAGRAM_VIRTUALLY_FRAME" val="{&quot;height&quot;:436.85,&quot;left&quot;:162.05,&quot;top&quot;:203.55,&quot;width&quot;:1115.8914960629922}"/>
</p:tagLst>
</file>

<file path=ppt/tags/tag54.xml><?xml version="1.0" encoding="utf-8"?>
<p:tagLst xmlns:p="http://schemas.openxmlformats.org/presentationml/2006/main">
  <p:tag name="KSO_WM_DIAGRAM_VIRTUALLY_FRAME" val="{&quot;height&quot;:437.85,&quot;left&quot;:54,&quot;top&quot;:203.55,&quot;width&quot;:1223.9414960629922}"/>
</p:tagLst>
</file>

<file path=ppt/tags/tag55.xml><?xml version="1.0" encoding="utf-8"?>
<p:tagLst xmlns:p="http://schemas.openxmlformats.org/presentationml/2006/main">
  <p:tag name="KSO_WM_DIAGRAM_VIRTUALLY_FRAME" val="{&quot;height&quot;:437.85,&quot;left&quot;:54,&quot;top&quot;:203.55,&quot;width&quot;:1223.9414960629922}"/>
</p:tagLst>
</file>

<file path=ppt/tags/tag56.xml><?xml version="1.0" encoding="utf-8"?>
<p:tagLst xmlns:p="http://schemas.openxmlformats.org/presentationml/2006/main">
  <p:tag name="KSO_WM_DIAGRAM_VIRTUALLY_FRAME" val="{&quot;height&quot;:437.85,&quot;left&quot;:54,&quot;top&quot;:203.55,&quot;width&quot;:1223.9414960629922}"/>
</p:tagLst>
</file>

<file path=ppt/tags/tag57.xml><?xml version="1.0" encoding="utf-8"?>
<p:tagLst xmlns:p="http://schemas.openxmlformats.org/presentationml/2006/main">
  <p:tag name="KSO_WM_DIAGRAM_VIRTUALLY_FRAME" val="{&quot;height&quot;:437.85,&quot;left&quot;:54,&quot;top&quot;:203.55,&quot;width&quot;:1223.9414960629922}"/>
</p:tagLst>
</file>

<file path=ppt/tags/tag58.xml><?xml version="1.0" encoding="utf-8"?>
<p:tagLst xmlns:p="http://schemas.openxmlformats.org/presentationml/2006/main">
  <p:tag name="KSO_WM_DIAGRAM_VIRTUALLY_FRAME" val="{&quot;height&quot;:437.85,&quot;left&quot;:54,&quot;top&quot;:203.55,&quot;width&quot;:1223.9414960629922}"/>
</p:tagLst>
</file>

<file path=ppt/tags/tag59.xml><?xml version="1.0" encoding="utf-8"?>
<p:tagLst xmlns:p="http://schemas.openxmlformats.org/presentationml/2006/main">
  <p:tag name="KSO_WM_DIAGRAM_VIRTUALLY_FRAME" val="{&quot;height&quot;:437.85,&quot;left&quot;:54,&quot;top&quot;:203.55,&quot;width&quot;:1223.9414960629922}"/>
</p:tagLst>
</file>

<file path=ppt/tags/tag60.xml><?xml version="1.0" encoding="utf-8"?>
<p:tagLst xmlns:p="http://schemas.openxmlformats.org/presentationml/2006/main">
  <p:tag name="KSO_WM_DIAGRAM_VIRTUALLY_FRAME" val="{&quot;height&quot;:437.85,&quot;left&quot;:54,&quot;top&quot;:203.55,&quot;width&quot;:1223.9414960629922}"/>
</p:tagLst>
</file>

<file path=ppt/tags/tag61.xml><?xml version="1.0" encoding="utf-8"?>
<p:tagLst xmlns:p="http://schemas.openxmlformats.org/presentationml/2006/main">
  <p:tag name="KSO_WM_DIAGRAM_VIRTUALLY_FRAME" val="{&quot;height&quot;:437.85,&quot;left&quot;:54,&quot;top&quot;:203.55,&quot;width&quot;:1223.9414960629922}"/>
</p:tagLst>
</file>

<file path=ppt/tags/tag62.xml><?xml version="1.0" encoding="utf-8"?>
<p:tagLst xmlns:p="http://schemas.openxmlformats.org/presentationml/2006/main">
  <p:tag name="KSO_WM_DIAGRAM_VIRTUALLY_FRAME" val="{&quot;height&quot;:437.85,&quot;left&quot;:54,&quot;top&quot;:203.55,&quot;width&quot;:1223.9414960629922}"/>
</p:tagLst>
</file>

<file path=ppt/tags/tag63.xml><?xml version="1.0" encoding="utf-8"?>
<p:tagLst xmlns:p="http://schemas.openxmlformats.org/presentationml/2006/main">
  <p:tag name="KSO_WM_DIAGRAM_VIRTUALLY_FRAME" val="{&quot;height&quot;:437.85,&quot;left&quot;:54,&quot;top&quot;:203.55,&quot;width&quot;:1223.9414960629922}"/>
</p:tagLst>
</file>

<file path=ppt/tags/tag64.xml><?xml version="1.0" encoding="utf-8"?>
<p:tagLst xmlns:p="http://schemas.openxmlformats.org/presentationml/2006/main">
  <p:tag name="KSO_WM_DIAGRAM_VIRTUALLY_FRAME" val="{&quot;height&quot;:437.85,&quot;left&quot;:54,&quot;top&quot;:203.55,&quot;width&quot;:1223.9414960629922}"/>
</p:tagLst>
</file>

<file path=ppt/tags/tag65.xml><?xml version="1.0" encoding="utf-8"?>
<p:tagLst xmlns:p="http://schemas.openxmlformats.org/presentationml/2006/main">
  <p:tag name="KSO_WM_DIAGRAM_VIRTUALLY_FRAME" val="{&quot;height&quot;:437.85,&quot;left&quot;:54,&quot;top&quot;:203.55,&quot;width&quot;:1223.9414960629922}"/>
</p:tagLst>
</file>

<file path=ppt/tags/tag66.xml><?xml version="1.0" encoding="utf-8"?>
<p:tagLst xmlns:p="http://schemas.openxmlformats.org/presentationml/2006/main">
  <p:tag name="KSO_WM_DIAGRAM_VIRTUALLY_FRAME" val="{&quot;height&quot;:437.85,&quot;left&quot;:54,&quot;top&quot;:203.55,&quot;width&quot;:1223.9414960629922}"/>
</p:tagLst>
</file>

<file path=ppt/tags/tag67.xml><?xml version="1.0" encoding="utf-8"?>
<p:tagLst xmlns:p="http://schemas.openxmlformats.org/presentationml/2006/main">
  <p:tag name="KSO_WM_DIAGRAM_VIRTUALLY_FRAME" val="{&quot;height&quot;:437.85,&quot;left&quot;:54,&quot;top&quot;:203.55,&quot;width&quot;:1223.9414960629922}"/>
</p:tagLst>
</file>

<file path=ppt/tags/tag68.xml><?xml version="1.0" encoding="utf-8"?>
<p:tagLst xmlns:p="http://schemas.openxmlformats.org/presentationml/2006/main">
  <p:tag name="KSO_WM_DIAGRAM_VIRTUALLY_FRAME" val="{&quot;height&quot;:437.85,&quot;left&quot;:54,&quot;top&quot;:203.55,&quot;width&quot;:1223.9414960629922}"/>
</p:tagLst>
</file>

<file path=ppt/tags/tag69.xml><?xml version="1.0" encoding="utf-8"?>
<p:tagLst xmlns:p="http://schemas.openxmlformats.org/presentationml/2006/main">
  <p:tag name="KSO_WM_DIAGRAM_VIRTUALLY_FRAME" val="{&quot;height&quot;:437.85,&quot;left&quot;:54,&quot;top&quot;:203.55,&quot;width&quot;:1223.9414960629922}"/>
</p:tagLst>
</file>

<file path=ppt/tags/tag70.xml><?xml version="1.0" encoding="utf-8"?>
<p:tagLst xmlns:p="http://schemas.openxmlformats.org/presentationml/2006/main">
  <p:tag name="KSO_WM_DIAGRAM_VIRTUALLY_FRAME" val="{&quot;height&quot;:437.85,&quot;left&quot;:54,&quot;top&quot;:203.55,&quot;width&quot;:1223.9414960629922}"/>
</p:tagLst>
</file>

<file path=ppt/tags/tag71.xml><?xml version="1.0" encoding="utf-8"?>
<p:tagLst xmlns:p="http://schemas.openxmlformats.org/presentationml/2006/main">
  <p:tag name="KSO_WM_DIAGRAM_VIRTUALLY_FRAME" val="{&quot;height&quot;:437.85,&quot;left&quot;:54,&quot;top&quot;:203.55,&quot;width&quot;:1223.9414960629922}"/>
</p:tagLst>
</file>

<file path=ppt/tags/tag72.xml><?xml version="1.0" encoding="utf-8"?>
<p:tagLst xmlns:p="http://schemas.openxmlformats.org/presentationml/2006/main">
  <p:tag name="KSO_WM_DIAGRAM_VIRTUALLY_FRAME" val="{&quot;height&quot;:437.85,&quot;left&quot;:54,&quot;top&quot;:203.55,&quot;width&quot;:1223.9414960629922}"/>
</p:tagLst>
</file>

<file path=ppt/tags/tag73.xml><?xml version="1.0" encoding="utf-8"?>
<p:tagLst xmlns:p="http://schemas.openxmlformats.org/presentationml/2006/main">
  <p:tag name="KSO_WM_DIAGRAM_VIRTUALLY_FRAME" val="{&quot;height&quot;:436.85,&quot;left&quot;:162.05,&quot;top&quot;:203.55,&quot;width&quot;:1115.8914960629922}"/>
</p:tagLst>
</file>

<file path=ppt/tags/tag74.xml><?xml version="1.0" encoding="utf-8"?>
<p:tagLst xmlns:p="http://schemas.openxmlformats.org/presentationml/2006/main">
  <p:tag name="KSO_WM_DIAGRAM_VIRTUALLY_FRAME" val="{&quot;height&quot;:436.85,&quot;left&quot;:162.05,&quot;top&quot;:203.55,&quot;width&quot;:1115.8914960629922}"/>
</p:tagLst>
</file>

<file path=ppt/tags/tag75.xml><?xml version="1.0" encoding="utf-8"?>
<p:tagLst xmlns:p="http://schemas.openxmlformats.org/presentationml/2006/main">
  <p:tag name="KSO_WM_DIAGRAM_VIRTUALLY_FRAME" val="{&quot;height&quot;:436.85,&quot;left&quot;:162.05,&quot;top&quot;:203.55,&quot;width&quot;:1115.8914960629922}"/>
</p:tagLst>
</file>

<file path=ppt/tags/tag76.xml><?xml version="1.0" encoding="utf-8"?>
<p:tagLst xmlns:p="http://schemas.openxmlformats.org/presentationml/2006/main">
  <p:tag name="KSO_WM_DIAGRAM_VIRTUALLY_FRAME" val="{&quot;height&quot;:436.85,&quot;left&quot;:162.05,&quot;top&quot;:203.55,&quot;width&quot;:1115.8914960629922}"/>
</p:tagLst>
</file>

<file path=ppt/tags/tag77.xml><?xml version="1.0" encoding="utf-8"?>
<p:tagLst xmlns:p="http://schemas.openxmlformats.org/presentationml/2006/main">
  <p:tag name="KSO_WM_DIAGRAM_VIRTUALLY_FRAME" val="{&quot;height&quot;:436.85,&quot;left&quot;:162.05,&quot;top&quot;:203.55,&quot;width&quot;:1115.8914960629922}"/>
</p:tagLst>
</file>

<file path=ppt/tags/tag78.xml><?xml version="1.0" encoding="utf-8"?>
<p:tagLst xmlns:p="http://schemas.openxmlformats.org/presentationml/2006/main">
  <p:tag name="KSO_WM_DIAGRAM_VIRTUALLY_FRAME" val="{&quot;height&quot;:436.85,&quot;left&quot;:162.05,&quot;top&quot;:203.55,&quot;width&quot;:1115.8914960629922}"/>
</p:tagLst>
</file>

<file path=ppt/tags/tag79.xml><?xml version="1.0" encoding="utf-8"?>
<p:tagLst xmlns:p="http://schemas.openxmlformats.org/presentationml/2006/main">
  <p:tag name="KSO_WM_DIAGRAM_VIRTUALLY_FRAME" val="{&quot;height&quot;:436.85,&quot;left&quot;:162.05,&quot;top&quot;:203.55,&quot;width&quot;:1115.8914960629922}"/>
</p:tagLst>
</file>

<file path=ppt/tags/tag80.xml><?xml version="1.0" encoding="utf-8"?>
<p:tagLst xmlns:p="http://schemas.openxmlformats.org/presentationml/2006/main">
  <p:tag name="KSO_WM_DIAGRAM_VIRTUALLY_FRAME" val="{&quot;height&quot;:437.85,&quot;left&quot;:54,&quot;top&quot;:203.55,&quot;width&quot;:1223.9414960629922}"/>
</p:tagLst>
</file>

<file path=ppt/tags/tag81.xml><?xml version="1.0" encoding="utf-8"?>
<p:tagLst xmlns:p="http://schemas.openxmlformats.org/presentationml/2006/main">
  <p:tag name="KSO_WM_DIAGRAM_VIRTUALLY_FRAME" val="{&quot;height&quot;:437.85,&quot;left&quot;:54,&quot;top&quot;:203.55,&quot;width&quot;:1223.9414960629922}"/>
</p:tagLst>
</file>

<file path=ppt/tags/tag82.xml><?xml version="1.0" encoding="utf-8"?>
<p:tagLst xmlns:p="http://schemas.openxmlformats.org/presentationml/2006/main">
  <p:tag name="KSO_WM_DIAGRAM_VIRTUALLY_FRAME" val="{&quot;height&quot;:437.85,&quot;left&quot;:54,&quot;top&quot;:203.55,&quot;width&quot;:1223.9414960629922}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2449</Words>
  <Application>WPS 演示</Application>
  <PresentationFormat>自定义</PresentationFormat>
  <Paragraphs>255</Paragraphs>
  <Slides>15</Slides>
  <Notes>0</Notes>
  <HiddenSlides>0</HiddenSlides>
  <MMClips>0</MMClips>
  <ScaleCrop>false</ScaleCrop>
  <HeadingPairs>
    <vt:vector size="8" baseType="variant">
      <vt:variant>
        <vt:lpstr>已用的字体</vt:lpstr>
      </vt:variant>
      <vt:variant>
        <vt:i4>14</vt:i4>
      </vt:variant>
      <vt:variant>
        <vt:lpstr>主题</vt:lpstr>
      </vt:variant>
      <vt:variant>
        <vt:i4>1</vt:i4>
      </vt:variant>
      <vt:variant>
        <vt:lpstr>嵌入 OLE 服务器</vt:lpstr>
      </vt:variant>
      <vt:variant>
        <vt:i4>2</vt:i4>
      </vt:variant>
      <vt:variant>
        <vt:lpstr>幻灯片标题</vt:lpstr>
      </vt:variant>
      <vt:variant>
        <vt:i4>15</vt:i4>
      </vt:variant>
    </vt:vector>
  </HeadingPairs>
  <TitlesOfParts>
    <vt:vector size="32" baseType="lpstr">
      <vt:lpstr>Arial</vt:lpstr>
      <vt:lpstr>宋体</vt:lpstr>
      <vt:lpstr>Wingdings</vt:lpstr>
      <vt:lpstr>方正大黑体_GBK</vt:lpstr>
      <vt:lpstr>华文中宋</vt:lpstr>
      <vt:lpstr>Chakra Petch</vt:lpstr>
      <vt:lpstr>Chakra Petch Bold</vt:lpstr>
      <vt:lpstr>清雅黑体</vt:lpstr>
      <vt:lpstr>Wingdings</vt:lpstr>
      <vt:lpstr>Calibri</vt:lpstr>
      <vt:lpstr>微软雅黑</vt:lpstr>
      <vt:lpstr>Arial Unicode MS</vt:lpstr>
      <vt:lpstr>Cambria Math</vt:lpstr>
      <vt:lpstr>黑体</vt:lpstr>
      <vt:lpstr>Office Theme</vt:lpstr>
      <vt:lpstr>Equation.KSEE3</vt:lpstr>
      <vt:lpstr>Equation.KSEE3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绿色简约开题报告毕业论文毕业答辩ppt演示文稿 副本</dc:title>
  <dc:creator>唐玉婵</dc:creator>
  <cp:lastModifiedBy>刘永瑞</cp:lastModifiedBy>
  <cp:revision>106</cp:revision>
  <dcterms:created xsi:type="dcterms:W3CDTF">2006-08-16T00:00:00Z</dcterms:created>
  <dcterms:modified xsi:type="dcterms:W3CDTF">2026-05-25T14:42:55Z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226D0C2BB5D64EE0B5ABFDA13F898D2E_12</vt:lpwstr>
  </property>
  <property fmtid="{D5CDD505-2E9C-101B-9397-08002B2CF9AE}" pid="3" name="KSOProductBuildVer">
    <vt:lpwstr>2052-12.1.0.24034</vt:lpwstr>
  </property>
</Properties>
</file>